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9734"/>
            <a:ext cx="5516821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Gli Array Multidimensionali in 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3570406"/>
            <a:ext cx="55168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Dichiarazione e inizializzazione, accesso e scorrimento, operazioni su matrici, matrici e funzioni, griglie di caratteri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4642545"/>
            <a:ext cx="5516821" cy="524173"/>
          </a:xfrm>
          <a:prstGeom prst="rect">
            <a:avLst/>
          </a:prstGeom>
          <a:solidFill>
            <a:srgbClr val="1F4D25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4769545"/>
            <a:ext cx="1310250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9437" y="4826635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11927" y="4769545"/>
            <a:ext cx="827067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8585" y="4826635"/>
            <a:ext cx="122333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27892" y="4769545"/>
            <a:ext cx="1459273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4550" y="4826635"/>
            <a:ext cx="185554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DATI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una Matrice?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68945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è un array di array: una tabella di elementi dello stesso tipo organizzati in righe e colonne. Ogni elemento si individua con due indici.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180927"/>
            <a:ext cx="5689458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359045"/>
            <a:ext cx="5262828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RIGHE   3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COLONNE 4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voti[RIGHE][COLONNE];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voti[1][2] = 8;      /* riga 1, colonna 2 */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736" y="1234380"/>
          <a:ext cx="4978375" cy="914400"/>
        </p:xfrm>
        <a:graphic>
          <a:graphicData uri="http://schemas.openxmlformats.org/drawingml/2006/table">
            <a:tbl>
              <a:tblPr/>
              <a:tblGrid>
                <a:gridCol w="1891757"/>
                <a:gridCol w="308661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primo 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riga, da 0 a RIGHE - 1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secondo 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colonna, da 0 a COLONNE - 1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numero di elementi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RIGHE × COLONNE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03736" y="3467199"/>
            <a:ext cx="4978375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5"/>
          <p:cNvSpPr/>
          <p:nvPr/>
        </p:nvSpPr>
        <p:spPr>
          <a:xfrm>
            <a:off x="6781531" y="3602454"/>
            <a:ext cx="462278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 reali: orario scolastico (giorni × ore), posti di un cinema (file × posti), voti di una classe (studenti × materie).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Inizializzazione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6045049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618419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 5, 6}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parziale[3][3] = { {1}, {0, 2} };  /* il resto vale 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zeri[4][5] = {0};                  /* tutta a zero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r[][3] = { {1, 2, 3}, {4, 5, 6} }; /* 2 righe dedotte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59327" y="1234380"/>
            <a:ext cx="4622784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Graffe annidate: una coppia per ogni riga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elementi non indicati valgono 0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può omettere solo la prima dimensione, mai le colonne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59327" y="2496443"/>
            <a:ext cx="4622784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7238720" y="2631698"/>
            <a:ext cx="416559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dimensioni si definiscono con #define: cambiando un solo valore si adatta tutto il programma.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Matrice in Memoria: Ordine per Righe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memoria del computer è una sequenza di celle numerate, non una tabella. Il compilatore "stende" la matrice in memoria una riga dopo l'altra: prima tutti gli elementi della riga 0, poi quelli della riga 1 e così via.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429768"/>
            <a:ext cx="533386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607885"/>
            <a:ext cx="490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{10, 20, 30},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{40, 50, 60}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243588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trovare m[r][c] il compilatore calcola la posizione r × COLONNE + c. Esempio: m[1][2] → 1 × 3 + 2 = 5.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836837"/>
          <a:ext cx="5554722" cy="914400"/>
        </p:xfrm>
        <a:graphic>
          <a:graphicData uri="http://schemas.openxmlformats.org/drawingml/2006/table">
            <a:tbl>
              <a:tblPr/>
              <a:tblGrid>
                <a:gridCol w="1228129"/>
                <a:gridCol w="722160"/>
                <a:gridCol w="722160"/>
                <a:gridCol w="722160"/>
                <a:gridCol w="722160"/>
                <a:gridCol w="722160"/>
                <a:gridCol w="715795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m[0][0]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m[0][1]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m[0][2]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m[1][0]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m[1][1]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m[1][2]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48244" y="3436243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9" name="Text 6"/>
          <p:cNvSpPr/>
          <p:nvPr/>
        </p:nvSpPr>
        <p:spPr>
          <a:xfrm>
            <a:off x="6426039" y="3571498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questo calcolo serve sempre il numero di colonne: è il motivo per cui le colonne non si possono mai omettere.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Matrice in Memoria: sizeof e Matrici di Caratteri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881386"/>
            <a:ext cx="5689458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2059503"/>
            <a:ext cx="5262828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sizeof(m)        /* 2 × 3 × 4 = 24 byte: tutta la matrice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sizeof(m[0])     /* 3 × 4 = 12 byte: una riga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sizeof(m[0][0])  /* 4 byte: un elemento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righe = sizeof(m) / sizeof(m[0]);       /* 2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colonne = sizeof(m[0]) / sizeof(m[0][0]); /* 3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437440"/>
            <a:ext cx="568945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m[0] da solo indica l'intera riga 0, che è a sua volta un array di 3 interi.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03736" y="1690569"/>
            <a:ext cx="49783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di char può contenere un elenco di nomi: ogni riga è un nome, terminato dal carattere '\0'.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03736" y="2379067"/>
            <a:ext cx="4978375" cy="640060"/>
          </a:xfrm>
          <a:prstGeom prst="roundRect">
            <a:avLst>
              <a:gd name="adj" fmla="val 1786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817051" y="2557185"/>
            <a:ext cx="476506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nomi[3][8] = { "Anna", "Marco", "Giulia" };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03736" y="3346152"/>
            <a:ext cx="4978375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6781531" y="3481407"/>
            <a:ext cx="462278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LEN deve contare anche il '\0': "Giulia" ha 6 lettere e occupa 7 caratteri, quindi entra in una riga da 8.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Scorrimento con Cicli Annidati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60450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visitare tutti gli elementi servono due cicli: il ciclo esterno sceglie la riga, il ciclo interno percorre tutte le colonne di quella riga.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180927"/>
            <a:ext cx="6045049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359045"/>
            <a:ext cx="5618419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printf("%4d", m[r][c]);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     /* fine riga: a capo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59327" y="1243588"/>
            <a:ext cx="462278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una matrice 2 × 3 l'ordine delle visite è: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9327" y="1587996"/>
          <a:ext cx="4622784" cy="914400"/>
        </p:xfrm>
        <a:graphic>
          <a:graphicData uri="http://schemas.openxmlformats.org/drawingml/2006/table">
            <a:tbl>
              <a:tblPr/>
              <a:tblGrid>
                <a:gridCol w="1155671"/>
                <a:gridCol w="2311342"/>
                <a:gridCol w="1155770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 =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[0][0] → [0][1] → [0][2]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capo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 =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[1][0] → [1][1] → [1][2]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capo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59327" y="2987854"/>
            <a:ext cx="46227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ciclo interno ricomincia da c = 0 ogni volta che r aumenta: in totale si eseguono RIGHE × COLONNE visite.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59327" y="3829943"/>
            <a:ext cx="4622784" cy="5943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0" name="Text 7"/>
          <p:cNvSpPr/>
          <p:nvPr/>
        </p:nvSpPr>
        <p:spPr>
          <a:xfrm>
            <a:off x="7111723" y="3939798"/>
            <a:ext cx="431799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printf("\n") sta fuori dal ciclo interno ma dentro quello esterno: viene eseguito una volta per riga.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Scorrimento per Colonne e Parziale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Scambiando i cicli si visita la matrice colonna per colonna: utile quando il dato da calcolare riguarda una colonna (es. la media di una materia).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180927"/>
            <a:ext cx="5333867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359045"/>
            <a:ext cx="49072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 = 0; c &lt; COLONNE; c++) {      /* esterno: colonne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(r = 0; r &lt; RIGHE; r++) {    /* interno: righe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somma += m[r][c];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4285853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4421108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invertire gli indici. Scrivendo m[c][r] al posto di m[r][c] si esce dalla matrice quando non è quadrata.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234380"/>
          <a:ext cx="5333867" cy="914400"/>
        </p:xfrm>
        <a:graphic>
          <a:graphicData uri="http://schemas.openxmlformats.org/drawingml/2006/table">
            <a:tbl>
              <a:tblPr/>
              <a:tblGrid>
                <a:gridCol w="1493403"/>
                <a:gridCol w="1066773"/>
                <a:gridCol w="1066773"/>
                <a:gridCol w="1706917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Scorrimento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esterno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interno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righe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 della tabella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colonne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totali per materia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riga fissa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voti di uno studente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colonna fissa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voti di una materia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Accesso Sicuro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 non controlla gli indici. In una matrice int m[3][4]: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1587996"/>
            <a:ext cx="5333867" cy="12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m[1][5] non dà errore: la posizione 1 × 4 + 5 = 9 corrisponde a m[2][1], quindi si legge un altro elemento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m[3][0] è oltre la fine della matrice: si legge o si scrive la memoria di altre variabili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244" y="1243588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gli indici arrivano dall'utente o da un calcolo, si controllano prima di usarli: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932087"/>
            <a:ext cx="5333867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461559" y="2110204"/>
            <a:ext cx="49072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 &gt;= 0 &amp;&amp; r &lt; RIGHE &amp;&amp; c &gt;= 0 &amp;&amp; c &lt; COLONNE)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m[r][c]);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printf("Cella inesistente\n");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910013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9" name="Text 7"/>
          <p:cNvSpPr/>
          <p:nvPr/>
        </p:nvSpPr>
        <p:spPr>
          <a:xfrm>
            <a:off x="6426039" y="4045268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L'ordine conta: prima i limiti, poi l'accesso. Con &amp;&amp; il C si ferma alla prima condizione falsa e non legge la cella.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Lettura da Tastiera e Coordinate dell'Utente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68945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 usa il programma conta da 1, mentre gli indici partono da 0: le coordinate inserite vanno convertite.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36837"/>
          <a:ext cx="5689458" cy="914400"/>
        </p:xfrm>
        <a:graphic>
          <a:graphicData uri="http://schemas.openxmlformats.org/drawingml/2006/table">
            <a:tbl>
              <a:tblPr/>
              <a:tblGrid>
                <a:gridCol w="2161923"/>
                <a:gridCol w="2161923"/>
                <a:gridCol w="136561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L'utente scrive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Conversione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riga 3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riga - 1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colonna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colonna - 1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fila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lettera - 'A'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03736" y="1243588"/>
            <a:ext cx="497837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riempire una matrice da tastiera si usa il doppio ciclo; ogni valore si valida con un do-while che ripete la domanda finché il dato non è corretto.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03736" y="2180927"/>
            <a:ext cx="4978375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7" name="Text 4"/>
          <p:cNvSpPr/>
          <p:nvPr/>
        </p:nvSpPr>
        <p:spPr>
          <a:xfrm>
            <a:off x="6817051" y="2359045"/>
            <a:ext cx="455174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printf("Giudice %d, concorrente %d: ", g + 1, c + 1);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&amp;punteggi[g][c]);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(punteggi[g][c] &lt; 0 || punteggi[g][c] &gt; 10);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03736" y="4001393"/>
            <a:ext cx="4978375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9" name="Text 6"/>
          <p:cNvSpPr/>
          <p:nvPr/>
        </p:nvSpPr>
        <p:spPr>
          <a:xfrm>
            <a:off x="6781531" y="4136648"/>
            <a:ext cx="462278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Nei messaggi si stampa indice + 1: l'utente vede "giudice 1", non "giudice 0".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Somme per Riga e per Colonna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una tabella di vendite (prodotti × mesi) servono il totale di ogni prodotto, il totale di ogni mese e il totale generale.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5867253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5440623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totale_riga[r]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totale_riga[r] += m[r][c];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totale_colonna[c] += m[r][c];  /* azzerato prima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4646890"/>
            <a:ext cx="58672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totali di riga sono RIGHE valori, quelli di colonna COLONNE valori: si memorizzano in due array monodimensionali.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531" y="1890812"/>
          <a:ext cx="4800579" cy="914400"/>
        </p:xfrm>
        <a:graphic>
          <a:graphicData uri="http://schemas.openxmlformats.org/drawingml/2006/table">
            <a:tbl>
              <a:tblPr/>
              <a:tblGrid>
                <a:gridCol w="1615347"/>
                <a:gridCol w="765096"/>
                <a:gridCol w="764201"/>
                <a:gridCol w="764698"/>
                <a:gridCol w="891236"/>
              </a:tblGrid>
              <a:tr h="646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Gen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Feb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Totale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Prodotto 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Prodotto 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Totale colonna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81531" y="3862090"/>
            <a:ext cx="4800579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9" name="Text 6"/>
          <p:cNvSpPr/>
          <p:nvPr/>
        </p:nvSpPr>
        <p:spPr>
          <a:xfrm>
            <a:off x="6959327" y="3997345"/>
            <a:ext cx="444498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Verifica di coerenza: la somma dei totali di riga e quella dei totali di colonna devono dare lo stesso totale generale (80).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Massimo e Minimo con Posizione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non basta sapere qual è il valore più alto; spesso serve sapere dove si trova (quale studente, quale materia).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6045049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561841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massimo = m[0][0];       /* si parte dal primo elemento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riga_max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colonna_max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(m[r][c] &gt; massimo)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massimo = m[r][c];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riga_max = r;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colonna_max = c;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59327" y="3007816"/>
            <a:ext cx="4622784" cy="1333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valore iniziale è m[0][0], non 0: con valori tutti negativi 0 sarebbe un massimo sbagliato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Insieme al valore si aggiornano riga e colonna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il confronto &gt; in caso di parità resta la prima posizione trovata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59327" y="4493320"/>
            <a:ext cx="4622784" cy="44956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137122" y="4628575"/>
            <a:ext cx="444498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il minimo si usa lo stesso schema con il confronto &lt;.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Ricerca di un Valore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la prima cella che contiene un valore e fermarsi appena trovata, senza usare break (che uscirebbe solo dal ciclo interno).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6222844" cy="3200202"/>
          </a:xfrm>
          <a:prstGeom prst="roundRect">
            <a:avLst>
              <a:gd name="adj" fmla="val 35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5796214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trovato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 &amp;&amp; !trovato;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 &amp;&amp; !trovato;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(m[r][c] == cercato)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trovato =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riga_trovata = r;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colonna_trovata = c;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7221" y="1890812"/>
            <a:ext cx="4444889" cy="2079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flag trovato compare nella condizione di entrambi i cicli: quando diventa 1 terminano tutti e due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posizione si salva in variabili apposite, perché all'uscita dai cicli r e c sono già stati incrementati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trovato vale ancora 0, il valore non è presente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7221" y="4097437"/>
            <a:ext cx="4444889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315017" y="4232692"/>
            <a:ext cx="408929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contare tutte le occorrenze invece si scorre tutta la matrice senza flag, incrementando un contatore.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Diagonali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diagonali esistono solo nelle matrici quadrate (N × N).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841996"/>
            <a:ext cx="5333867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020114"/>
            <a:ext cx="490723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Diagonale principale     Diagonale secondaria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. . .                  . . . X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X . .                  . . X 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. X .                  . X . 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. . X                  X . . 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== c                   r + c == N - 1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651179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Basta un solo ciclo, perché su ogni riga c'è un solo elemento della diagonale: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339677"/>
            <a:ext cx="533386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2517795"/>
            <a:ext cx="490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principale += m[i][i];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secondaria += m[i][N - 1 - 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4185543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6426039" y="4320798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 d'uso: in un quadrato magico righe, colonne e le due diagonali hanno tutte la stessa somma.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Trasposta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trasposta scambia righe e colonne: la riga r diventa la colonna r. Una matrice RIGHE × COLONNE diventa COLONNE × RIGHE.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533386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490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(2 × 3)       t (3 × 2)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1 2 3           1 4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4 5 6           2 5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3 6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784302"/>
            <a:ext cx="5333867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00" y="3962420"/>
            <a:ext cx="49072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t[c][r] = m[r][c];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8244" y="1890812"/>
            <a:ext cx="5333867" cy="12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quadrata è simmetrica se coincide con la sua trasposta: m[r][c] == m[c][r] per ogni cella (es. tabella delle distanze tra città)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Trasposta sul posto (solo matrici quadrate): si scambia m[r][c] con m[c][r] solo per c &gt; 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3331865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6426039" y="3467120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Scambiando tutte le coppie, ognuna verrebbe scambiata due volte e la matrice tornerebbe com'era.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Matrici e Funzioni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 stesse operazioni (stampa, somme, massimo) si ripetono su matrici diverse: conviene scriverle una volta in una funzione.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4978275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4551646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stampa(const int m[][COLONNE], int righe);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raddoppia(int m[][COLONNE], int righe);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stampa(voti, RIGHE);     /* nella chiamata solo il nome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4195763"/>
            <a:ext cx="4978275" cy="84068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4331018"/>
            <a:ext cx="462268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riga m[r] è un array: si può passare alle funzioni già scritte per gli array monodimensionali, es. somma_array(m[r], COLONNE).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2553" y="1890812"/>
            <a:ext cx="5689557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matrice non viene copiata: la funzione lavora direttamente sui dati del chiamante e quindi può modificarli (raddoppia cambia voti)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numero di colonne nel parametro è obbligatorio: serve alla funzione per calcolare la posizione r × COLONNE + c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numero di righe si passa come parametro separato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indica che la funzione legge la matrice ma non la modifica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su Matrici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34380"/>
            <a:ext cx="5333867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funzione svolge un solo compito e restituisce il risultato, senza stampare.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restituire il massimo e la sua posizione si usano i parametri OUT del capitolo 03: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534543"/>
            <a:ext cx="533386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712660"/>
            <a:ext cx="490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cerca_massimo(const int m[][C], int n,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 *riga_max, int *colonna_max);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massimo = cerca_massimo(m, RIGHE, &amp;r, &amp;c);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4355009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4490264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matrici non si assegnano: b = a; è un errore di compilazione. Si copia elemento per elemento con una funzione copia.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234380"/>
          <a:ext cx="5333867" cy="914400"/>
        </p:xfrm>
        <a:graphic>
          <a:graphicData uri="http://schemas.openxmlformats.org/drawingml/2006/table">
            <a:tbl>
              <a:tblPr/>
              <a:tblGrid>
                <a:gridCol w="2400240"/>
                <a:gridCol w="293362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Che cosa fa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somma_riga(m, r)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 le colonne della riga 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somma_colonna(m, n, c)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 le n righe della colonna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conta(m, n, valore)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 le celle uguali a 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copia(dest, sorg)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tutte le celle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Griglie di Caratteri: il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molti programmi devono rappresentare uno spazio diviso in caselle: la mappa di un gioco, un labirinto, la pianta di un magazzino, il campo della battaglia navale. Ogni casella ha un contenuto che va disegnato e controllato.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1890812"/>
            <a:ext cx="5689458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matrice di char in cui ogni cella contiene un simbolo che descrive la casella.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una griglia di caratteri la mappa si stampa così com'è e il contenuto di una casella si legge con un semplice confronto: if (mappa[r][c] == '#').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366790"/>
            <a:ext cx="5689458" cy="84068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502045"/>
            <a:ext cx="533386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di int con codici numerici (0 = prato, 1 = acqua, ...) funzionerebbe, ma sarebbe molto meno leggibile da stampare e da scrivere.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736" y="1890812"/>
          <a:ext cx="4978375" cy="914400"/>
        </p:xfrm>
        <a:graphic>
          <a:graphicData uri="http://schemas.openxmlformats.org/drawingml/2006/table">
            <a:tbl>
              <a:tblPr/>
              <a:tblGrid>
                <a:gridCol w="1493503"/>
                <a:gridCol w="348487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Simbolo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prato o corridoio libero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^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albero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~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acqua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#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roccia o scaffale (non attraversabile)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Griglie di Caratteri: Dichiarazione e Uso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Riempire una griglia cella per cella sarebbe lunghissimo: si scrive invece ogni riga come una stringa tra virgolette.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841996"/>
            <a:ext cx="5333867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020114"/>
            <a:ext cx="490723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RIGHE   4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COLONNE 6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mappa[RIGHE][COLONNE + 1]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"..^^~~",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".^^.~~",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"..#...",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"C....."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641971"/>
            <a:ext cx="5333867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stringa termina con il carattere '\0', che occupa una cella in più: per questo la seconda dimensione è COLONNE + 1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cicli scorrono solo le COLONNE celle vere: c &lt; COLONNE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cella si modifica con un carattere tra apici: mappa[3][0] = '.';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3599755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6426039" y="3735011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Attenzione agli apici: '.' è un carattere, "." è una stringa. mappa[r][c] = "."; è un errore.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8 Celle Vicine: il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nel campo minato ogni casella mostra quante mine ci sono intorno; nel gioco della vita una cella vive o muore in base a quante vicine vive ha. In entrambi i casi bisogna esaminare le 8 celle che circondano una cella [r][c].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5333867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4907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[r-1][c-1]  [r-1][c]  [r-1][c+1]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[r][c-1]     [r][c]   [r][c+1]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[r+1][c-1]  [r+1][c]  [r+1][c+1]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3509050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8 if separati è lungo e facile da sbagliare. Inoltre non tutte le celle hanno 8 vicine: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890812"/>
          <a:ext cx="5333867" cy="914400"/>
        </p:xfrm>
        <a:graphic>
          <a:graphicData uri="http://schemas.openxmlformats.org/drawingml/2006/table">
            <a:tbl>
              <a:tblPr/>
              <a:tblGrid>
                <a:gridCol w="3200320"/>
                <a:gridCol w="213354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Posizione della cella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Vicine reali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interna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sul bordo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 un angolo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48244" y="3625949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9" name="Text 6"/>
          <p:cNvSpPr/>
          <p:nvPr/>
        </p:nvSpPr>
        <p:spPr>
          <a:xfrm>
            <a:off x="6426039" y="3761204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vicina va controllata prima di essere letta: per una cella sul bordo alcune posizioni cadono fuori dalla griglia.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8 Celle Vicine: la Soluzione con dr e dc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ogni vicina si ottiene sommando alla cella uno spostamento di riga dr e uno di colonna dc, che valgono -1, 0 o +1. Due cicli generano tutte le 9 combinazioni.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6045049" cy="4053582"/>
          </a:xfrm>
          <a:prstGeom prst="roundRect">
            <a:avLst>
              <a:gd name="adj" fmla="val 28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5618419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(dr = -1; dr &lt;= 1; dr++)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(dc = -1; dc &lt;= 1; dc++)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rv = r + dr;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 = c + dc;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(!(dr == 0 &amp;&amp; dc == 0)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rv &gt;= 0 &amp;&amp; rv &lt; RIGHE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cv &gt;= 0 &amp;&amp; cv &lt; COLONNE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g[rv][cv] == SIMBOLO)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59327" y="1890812"/>
            <a:ext cx="4622784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combinazione dr = 0, dc = 0 è la cella stessa e viene esclusa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posizioni fuori dalla griglia vengono scartate dal controllo dei limiti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limiti sono scritti prima di g[rv][cv]: con &amp;&amp; la cella fuori griglia non viene mai letta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59327" y="3599755"/>
            <a:ext cx="4622784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137122" y="3735011"/>
            <a:ext cx="42671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schema con un solo dr, dc scelto da uno switch (N, S, E, O) sposta un personaggio sulla mappa.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Aggiornamento con Due Griglie: il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una simulazione tutte le celle devono cambiare insieme, in base allo stato attuale. Esempio: un incendio in un bosco, con la regola "un albero ^ prende fuoco * se una cella adiacente (sopra, sotto, a sinistra o a destra) sta bruciando". A ogni passo il fuoco dovrebbe avanzare di una sola cella.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339677"/>
            <a:ext cx="5333867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517795"/>
            <a:ext cx="4907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 iniziale:       * ^ ^ ^ ^ ^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1 corretto:     * * ^ ^ ^ ^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 1 sul posto:    * * * * * *   (sbagliato)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2148860"/>
            <a:ext cx="5333867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Perché aggiornare sul posto è sbagliato: scorrendo da sinistra a destra, la cella 1 prende fuoco; quando si esamina la cella 2, la cella 1 risulta già in fiamme e anche la 2 brucia, e così via. Il fuoco attraversa tutta la riga in un solo passo.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3510855"/>
            <a:ext cx="5333867" cy="64512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6426039" y="3646111"/>
            <a:ext cx="497827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risultato dipende dall'ordine di scorrimento: le celle esaminate dopo vedono valori già modificati nello stesso passo.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Aggiornamento con Due Griglie: la Soluzione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usano due matrici della stessa dimensione. Si legge solo dalla griglia attuale e si scrive solo nella griglia nuova; alla fine del passo la nuova si copia nell'attuale.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090837"/>
            <a:ext cx="5689458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268954"/>
            <a:ext cx="5262828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 = 0; r &lt; RIGHE; r++)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 = 0; c &lt; COLONNE;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(attuale[r][c] == ALBERO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brucia_vicino(attuale, r, c))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nuova[r][c] = FUOCO;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nuova[r][c] = attuale[r][c];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nuova[r][COLONNE] = '\0';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copia(attuale, nuova);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736" y="1890812"/>
          <a:ext cx="4978375" cy="914400"/>
        </p:xfrm>
        <a:graphic>
          <a:graphicData uri="http://schemas.openxmlformats.org/drawingml/2006/table">
            <a:tbl>
              <a:tblPr/>
              <a:tblGrid>
                <a:gridCol w="1692630"/>
                <a:gridCol w="1642823"/>
                <a:gridCol w="164292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 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in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 calcolo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attuale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nuova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 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nuova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attuale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03736" y="3203277"/>
            <a:ext cx="4978375" cy="84068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Text 5"/>
          <p:cNvSpPr/>
          <p:nvPr/>
        </p:nvSpPr>
        <p:spPr>
          <a:xfrm>
            <a:off x="6781531" y="3338532"/>
            <a:ext cx="462278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Griglie parallele: anche in altri problemi più matrici della stessa dimensione descrivono aspetti diversi delle stesse celle (flotta e tiri nella battaglia navale, mine e numeri nel campo minato).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34380"/>
            <a:ext cx="5410065" cy="724495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761981" y="1361380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9928" y="14280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2073" y="1449011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Invertire gli indici: m[c][r] invece di m[r][c].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234380"/>
            <a:ext cx="5410065" cy="724495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24442" y="1361380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2389" y="14280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44533" y="1449011"/>
            <a:ext cx="45851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Cicli che arrivano a RIGHE o COLONNE con &lt;=: accesso fuori dalla matrice.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585" y="2111276"/>
            <a:ext cx="5410065" cy="724495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981" y="2238276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928" y="230495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2073" y="2325906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una cella prima di controllare i limiti.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046" y="2111276"/>
            <a:ext cx="5410065" cy="724495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4442" y="2238276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2389" y="230495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44533" y="2325906"/>
            <a:ext cx="458518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Omettere il numero di colonne nel parametro: int m[][] non compila.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585" y="2988171"/>
            <a:ext cx="5410065" cy="56515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981" y="3115171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9928" y="318184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2073" y="3202801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Assegnare una matrice a un'altra con b = 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046" y="2988171"/>
            <a:ext cx="5410065" cy="56515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4442" y="3115171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32389" y="318184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44533" y="3202801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lo spazio per '\0' nelle griglie di caratteri.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585" y="3705721"/>
            <a:ext cx="5410065" cy="56515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761981" y="3832721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9928" y="389939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2073" y="3920351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Aggiornare una griglia mentre la si legge.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046" y="3705721"/>
            <a:ext cx="5410065" cy="565150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4442" y="3832721"/>
            <a:ext cx="34229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32389" y="3899396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44533" y="3920351"/>
            <a:ext cx="4737577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le coordinate dell'utente senza sottrarre 1.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34380"/>
          <a:ext cx="10972526" cy="914400"/>
        </p:xfrm>
        <a:graphic>
          <a:graphicData uri="http://schemas.openxmlformats.org/drawingml/2006/table">
            <a:tbl>
              <a:tblPr/>
              <a:tblGrid>
                <a:gridCol w="2852765"/>
                <a:gridCol w="4169465"/>
                <a:gridCol w="395029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m[RIGHE][COLONNE]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dimensioni con #define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Inizializzare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graffe annidate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{0} azzera tutto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for annidati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esterno righe, interno colonne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Totali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di riga e di colonna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verifica di coerenza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Massimo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 + riga + colonna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 fermata da flag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Diagonali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m[i][i], m[i][N-1-i]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matrici quadrate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Passare 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m[][COLONNE], righe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viene copiata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Griglie di caratteri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char g[R][C + 1]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spazio per '\0'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Vicini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spostamenti dr, dc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limiti prima dell'accesso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Simulazioni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griglie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leggi da una, scrivi nell'altra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Dichiarazione e Inizializzazione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sulla creazione di una matrice.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010-dichiarazione-base.c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2681288"/>
            <a:ext cx="3098722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dichiarare e riempire una matrice.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dimensioni con #define, riempimento con cicli annidati, stampa in tabella.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1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092671"/>
            <a:ext cx="30987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020-inizializzazione.c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6486" y="2443857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assegnare i valori iniziali.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graffe annidate, inizializzazione parziale, {0}, righe dedotte.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7797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5592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030-matrice-in-memoria.c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5592" y="2681288"/>
            <a:ext cx="3098722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è memorizzata una matrice.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sizeof di matrice, riga ed elemento; ordine per righe; char nomi[N][LEN].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Dichiarazione e Inizializzazione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Orario scolastico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380" y="2440702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giorni × 6 ore con codici materia: ore per materia, giorno con più Informatica.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Posti cinema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440702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Sala 6 × 10: posti liberi per fila, riempimento, ricerca di 4 posti vicini.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585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Temperature della settimana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3602554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giorni × 4 fasce con i nomi in array paralleli: medie ed estremi.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Voti della classe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602554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studenti × 4 materie con i nomi: medie, debiti, insufficienze per materia.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5" y="4264720"/>
            <a:ext cx="10972526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4404964"/>
            <a:ext cx="106169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Vendite trimestrali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7380" y="4764405"/>
            <a:ext cx="1079473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prodotti × 3 mesi con codici e prezzi: totali, fatturato, prodotti in crescita.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Accesso e Scorrimento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come raggiungere le celle.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010-accesso-per-indici.c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e scrivere una cella.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celle vicine, accesso sicuro con controllo dei limiti.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1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020-scorrimento-righe-e-colonne.c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6486" y="2681288"/>
            <a:ext cx="309872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visitare tutte le celle in ordini diversi.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righe, per colonne, all'indietro, a serpente.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7797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5592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030-lettura-da-tastiera.c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5592" y="2681288"/>
            <a:ext cx="309872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riempire la matrice con l'input dell'utente.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punteggi di una giuria con validazione, totali per colonna.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Accesso e Scorrimento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Prenotazione teatro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380" y="2440702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Fila indicata con una lettera e posto: prenotazione e proposta del primo posto libero.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Parcheggio multipiano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440702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Tessere su 3 piani × 6 posti: ingresso, uscita e stato del parcheggio.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585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Registro presenze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3602554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Matrice di char P/A/R con nomi e giorni: riepiloghi e dettaglio per studente.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Stazioni meteo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602554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Pioggia di 4 stazioni × 6 intervalli: totali, picchi e consultazione.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5" y="4264720"/>
            <a:ext cx="10972526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4404964"/>
            <a:ext cx="106169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Magazzino scaffali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7380" y="4764405"/>
            <a:ext cx="1079473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Giacenze con soglia per scaffale: ripiani da rifornire e prelievi validati.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Operazioni su Matrici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sui calcoli tipici.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010-somme-per-riga-e-colonna.c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totali di una tabella.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totali di riga, di colonna e generale; verifica di coerenza.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1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020-massimo-minimo-e-ricerca.c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6486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valori e posizioni.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estremi con posizione, ricerca con flag nei due cicli, conteggio.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7797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5592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030-diagonali-e-trasposta.c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5592" y="2681288"/>
            <a:ext cx="309872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operazioni sulle matrici quadrate.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diagonali, trasposta, simmetria, trasposta sul posto.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Operazioni su Matrici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Quadrato magico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380" y="2440702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Verifica di righe, colonne e diagonali sul quadrato di Dürer e su una variante.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941016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2081261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Immagine in scala di grigi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440702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Immagine 6 × 10: visualizzazione, media, negativo, soglia, specchio.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585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Campionato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3602554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Punti di 6 squadre in 5 giornate: classifica, imbattute, esiti per giornata.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3102868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24311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Consumi condominio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602554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appartamenti in 6 mesi: totali, picco, quote e consumi elevati.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5" y="4264720"/>
            <a:ext cx="10972526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4404964"/>
            <a:ext cx="106169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Distanze tra città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7380" y="4764405"/>
            <a:ext cx="1079473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Tabella simmetrica delle distanze: città più vicina, coppia più lontana, itinerario.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Matrici e Funzioni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 passaggio di matrici.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010-passaggio-matrice-a-funzione.c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2681288"/>
            <a:ext cx="3098722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stampare e modificare con una funzione.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parametro int m[][COLONNE], righe come parametro, una riga come array.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1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020-funzioni-su-matrici.c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6486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calcoli riutilizzabili.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somma di riga e di colonna, conteggio, massimo con parametri OUT.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7797" y="1901627"/>
            <a:ext cx="3454314" cy="2040037"/>
          </a:xfrm>
          <a:prstGeom prst="roundRect">
            <a:avLst>
              <a:gd name="adj" fmla="val 56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5592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030-funzioni-che-modificano-matrici.c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5592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trasformare una matrice.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riempi, copia, scala, trasposta, rotazione di 90 gradi.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Matrici e Funzioni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94036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634280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Prodotto tra matrici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380" y="1993721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Ordini × prezzi: spesa, ricavo e margine; controllo delle dimensioni.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94036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634280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Gioco del tris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993721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Tris per due giocatori con griglia di char e funzioni dedicate.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585" y="2460327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260057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Pagella della classe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2960013"/>
            <a:ext cx="505447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Scrutinio: medie, esiti e statistiche per materia con funzioni di riga e colonna.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460327"/>
            <a:ext cx="5410065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60057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Inventario negozi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960013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negozi: scorta per prodotto e trasferimenti tra negozi.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5" y="3622179"/>
            <a:ext cx="10972526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3762423"/>
            <a:ext cx="106169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Turni di lavoro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7380" y="4121864"/>
            <a:ext cx="1079473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dipendenti in 7 giorni: ore di contratto, riposi e copertura dei turni.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Griglie di Caratteri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mappe e simulazioni.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010-griglia-di-caratteri.c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rappresentare una mappa.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righe come stringhe, COLONNE + 1, conteggio dei simboli.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1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020-vicini-di-una-cella.c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46486" y="2681288"/>
            <a:ext cx="309872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esaminare le 8 celle intorno.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spostamenti dr, dc; mappa del rischio di un frutteto.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7797" y="1901627"/>
            <a:ext cx="3454314" cy="1844477"/>
          </a:xfrm>
          <a:prstGeom prst="roundRect">
            <a:avLst>
              <a:gd name="adj" fmla="val 620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5592" y="2092671"/>
            <a:ext cx="309872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030-aggiornamento-in-due-griglie.c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5592" y="2681288"/>
            <a:ext cx="309872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aggiornare tutte le celle insieme.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incendio aggiornato sul posto (sbagliato) e con due griglie.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Griglie di Caratteri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94036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634280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Robot nel magazzino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380" y="1993721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Comandi N S E O: il robot raccoglie i pacchi evitando gli scaffali.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494036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634280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Battaglia navale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993721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Griglia segreta della flotta e griglia dei tiri, coordinate come C 4.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585" y="2460327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260057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Gioco della vita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2960013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Regole di Conway: aliante e lampeggiatore per 4 generazioni.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460327"/>
            <a:ext cx="541006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600572"/>
            <a:ext cx="50544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Campo minato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960013"/>
            <a:ext cx="52322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Matrice dei numeri calcolata una volta, celle scoperte, vittoria o mina.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5" y="3426619"/>
            <a:ext cx="10972526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3566863"/>
            <a:ext cx="106169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Mappa del tesoro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7380" y="3926304"/>
            <a:ext cx="1079473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Percorso guidato da due array paralleli: direzioni e passi.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2026-10-11T14:09:11Z</dcterms:created>
  <dcterms:modified xsi:type="dcterms:W3CDTF">2026-10-11T14:09:11Z</dcterms:modified>
</cp:coreProperties>
</file>