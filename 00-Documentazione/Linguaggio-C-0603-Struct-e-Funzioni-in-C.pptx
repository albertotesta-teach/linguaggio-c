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embeddedFontLst>
    <p:embeddedFont>
      <p:font typeface="Verdana"/>
      <p:regular r:id="rId201314"/>
    </p:embeddedFont>
    <p:embeddedFont>
      <p:font typeface="Verdana Bold"/>
      <p:regular r:id="rId2013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2232091"/>
            <a:ext cx="6319382" cy="1229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4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Struct e Funzioni in C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06390" y="3653750"/>
            <a:ext cx="6725772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Struct per valore, puntatori a struct, array di struct e funzioni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6390" y="4182368"/>
            <a:ext cx="6319382" cy="473373"/>
          </a:xfrm>
          <a:prstGeom prst="roundRect">
            <a:avLst>
              <a:gd name="adj" fmla="val 12877"/>
            </a:avLst>
          </a:prstGeom>
          <a:solidFill>
            <a:srgbClr val="1B4D24"/>
          </a:solidFill>
          <a:ln/>
        </p:spPr>
      </p:sp>
      <p:sp>
        <p:nvSpPr>
          <p:cNvPr id="5" name="Shape 3"/>
          <p:cNvSpPr/>
          <p:nvPr/>
        </p:nvSpPr>
        <p:spPr>
          <a:xfrm>
            <a:off x="584185" y="4283968"/>
            <a:ext cx="1310250" cy="270173"/>
          </a:xfrm>
          <a:prstGeom prst="roundRect">
            <a:avLst>
              <a:gd name="adj" fmla="val 4231"/>
            </a:avLst>
          </a:prstGeom>
          <a:solidFill>
            <a:srgbClr val="DBF0DD"/>
          </a:solidFill>
          <a:ln/>
        </p:spPr>
      </p:sp>
      <p:sp>
        <p:nvSpPr>
          <p:cNvPr id="6" name="Text 4"/>
          <p:cNvSpPr/>
          <p:nvPr/>
        </p:nvSpPr>
        <p:spPr>
          <a:xfrm>
            <a:off x="690843" y="4341059"/>
            <a:ext cx="1706520" cy="16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LINGUAGGIO C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983333" y="4283968"/>
            <a:ext cx="1801371" cy="270173"/>
          </a:xfrm>
          <a:prstGeom prst="roundRect">
            <a:avLst>
              <a:gd name="adj" fmla="val 4231"/>
            </a:avLst>
          </a:prstGeom>
          <a:solidFill>
            <a:srgbClr val="DBF0DD"/>
          </a:solidFill>
          <a:ln/>
        </p:spPr>
      </p:sp>
      <p:sp>
        <p:nvSpPr>
          <p:cNvPr id="8" name="Text 6"/>
          <p:cNvSpPr/>
          <p:nvPr/>
        </p:nvSpPr>
        <p:spPr>
          <a:xfrm>
            <a:off x="2089991" y="4341059"/>
            <a:ext cx="2197640" cy="16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STRUTTURE E UNIONI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873602" y="4283968"/>
            <a:ext cx="1704238" cy="270173"/>
          </a:xfrm>
          <a:prstGeom prst="roundRect">
            <a:avLst>
              <a:gd name="adj" fmla="val 4231"/>
            </a:avLst>
          </a:prstGeom>
          <a:solidFill>
            <a:srgbClr val="DBF0DD"/>
          </a:solidFill>
          <a:ln/>
        </p:spPr>
      </p:sp>
      <p:sp>
        <p:nvSpPr>
          <p:cNvPr id="10" name="Text 8"/>
          <p:cNvSpPr/>
          <p:nvPr/>
        </p:nvSpPr>
        <p:spPr>
          <a:xfrm>
            <a:off x="3980259" y="4341059"/>
            <a:ext cx="2100508" cy="16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STRUCT E FUNZIONI</a:t>
            </a:r>
            <a:endParaRPr lang="en-US" sz="11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36855" y="0"/>
            <a:ext cx="4754840" cy="6858000"/>
          </a:xfrm>
          <a:prstGeom prst="rect">
            <a:avLst/>
          </a:prstGeom>
        </p:spPr>
      </p:pic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6715652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Il Parametro è una Copia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06390" y="938788"/>
            <a:ext cx="6715652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Una struct si passa a una funzione come un int: il parametro riceve una copia di tutti i campi, compresi gli array contenuti nella struct. Le modifiche fatte sulla copia non arrivano al chiamante.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06390" y="1876127"/>
            <a:ext cx="6715652" cy="1777901"/>
          </a:xfrm>
          <a:prstGeom prst="roundRect">
            <a:avLst>
              <a:gd name="adj" fmla="val 643"/>
            </a:avLst>
          </a:prstGeom>
          <a:solidFill>
            <a:srgbClr val="F2EDED"/>
          </a:solidFill>
          <a:ln/>
        </p:spPr>
      </p:sp>
      <p:sp>
        <p:nvSpPr>
          <p:cNvPr id="5" name="Text 3"/>
          <p:cNvSpPr/>
          <p:nvPr/>
        </p:nvSpPr>
        <p:spPr>
          <a:xfrm>
            <a:off x="619705" y="2054245"/>
            <a:ext cx="6289022" cy="14223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ricarica_sbagliata(Tessera t, double euro);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Tessera ricaricata(Tessera t, double euro);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ricarica_sbagliata(tessera, 20.00);     /* tessera non cambia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tessera = ricaricata(tessera, 20.00);   /* corretto */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06390" y="3854053"/>
            <a:ext cx="6715652" cy="954881"/>
          </a:xfrm>
          <a:prstGeom prst="rect">
            <a:avLst/>
          </a:prstGeom>
          <a:solidFill>
            <a:srgbClr val="DCEFDC"/>
          </a:solidFill>
          <a:ln/>
        </p:spPr>
      </p:sp>
      <p:sp>
        <p:nvSpPr>
          <p:cNvPr id="7" name="Shape 5"/>
          <p:cNvSpPr/>
          <p:nvPr/>
        </p:nvSpPr>
        <p:spPr>
          <a:xfrm>
            <a:off x="406390" y="3854053"/>
            <a:ext cx="50799" cy="954881"/>
          </a:xfrm>
          <a:prstGeom prst="rect">
            <a:avLst/>
          </a:prstGeom>
          <a:solidFill>
            <a:srgbClr val="256B2B"/>
          </a:solidFill>
          <a:ln/>
        </p:spPr>
      </p:sp>
      <p:sp>
        <p:nvSpPr>
          <p:cNvPr id="8" name="Text 6"/>
          <p:cNvSpPr/>
          <p:nvPr/>
        </p:nvSpPr>
        <p:spPr>
          <a:xfrm>
            <a:off x="685783" y="4091861"/>
            <a:ext cx="6207664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Per cambiare la struct del chiamante ci sono due strade: restituire la struct modificata oppure passare il suo indirizzo.</a:t>
            </a:r>
            <a:endParaRPr lang="en-US" sz="14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33124" y="304800"/>
            <a:ext cx="4155376" cy="2821087"/>
          </a:xfrm>
          <a:prstGeom prst="rect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502936" y="6466086"/>
            <a:ext cx="6887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Funzioni che Restituiscono una Struct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06390" y="1129605"/>
            <a:ext cx="5906146" cy="2428081"/>
          </a:xfrm>
          <a:prstGeom prst="roundRect">
            <a:avLst>
              <a:gd name="adj" fmla="val 471"/>
            </a:avLst>
          </a:prstGeom>
          <a:solidFill>
            <a:srgbClr val="F2EDED"/>
          </a:solidFill>
          <a:ln/>
        </p:spPr>
      </p:sp>
      <p:sp>
        <p:nvSpPr>
          <p:cNvPr id="4" name="Text 2"/>
          <p:cNvSpPr/>
          <p:nvPr/>
        </p:nvSpPr>
        <p:spPr>
          <a:xfrm>
            <a:off x="482588" y="1206123"/>
            <a:ext cx="5753750" cy="2275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Frazione crea(int num, int den);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Frazione somma(Frazione a, Frazione b);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Frazione prodotto(Frazione a, Frazione b);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Frazione semplifica(Frazione f);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Frazione latte = crea(1, 2);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Frazione panna = crea(1, 3);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Frazione dose = semplifica(somma(latte, panna));   /* 5/6 */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617229" y="938788"/>
            <a:ext cx="5168076" cy="995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 return una funzione restituisce un solo valore: se il valore è una struct, restituisce tutti i suoi campi in un colpo solo. Gli operandi non cambiano, ogni operazione produce un valore nuovo.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617229" y="2029718"/>
            <a:ext cx="5168076" cy="1452563"/>
          </a:xfrm>
          <a:prstGeom prst="rect">
            <a:avLst/>
          </a:prstGeom>
          <a:solidFill>
            <a:srgbClr val="DCEFDC"/>
          </a:solidFill>
          <a:ln/>
        </p:spPr>
      </p:sp>
      <p:sp>
        <p:nvSpPr>
          <p:cNvPr id="7" name="Shape 5"/>
          <p:cNvSpPr/>
          <p:nvPr/>
        </p:nvSpPr>
        <p:spPr>
          <a:xfrm>
            <a:off x="6617229" y="2029718"/>
            <a:ext cx="50799" cy="1452563"/>
          </a:xfrm>
          <a:prstGeom prst="rect">
            <a:avLst/>
          </a:prstGeom>
          <a:solidFill>
            <a:srgbClr val="256B2B"/>
          </a:solidFill>
          <a:ln/>
        </p:spPr>
      </p:sp>
      <p:sp>
        <p:nvSpPr>
          <p:cNvPr id="8" name="Text 6"/>
          <p:cNvSpPr/>
          <p:nvPr/>
        </p:nvSpPr>
        <p:spPr>
          <a:xfrm>
            <a:off x="6896622" y="2267526"/>
            <a:ext cx="4660089" cy="995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È il modo naturale per i tipi che si comportano come numeri: Frazione, Orario, Complesso. Le chiamate si annidano come le funzioni matematiche.</a:t>
            </a:r>
            <a:endParaRPr lang="en-US" sz="14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502936" y="6466086"/>
            <a:ext cx="6887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Il Costo della Copia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06390" y="1129605"/>
            <a:ext cx="5906146" cy="2346821"/>
          </a:xfrm>
          <a:prstGeom prst="roundRect">
            <a:avLst>
              <a:gd name="adj" fmla="val 487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619705" y="1307723"/>
            <a:ext cx="5479516" cy="1991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typedef struct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char classe[4];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voti[MAX_VOTI];       /* MAX_VOTI = 200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n_voti;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Registro;              /* 808 byte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media(Registro r);   /* 808 byte copiati a ogni chiamata */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617229" y="929580"/>
            <a:ext cx="5168076" cy="1203722"/>
          </a:xfrm>
          <a:prstGeom prst="rect">
            <a:avLst/>
          </a:prstGeom>
          <a:solidFill>
            <a:srgbClr val="DCEFDC"/>
          </a:solidFill>
          <a:ln/>
        </p:spPr>
      </p:sp>
      <p:sp>
        <p:nvSpPr>
          <p:cNvPr id="6" name="Shape 4"/>
          <p:cNvSpPr/>
          <p:nvPr/>
        </p:nvSpPr>
        <p:spPr>
          <a:xfrm>
            <a:off x="6617229" y="929580"/>
            <a:ext cx="50799" cy="1203722"/>
          </a:xfrm>
          <a:prstGeom prst="rect">
            <a:avLst/>
          </a:prstGeom>
          <a:solidFill>
            <a:srgbClr val="256B2B"/>
          </a:solidFill>
          <a:ln/>
        </p:spPr>
      </p:sp>
      <p:sp>
        <p:nvSpPr>
          <p:cNvPr id="7" name="Text 5"/>
          <p:cNvSpPr/>
          <p:nvPr/>
        </p:nvSpPr>
        <p:spPr>
          <a:xfrm>
            <a:off x="6896622" y="1167388"/>
            <a:ext cx="4660089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Tre chiamate per valore copiano 2424 byte. Un indirizzo occupa sempre 8 byte, qualunque sia la struct.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7229" y="2285702"/>
          <a:ext cx="5168076" cy="914400"/>
        </p:xfrm>
        <a:graphic>
          <a:graphicData uri="http://schemas.openxmlformats.org/drawingml/2006/table">
            <a:tbl>
              <a:tblPr/>
              <a:tblGrid>
                <a:gridCol w="1550353"/>
                <a:gridCol w="1550353"/>
                <a:gridCol w="2067369"/>
              </a:tblGrid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Struct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Dimensione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Per valore?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Frazione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8 byte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sì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Orario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8 byte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sì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Tessera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32 byte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sì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97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Registro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808 byte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no: si passa l'indirizzo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502936" y="6466086"/>
            <a:ext cx="6887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6715652" cy="893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Puntatore a Struct e Operatore Freccia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06390" y="1385769"/>
            <a:ext cx="6715652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Un puntatore può contenere l'indirizzo di una struct. Per raggiungere un campo attraverso il puntatore si usa l'operatore freccia.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06390" y="2074267"/>
            <a:ext cx="6715652" cy="1777901"/>
          </a:xfrm>
          <a:prstGeom prst="roundRect">
            <a:avLst>
              <a:gd name="adj" fmla="val 643"/>
            </a:avLst>
          </a:prstGeom>
          <a:solidFill>
            <a:srgbClr val="FFFAFA"/>
          </a:solidFill>
          <a:ln/>
        </p:spPr>
      </p:sp>
      <p:sp>
        <p:nvSpPr>
          <p:cNvPr id="5" name="Text 3"/>
          <p:cNvSpPr/>
          <p:nvPr/>
        </p:nvSpPr>
        <p:spPr>
          <a:xfrm>
            <a:off x="619705" y="2252385"/>
            <a:ext cx="6289022" cy="14223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Studente giulia = {"Giulia Ferri", "3B", 7.8};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Studente *eletto = &amp;giulia;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(*eletto).media      /* prima *eletto, poi .media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eletto-&gt;media        /* la stessa cosa, più leggibile */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06390" y="4052193"/>
            <a:ext cx="6715652" cy="1203722"/>
          </a:xfrm>
          <a:prstGeom prst="rect">
            <a:avLst/>
          </a:prstGeom>
          <a:solidFill>
            <a:srgbClr val="DCEFDC"/>
          </a:solidFill>
          <a:ln/>
        </p:spPr>
      </p:sp>
      <p:sp>
        <p:nvSpPr>
          <p:cNvPr id="7" name="Shape 5"/>
          <p:cNvSpPr/>
          <p:nvPr/>
        </p:nvSpPr>
        <p:spPr>
          <a:xfrm>
            <a:off x="406390" y="4052193"/>
            <a:ext cx="50799" cy="1203722"/>
          </a:xfrm>
          <a:prstGeom prst="rect">
            <a:avLst/>
          </a:prstGeom>
          <a:solidFill>
            <a:srgbClr val="256B2B"/>
          </a:solidFill>
          <a:ln/>
        </p:spPr>
      </p:sp>
      <p:sp>
        <p:nvSpPr>
          <p:cNvPr id="8" name="Text 6"/>
          <p:cNvSpPr/>
          <p:nvPr/>
        </p:nvSpPr>
        <p:spPr>
          <a:xfrm>
            <a:off x="685783" y="4290001"/>
            <a:ext cx="6207664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Le parentesi in (*eletto).media servono: il punto ha la precedenza, e *eletto.media significherebbe *(eletto.media). Con una variabile si usa il punto, con un puntatore la freccia.</a:t>
            </a:r>
            <a:endParaRPr lang="en-US" sz="14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33124" y="304800"/>
            <a:ext cx="4155376" cy="1955899"/>
          </a:xfrm>
          <a:prstGeom prst="rect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502936" y="6466086"/>
            <a:ext cx="6887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Modificare la Struct del Chiamante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06390" y="1129605"/>
            <a:ext cx="5906146" cy="4906963"/>
          </a:xfrm>
          <a:prstGeom prst="roundRect">
            <a:avLst>
              <a:gd name="adj" fmla="val 233"/>
            </a:avLst>
          </a:prstGeom>
          <a:solidFill>
            <a:srgbClr val="F2EDED"/>
          </a:solidFill>
          <a:ln/>
        </p:spPr>
      </p:sp>
      <p:sp>
        <p:nvSpPr>
          <p:cNvPr id="4" name="Text 2"/>
          <p:cNvSpPr/>
          <p:nvPr/>
        </p:nvSpPr>
        <p:spPr>
          <a:xfrm>
            <a:off x="619705" y="1307723"/>
            <a:ext cx="5479516" cy="4551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ricarica(Tessera *t, double euro)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t-&gt;credito = t-&gt;credito + euro;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paga(Tessera *t, double prezzo)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riuscito = t-&gt;credito &gt;= prezzo;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(riuscito)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t-&gt;credito = t-&gt;credito - prezzo;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riuscito;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ricarica(&amp;tessera, 20.00);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617229" y="938788"/>
            <a:ext cx="5168076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Per modificare un int del chiamante una funzione riceve un int *; per modificare una struct riceve l'indirizzo della struct.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617229" y="1780877"/>
            <a:ext cx="5168076" cy="8354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non si copia la struct, si passano 8 byte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le modifiche arrivano al chiamante senza return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il valore restituito resta libero per l'esito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617229" y="2721074"/>
            <a:ext cx="5168076" cy="1203722"/>
          </a:xfrm>
          <a:prstGeom prst="rect">
            <a:avLst/>
          </a:prstGeom>
          <a:solidFill>
            <a:srgbClr val="DCEFDC"/>
          </a:solidFill>
          <a:ln/>
        </p:spPr>
      </p:sp>
      <p:sp>
        <p:nvSpPr>
          <p:cNvPr id="8" name="Shape 6"/>
          <p:cNvSpPr/>
          <p:nvPr/>
        </p:nvSpPr>
        <p:spPr>
          <a:xfrm>
            <a:off x="6617229" y="2721074"/>
            <a:ext cx="50799" cy="1203722"/>
          </a:xfrm>
          <a:prstGeom prst="rect">
            <a:avLst/>
          </a:prstGeom>
          <a:solidFill>
            <a:srgbClr val="256B2B"/>
          </a:solidFill>
          <a:ln/>
        </p:spPr>
      </p:sp>
      <p:sp>
        <p:nvSpPr>
          <p:cNvPr id="9" name="Text 7"/>
          <p:cNvSpPr/>
          <p:nvPr/>
        </p:nvSpPr>
        <p:spPr>
          <a:xfrm>
            <a:off x="6896622" y="2958882"/>
            <a:ext cx="4660089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paga restituisce 1 se il pagamento è riuscito e 0 se il credito non basta: in quel caso la tessera non cambia.</a:t>
            </a:r>
            <a:endParaRPr lang="en-US" sz="14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502936" y="6466086"/>
            <a:ext cx="6887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6715652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Leggere senza Copiare: const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06390" y="938788"/>
            <a:ext cx="6715652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Una funzione che deve solo leggere una struct grande riceve il suo indirizzo con const: niente copia, e il compilatore impedisce le modifiche.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06390" y="1627287"/>
            <a:ext cx="6715652" cy="2346821"/>
          </a:xfrm>
          <a:prstGeom prst="roundRect">
            <a:avLst>
              <a:gd name="adj" fmla="val 487"/>
            </a:avLst>
          </a:prstGeom>
          <a:solidFill>
            <a:srgbClr val="F2EDED"/>
          </a:solidFill>
          <a:ln/>
        </p:spPr>
      </p:sp>
      <p:sp>
        <p:nvSpPr>
          <p:cNvPr id="5" name="Text 3"/>
          <p:cNvSpPr/>
          <p:nvPr/>
        </p:nvSpPr>
        <p:spPr>
          <a:xfrm>
            <a:off x="619705" y="1805404"/>
            <a:ext cx="6289022" cy="1991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media(const Registro *r);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aggiungi_voto(Registro *r, int voto);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media(&amp;registro);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r-&gt;voti[i]         /* lettura permessa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r-&gt;n_voti = 0;     /* errore: r punta a dati const */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06390" y="4174133"/>
            <a:ext cx="6715652" cy="954881"/>
          </a:xfrm>
          <a:prstGeom prst="rect">
            <a:avLst/>
          </a:prstGeom>
          <a:solidFill>
            <a:srgbClr val="DCEFDC"/>
          </a:solidFill>
          <a:ln/>
        </p:spPr>
      </p:sp>
      <p:sp>
        <p:nvSpPr>
          <p:cNvPr id="7" name="Shape 5"/>
          <p:cNvSpPr/>
          <p:nvPr/>
        </p:nvSpPr>
        <p:spPr>
          <a:xfrm>
            <a:off x="406390" y="4174133"/>
            <a:ext cx="50799" cy="954881"/>
          </a:xfrm>
          <a:prstGeom prst="rect">
            <a:avLst/>
          </a:prstGeom>
          <a:solidFill>
            <a:srgbClr val="256B2B"/>
          </a:solidFill>
          <a:ln/>
        </p:spPr>
      </p:sp>
      <p:sp>
        <p:nvSpPr>
          <p:cNvPr id="8" name="Text 6"/>
          <p:cNvSpPr/>
          <p:nvPr/>
        </p:nvSpPr>
        <p:spPr>
          <a:xfrm>
            <a:off x="685783" y="4411940"/>
            <a:ext cx="6207664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Il prototipo dice al lettore che cosa fa la funzione: const Registro * legge soltanto, Registro * modifica.</a:t>
            </a:r>
            <a:endParaRPr lang="en-US" sz="14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33124" y="304800"/>
            <a:ext cx="4155376" cy="2573139"/>
          </a:xfrm>
          <a:prstGeom prst="rect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502936" y="6466086"/>
            <a:ext cx="6887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Tre Prototipi e la Ricerca con Puntatore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06390" y="929580"/>
          <a:ext cx="5906146" cy="914400"/>
        </p:xfrm>
        <a:graphic>
          <a:graphicData uri="http://schemas.openxmlformats.org/drawingml/2006/table">
            <a:tbl>
              <a:tblPr/>
              <a:tblGrid>
                <a:gridCol w="1889872"/>
                <a:gridCol w="1063102"/>
                <a:gridCol w="1299336"/>
                <a:gridCol w="1653836"/>
              </a:tblGrid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Prototipo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Copia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Modifica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Quando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0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void f(Tipo t)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sì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solo la copia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struct piccole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0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void f(const Tipo *t)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no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no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sola lettura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97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void f(Tipo *t)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no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sì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aggiornare la struct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617229" y="1129605"/>
            <a:ext cx="5168076" cy="2346821"/>
          </a:xfrm>
          <a:prstGeom prst="roundRect">
            <a:avLst>
              <a:gd name="adj" fmla="val 487"/>
            </a:avLst>
          </a:prstGeom>
          <a:solidFill>
            <a:srgbClr val="FFFFFF"/>
          </a:solidFill>
          <a:ln/>
        </p:spPr>
      </p:sp>
      <p:sp>
        <p:nvSpPr>
          <p:cNvPr id="5" name="Text 2"/>
          <p:cNvSpPr/>
          <p:nvPr/>
        </p:nvSpPr>
        <p:spPr>
          <a:xfrm>
            <a:off x="6830544" y="1307723"/>
            <a:ext cx="4741446" cy="1991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Computer *cerca(Computer elenco[], int n,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const char *inventario);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Computer *pc = cerca(laboratorio, PC, "PC-014");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(pc != NULL)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pc-&gt;ram_gb = 16;  /* modifica l'elemento dell'array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617229" y="3676452"/>
            <a:ext cx="5168076" cy="1203722"/>
          </a:xfrm>
          <a:prstGeom prst="rect">
            <a:avLst/>
          </a:prstGeom>
          <a:solidFill>
            <a:srgbClr val="DCEFDC"/>
          </a:solidFill>
          <a:ln/>
        </p:spPr>
      </p:sp>
      <p:sp>
        <p:nvSpPr>
          <p:cNvPr id="7" name="Shape 4"/>
          <p:cNvSpPr/>
          <p:nvPr/>
        </p:nvSpPr>
        <p:spPr>
          <a:xfrm>
            <a:off x="6617229" y="3676452"/>
            <a:ext cx="50799" cy="1203722"/>
          </a:xfrm>
          <a:prstGeom prst="rect">
            <a:avLst/>
          </a:prstGeom>
          <a:solidFill>
            <a:srgbClr val="256B2B"/>
          </a:solidFill>
          <a:ln/>
        </p:spPr>
      </p:sp>
      <p:sp>
        <p:nvSpPr>
          <p:cNvPr id="8" name="Text 5"/>
          <p:cNvSpPr/>
          <p:nvPr/>
        </p:nvSpPr>
        <p:spPr>
          <a:xfrm>
            <a:off x="6896622" y="3914259"/>
            <a:ext cx="4660089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Una ricerca può restituire il puntatore all'elemento trovato, o NULL: il chiamante lo modifica direttamente, senza indici.</a:t>
            </a:r>
            <a:endParaRPr lang="en-US" sz="14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502936" y="6466086"/>
            <a:ext cx="6887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6715652" cy="893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Array di Struct come Parametro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06390" y="1385769"/>
            <a:ext cx="6715652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La funzione riceve l'indirizzo del primo elemento; il numero di elementi va passato a parte. Con un puntatore si può scorrere l'array: p + 1 è sizeof(Treno) byte più avanti.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06390" y="2323108"/>
            <a:ext cx="6715652" cy="2915741"/>
          </a:xfrm>
          <a:prstGeom prst="roundRect">
            <a:avLst>
              <a:gd name="adj" fmla="val 392"/>
            </a:avLst>
          </a:prstGeom>
          <a:solidFill>
            <a:srgbClr val="F2EDED"/>
          </a:solidFill>
          <a:ln/>
        </p:spPr>
      </p:sp>
      <p:sp>
        <p:nvSpPr>
          <p:cNvPr id="5" name="Text 3"/>
          <p:cNvSpPr/>
          <p:nvPr/>
        </p:nvSpPr>
        <p:spPr>
          <a:xfrm>
            <a:off x="619705" y="2501225"/>
            <a:ext cx="6289022" cy="2560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media_classe(const Studente classe[], int n);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arrotonda(Studente classe[], int n);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Treno *p;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Treno *fine = arrivi + TRENI;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(p = arrivi; p &lt; fine; p++)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 p-&gt;ritardo ...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06390" y="5438874"/>
            <a:ext cx="6715652" cy="954881"/>
          </a:xfrm>
          <a:prstGeom prst="rect">
            <a:avLst/>
          </a:prstGeom>
          <a:solidFill>
            <a:srgbClr val="DCEFDC"/>
          </a:solidFill>
          <a:ln/>
        </p:spPr>
      </p:sp>
      <p:sp>
        <p:nvSpPr>
          <p:cNvPr id="7" name="Shape 5"/>
          <p:cNvSpPr/>
          <p:nvPr/>
        </p:nvSpPr>
        <p:spPr>
          <a:xfrm>
            <a:off x="406390" y="5438874"/>
            <a:ext cx="50799" cy="954881"/>
          </a:xfrm>
          <a:prstGeom prst="rect">
            <a:avLst/>
          </a:prstGeom>
          <a:solidFill>
            <a:srgbClr val="256B2B"/>
          </a:solidFill>
          <a:ln/>
        </p:spPr>
      </p:sp>
      <p:sp>
        <p:nvSpPr>
          <p:cNvPr id="8" name="Text 6"/>
          <p:cNvSpPr/>
          <p:nvPr/>
        </p:nvSpPr>
        <p:spPr>
          <a:xfrm>
            <a:off x="685783" y="5676682"/>
            <a:ext cx="6207664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const Studente classe[] equivale a const Studente *classe. La posizione dell'elemento puntato è p - arrivi.</a:t>
            </a:r>
            <a:endParaRPr lang="en-US" sz="14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33124" y="304800"/>
            <a:ext cx="4155376" cy="2217142"/>
          </a:xfrm>
          <a:prstGeom prst="rect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502936" y="6466086"/>
            <a:ext cx="6887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5943"/>
            <a:ext cx="11378915" cy="432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1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Il Criterio come Parametro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406390" y="1096665"/>
            <a:ext cx="5906146" cy="5569347"/>
          </a:xfrm>
          <a:prstGeom prst="roundRect">
            <a:avLst>
              <a:gd name="adj" fmla="val 205"/>
            </a:avLst>
          </a:prstGeom>
          <a:solidFill>
            <a:srgbClr val="F2EDED"/>
          </a:solidFill>
          <a:ln/>
        </p:spPr>
      </p:sp>
      <p:sp>
        <p:nvSpPr>
          <p:cNvPr id="4" name="Text 2"/>
          <p:cNvSpPr/>
          <p:nvPr/>
        </p:nvSpPr>
        <p:spPr>
          <a:xfrm>
            <a:off x="612660" y="1268512"/>
            <a:ext cx="5493605" cy="52256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typedef int (*Criterio)(const Studente *s);</a:t>
            </a:r>
            <a:endParaRPr lang="en-US" sz="1350" dirty="0"/>
          </a:p>
          <a:p>
            <a:pPr algn="l" indent="0" marL="0">
              <a:lnSpc>
                <a:spcPct val="133000"/>
              </a:lnSpc>
              <a:buNone/>
            </a:pPr>
            <a:endParaRPr lang="en-US" sz="13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insufficiente(const Studente *s);</a:t>
            </a:r>
            <a:endParaRPr lang="en-US" sz="13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eccellente(const Studente *s);</a:t>
            </a:r>
            <a:endParaRPr lang="en-US" sz="1350" dirty="0"/>
          </a:p>
          <a:p>
            <a:pPr algn="l" indent="0" marL="0">
              <a:lnSpc>
                <a:spcPct val="133000"/>
              </a:lnSpc>
              <a:buNone/>
            </a:pPr>
            <a:endParaRPr lang="en-US" sz="13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conta(const Studente classe[], int n, Criterio c)</a:t>
            </a:r>
            <a:endParaRPr lang="en-US" sz="13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i;</a:t>
            </a:r>
            <a:endParaRPr lang="en-US" sz="13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conteggio = 0;</a:t>
            </a:r>
            <a:endParaRPr lang="en-US" sz="1350" dirty="0"/>
          </a:p>
          <a:p>
            <a:pPr algn="l" indent="0" marL="0">
              <a:lnSpc>
                <a:spcPct val="133000"/>
              </a:lnSpc>
              <a:buNone/>
            </a:pPr>
            <a:endParaRPr lang="en-US" sz="13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 = 0; i &lt; n; i++) {</a:t>
            </a:r>
            <a:endParaRPr lang="en-US" sz="13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(c(&amp;classe[i])) {</a:t>
            </a:r>
            <a:endParaRPr lang="en-US" sz="13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conteggio++;</a:t>
            </a:r>
            <a:endParaRPr lang="en-US" sz="13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3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3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conteggio;</a:t>
            </a:r>
            <a:endParaRPr lang="en-US" sz="13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50" dirty="0"/>
          </a:p>
          <a:p>
            <a:pPr algn="l" indent="0" marL="0">
              <a:lnSpc>
                <a:spcPct val="133000"/>
              </a:lnSpc>
              <a:buNone/>
            </a:pPr>
            <a:endParaRPr lang="en-US" sz="13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conta(classe, STUDENTI, insufficiente);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617229" y="910780"/>
            <a:ext cx="5168076" cy="946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Molte domande su un elenco hanno la stessa forma: quanti studenti soddisfano una condizione? La condizione cambia, il ciclo no. La condizione diventa una funzione che riceve uno studente.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617229" y="1948160"/>
            <a:ext cx="5168076" cy="1167408"/>
          </a:xfrm>
          <a:prstGeom prst="roundRect">
            <a:avLst>
              <a:gd name="adj" fmla="val 5222"/>
            </a:avLst>
          </a:prstGeom>
          <a:solidFill>
            <a:srgbClr val="DCEFDC"/>
          </a:solidFill>
          <a:ln/>
        </p:spPr>
      </p:sp>
      <p:sp>
        <p:nvSpPr>
          <p:cNvPr id="7" name="Shape 5"/>
          <p:cNvSpPr/>
          <p:nvPr/>
        </p:nvSpPr>
        <p:spPr>
          <a:xfrm>
            <a:off x="6617229" y="1948160"/>
            <a:ext cx="50799" cy="1167408"/>
          </a:xfrm>
          <a:prstGeom prst="rect">
            <a:avLst/>
          </a:prstGeom>
          <a:solidFill>
            <a:srgbClr val="256B2B"/>
          </a:solidFill>
          <a:ln/>
        </p:spPr>
      </p:sp>
      <p:sp>
        <p:nvSpPr>
          <p:cNvPr id="8" name="Text 6"/>
          <p:cNvSpPr/>
          <p:nvPr/>
        </p:nvSpPr>
        <p:spPr>
          <a:xfrm>
            <a:off x="6896622" y="2184252"/>
            <a:ext cx="4660089" cy="710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Si passa il nome della funzione, senza parentesi. Un array di Criterio con le descrizioni permette di provarli tutti con un ciclo, come i filtri del catalogo.</a:t>
            </a:r>
            <a:endParaRPr lang="en-US" sz="13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Errori Comuni da Evitare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06390" y="929580"/>
            <a:ext cx="5613260" cy="1158081"/>
          </a:xfrm>
          <a:prstGeom prst="roundRect">
            <a:avLst>
              <a:gd name="adj" fmla="val 5264"/>
            </a:avLst>
          </a:prstGeom>
          <a:solidFill>
            <a:srgbClr val="DCEFDC"/>
          </a:solidFill>
          <a:ln/>
        </p:spPr>
      </p:sp>
      <p:sp>
        <p:nvSpPr>
          <p:cNvPr id="4" name="Text 2"/>
          <p:cNvSpPr/>
          <p:nvPr/>
        </p:nvSpPr>
        <p:spPr>
          <a:xfrm>
            <a:off x="584185" y="1072311"/>
            <a:ext cx="525766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84185" y="1472188"/>
            <a:ext cx="5257668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Aspettarsi che una funzione che riceve Tessera t modifichi la tessera del chiamante.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172046" y="929580"/>
            <a:ext cx="5613260" cy="1158081"/>
          </a:xfrm>
          <a:prstGeom prst="roundRect">
            <a:avLst>
              <a:gd name="adj" fmla="val 5264"/>
            </a:avLst>
          </a:prstGeom>
          <a:solidFill>
            <a:srgbClr val="DCEFDC"/>
          </a:solidFill>
          <a:ln/>
        </p:spPr>
      </p:sp>
      <p:sp>
        <p:nvSpPr>
          <p:cNvPr id="7" name="Text 5"/>
          <p:cNvSpPr/>
          <p:nvPr/>
        </p:nvSpPr>
        <p:spPr>
          <a:xfrm>
            <a:off x="6349841" y="1072311"/>
            <a:ext cx="525766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349841" y="1472188"/>
            <a:ext cx="5435464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Chiamare semplifica(f) senza usare il valore restituito.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06390" y="2240062"/>
            <a:ext cx="5613260" cy="1158081"/>
          </a:xfrm>
          <a:prstGeom prst="roundRect">
            <a:avLst>
              <a:gd name="adj" fmla="val 5264"/>
            </a:avLst>
          </a:prstGeom>
          <a:solidFill>
            <a:srgbClr val="DCEFDC"/>
          </a:solidFill>
          <a:ln/>
        </p:spPr>
      </p:sp>
      <p:sp>
        <p:nvSpPr>
          <p:cNvPr id="10" name="Text 8"/>
          <p:cNvSpPr/>
          <p:nvPr/>
        </p:nvSpPr>
        <p:spPr>
          <a:xfrm>
            <a:off x="584185" y="2382793"/>
            <a:ext cx="525766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84185" y="2782669"/>
            <a:ext cx="5435464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Passare per valore una struct grande dentro un ciclo.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72046" y="2240062"/>
            <a:ext cx="5613260" cy="1158081"/>
          </a:xfrm>
          <a:prstGeom prst="roundRect">
            <a:avLst>
              <a:gd name="adj" fmla="val 5264"/>
            </a:avLst>
          </a:prstGeom>
          <a:solidFill>
            <a:srgbClr val="DCEFDC"/>
          </a:solidFill>
          <a:ln/>
        </p:spPr>
      </p:sp>
      <p:sp>
        <p:nvSpPr>
          <p:cNvPr id="13" name="Text 11"/>
          <p:cNvSpPr/>
          <p:nvPr/>
        </p:nvSpPr>
        <p:spPr>
          <a:xfrm>
            <a:off x="6349841" y="2382793"/>
            <a:ext cx="525766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4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349841" y="2782669"/>
            <a:ext cx="5257668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Usare il punto con un puntatore (p.media) o la freccia con una variabile (s-&gt;media).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06390" y="3550543"/>
            <a:ext cx="5613260" cy="1158081"/>
          </a:xfrm>
          <a:prstGeom prst="roundRect">
            <a:avLst>
              <a:gd name="adj" fmla="val 5264"/>
            </a:avLst>
          </a:prstGeom>
          <a:solidFill>
            <a:srgbClr val="DCEFDC"/>
          </a:solidFill>
          <a:ln/>
        </p:spPr>
      </p:sp>
      <p:sp>
        <p:nvSpPr>
          <p:cNvPr id="16" name="Text 14"/>
          <p:cNvSpPr/>
          <p:nvPr/>
        </p:nvSpPr>
        <p:spPr>
          <a:xfrm>
            <a:off x="584185" y="3693274"/>
            <a:ext cx="525766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5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84185" y="4093151"/>
            <a:ext cx="5435464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Scrivere *p.media invece di (*p).media o p-&gt;media.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172046" y="3550543"/>
            <a:ext cx="5613260" cy="1158081"/>
          </a:xfrm>
          <a:prstGeom prst="roundRect">
            <a:avLst>
              <a:gd name="adj" fmla="val 5264"/>
            </a:avLst>
          </a:prstGeom>
          <a:solidFill>
            <a:srgbClr val="DCEFDC"/>
          </a:solidFill>
          <a:ln/>
        </p:spPr>
      </p:sp>
      <p:sp>
        <p:nvSpPr>
          <p:cNvPr id="19" name="Text 17"/>
          <p:cNvSpPr/>
          <p:nvPr/>
        </p:nvSpPr>
        <p:spPr>
          <a:xfrm>
            <a:off x="6349841" y="3693274"/>
            <a:ext cx="525766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6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349841" y="4093151"/>
            <a:ext cx="5257668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Passare tessera invece di &amp;tessera a una funzione che vuole Tessera *.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06390" y="4861024"/>
            <a:ext cx="5613260" cy="1158081"/>
          </a:xfrm>
          <a:prstGeom prst="roundRect">
            <a:avLst>
              <a:gd name="adj" fmla="val 5264"/>
            </a:avLst>
          </a:prstGeom>
          <a:solidFill>
            <a:srgbClr val="DCEFDC"/>
          </a:solidFill>
          <a:ln/>
        </p:spPr>
      </p:sp>
      <p:sp>
        <p:nvSpPr>
          <p:cNvPr id="22" name="Text 20"/>
          <p:cNvSpPr/>
          <p:nvPr/>
        </p:nvSpPr>
        <p:spPr>
          <a:xfrm>
            <a:off x="584185" y="5003755"/>
            <a:ext cx="525766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7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84185" y="5403632"/>
            <a:ext cx="5257668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Usare il puntatore restituito da una ricerca senza controllare NULL.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172046" y="4861024"/>
            <a:ext cx="5613260" cy="1158081"/>
          </a:xfrm>
          <a:prstGeom prst="roundRect">
            <a:avLst>
              <a:gd name="adj" fmla="val 5264"/>
            </a:avLst>
          </a:prstGeom>
          <a:solidFill>
            <a:srgbClr val="DCEFDC"/>
          </a:solidFill>
          <a:ln/>
        </p:spPr>
      </p:sp>
      <p:sp>
        <p:nvSpPr>
          <p:cNvPr id="25" name="Text 23"/>
          <p:cNvSpPr/>
          <p:nvPr/>
        </p:nvSpPr>
        <p:spPr>
          <a:xfrm>
            <a:off x="6349841" y="5003755"/>
            <a:ext cx="525766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8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349841" y="5403632"/>
            <a:ext cx="5257668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Calcolare il numero di elementi con sizeof dentro la funzione che riceve l'array.</a:t>
            </a:r>
            <a:endParaRPr lang="en-US" sz="1400" dirty="0"/>
          </a:p>
        </p:txBody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Riepilogo Concetti</a:t>
            </a:r>
            <a:endParaRPr lang="en-US" sz="3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06390" y="929580"/>
          <a:ext cx="11378916" cy="914400"/>
        </p:xfrm>
        <a:graphic>
          <a:graphicData uri="http://schemas.openxmlformats.org/drawingml/2006/table">
            <a:tbl>
              <a:tblPr/>
              <a:tblGrid>
                <a:gridCol w="3413635"/>
                <a:gridCol w="3982541"/>
                <a:gridCol w="3982739"/>
              </a:tblGrid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Situazione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Tecnica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Note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Struct piccola, sola lettura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void f(Tipo t)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si lavora su una copia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Nuovo valore dello stesso tipo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Tipo f(Tipo a, Tipo b)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gli operandi non cambiano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Struct grande, sola lettura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void f(const Tipo *t)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8 byte, nessuna modifica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Aggiornare una struct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void f(Tipo *t)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t-&gt;campo = ...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Accedere a un campo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s.campo, p-&gt;campo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p-&gt;campo è (*p).campo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Ricerca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Tipo *cerca(...)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NULL se non trovato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Array di struct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f(const Tipo v[], int n)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n passato a parte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Scorrere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for (p = v; p &lt; v + n; p++)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p - v è la posizione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Condizione variabile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typedef int (*Criterio)(const Tipo *)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si passa il nome della funzione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10515"/>
            <a:ext cx="1178530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b="1" spc="63" kern="100" dirty="0">
                <a:solidFill>
                  <a:srgbClr val="256B2B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SEZIONE 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06390" y="587267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Esempi Pratici: Struct per Valore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06390" y="1198444"/>
            <a:ext cx="11785305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Concetti base — tre file su copia e struct restituita.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06390" y="1565077"/>
            <a:ext cx="3589744" cy="2243237"/>
          </a:xfrm>
          <a:prstGeom prst="roundRect">
            <a:avLst>
              <a:gd name="adj" fmla="val 510"/>
            </a:avLst>
          </a:prstGeom>
          <a:solidFill>
            <a:srgbClr val="DBF0DD"/>
          </a:solidFill>
          <a:ln/>
        </p:spPr>
      </p:sp>
      <p:sp>
        <p:nvSpPr>
          <p:cNvPr id="6" name="Text 4"/>
          <p:cNvSpPr/>
          <p:nvPr/>
        </p:nvSpPr>
        <p:spPr>
          <a:xfrm>
            <a:off x="584185" y="1756121"/>
            <a:ext cx="3234153" cy="474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1 – 010-parametro-per-valore.c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84185" y="2344738"/>
            <a:ext cx="1617027" cy="1209576"/>
          </a:xfrm>
          <a:prstGeom prst="roundRect">
            <a:avLst>
              <a:gd name="adj" fmla="val 5040"/>
            </a:avLst>
          </a:prstGeom>
          <a:solidFill>
            <a:srgbClr val="F2EDED"/>
          </a:solidFill>
          <a:ln/>
        </p:spPr>
      </p:sp>
      <p:sp>
        <p:nvSpPr>
          <p:cNvPr id="8" name="Shape 6"/>
          <p:cNvSpPr/>
          <p:nvPr/>
        </p:nvSpPr>
        <p:spPr>
          <a:xfrm>
            <a:off x="584185" y="2344738"/>
            <a:ext cx="38099" cy="1209576"/>
          </a:xfrm>
          <a:prstGeom prst="rect">
            <a:avLst/>
          </a:prstGeom>
          <a:solidFill>
            <a:srgbClr val="256B2B"/>
          </a:solidFill>
          <a:ln/>
        </p:spPr>
      </p:sp>
      <p:sp>
        <p:nvSpPr>
          <p:cNvPr id="9" name="Text 7"/>
          <p:cNvSpPr/>
          <p:nvPr/>
        </p:nvSpPr>
        <p:spPr>
          <a:xfrm>
            <a:off x="749281" y="2446338"/>
            <a:ext cx="1324934" cy="887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la ricarica della tessera della mensa.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01212" y="2344738"/>
            <a:ext cx="1617126" cy="1285776"/>
          </a:xfrm>
          <a:prstGeom prst="roundRect">
            <a:avLst>
              <a:gd name="adj" fmla="val 4741"/>
            </a:avLst>
          </a:prstGeom>
          <a:solidFill>
            <a:srgbClr val="F2EDED"/>
          </a:solidFill>
          <a:ln/>
        </p:spPr>
      </p:sp>
      <p:sp>
        <p:nvSpPr>
          <p:cNvPr id="11" name="Text 9"/>
          <p:cNvSpPr/>
          <p:nvPr/>
        </p:nvSpPr>
        <p:spPr>
          <a:xfrm>
            <a:off x="2328209" y="2446338"/>
            <a:ext cx="1363132" cy="108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ricarica_sbagliata sulla copia, poi Tessera ricaricata(...).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00926" y="1565077"/>
            <a:ext cx="3589744" cy="2243237"/>
          </a:xfrm>
          <a:prstGeom prst="roundRect">
            <a:avLst>
              <a:gd name="adj" fmla="val 510"/>
            </a:avLst>
          </a:prstGeom>
          <a:solidFill>
            <a:srgbClr val="DBF0DD"/>
          </a:solidFill>
          <a:ln/>
        </p:spPr>
      </p:sp>
      <p:sp>
        <p:nvSpPr>
          <p:cNvPr id="13" name="Text 11"/>
          <p:cNvSpPr/>
          <p:nvPr/>
        </p:nvSpPr>
        <p:spPr>
          <a:xfrm>
            <a:off x="4478722" y="1756121"/>
            <a:ext cx="3234153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2 – 020-struct-restituita.c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4478722" y="2107307"/>
            <a:ext cx="1617027" cy="1090216"/>
          </a:xfrm>
          <a:prstGeom prst="roundRect">
            <a:avLst>
              <a:gd name="adj" fmla="val 5591"/>
            </a:avLst>
          </a:prstGeom>
          <a:solidFill>
            <a:srgbClr val="F2EDED"/>
          </a:solidFill>
          <a:ln/>
        </p:spPr>
      </p:sp>
      <p:sp>
        <p:nvSpPr>
          <p:cNvPr id="15" name="Shape 13"/>
          <p:cNvSpPr/>
          <p:nvPr/>
        </p:nvSpPr>
        <p:spPr>
          <a:xfrm>
            <a:off x="4478722" y="2107307"/>
            <a:ext cx="38099" cy="1090216"/>
          </a:xfrm>
          <a:prstGeom prst="rect">
            <a:avLst/>
          </a:prstGeom>
          <a:solidFill>
            <a:srgbClr val="256B2B"/>
          </a:solidFill>
          <a:ln/>
        </p:spPr>
      </p:sp>
      <p:sp>
        <p:nvSpPr>
          <p:cNvPr id="16" name="Text 14"/>
          <p:cNvSpPr/>
          <p:nvPr/>
        </p:nvSpPr>
        <p:spPr>
          <a:xfrm>
            <a:off x="4643817" y="2208907"/>
            <a:ext cx="1324934" cy="887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le dosi di una ricetta in frazioni di tazza.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95748" y="2107307"/>
            <a:ext cx="1617126" cy="1166416"/>
          </a:xfrm>
          <a:prstGeom prst="roundRect">
            <a:avLst>
              <a:gd name="adj" fmla="val 5226"/>
            </a:avLst>
          </a:prstGeom>
          <a:solidFill>
            <a:srgbClr val="F2EDED"/>
          </a:solidFill>
          <a:ln/>
        </p:spPr>
      </p:sp>
      <p:sp>
        <p:nvSpPr>
          <p:cNvPr id="18" name="Text 16"/>
          <p:cNvSpPr/>
          <p:nvPr/>
        </p:nvSpPr>
        <p:spPr>
          <a:xfrm>
            <a:off x="6222745" y="2208907"/>
            <a:ext cx="1363132" cy="887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Frazione restituita e chiamate annidate.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195462" y="1565077"/>
            <a:ext cx="3589744" cy="2243237"/>
          </a:xfrm>
          <a:prstGeom prst="roundRect">
            <a:avLst>
              <a:gd name="adj" fmla="val 510"/>
            </a:avLst>
          </a:prstGeom>
          <a:solidFill>
            <a:srgbClr val="DBF0DD"/>
          </a:solidFill>
          <a:ln/>
        </p:spPr>
      </p:sp>
      <p:sp>
        <p:nvSpPr>
          <p:cNvPr id="20" name="Text 18"/>
          <p:cNvSpPr/>
          <p:nvPr/>
        </p:nvSpPr>
        <p:spPr>
          <a:xfrm>
            <a:off x="8373258" y="1756121"/>
            <a:ext cx="3234153" cy="474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3 – 030-costo-della-copia.c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8373258" y="2344738"/>
            <a:ext cx="1617027" cy="1090216"/>
          </a:xfrm>
          <a:prstGeom prst="roundRect">
            <a:avLst>
              <a:gd name="adj" fmla="val 5591"/>
            </a:avLst>
          </a:prstGeom>
          <a:solidFill>
            <a:srgbClr val="F2EDED"/>
          </a:solidFill>
          <a:ln/>
        </p:spPr>
      </p:sp>
      <p:sp>
        <p:nvSpPr>
          <p:cNvPr id="22" name="Shape 20"/>
          <p:cNvSpPr/>
          <p:nvPr/>
        </p:nvSpPr>
        <p:spPr>
          <a:xfrm>
            <a:off x="8373258" y="2344738"/>
            <a:ext cx="38099" cy="1090216"/>
          </a:xfrm>
          <a:prstGeom prst="rect">
            <a:avLst/>
          </a:prstGeom>
          <a:solidFill>
            <a:srgbClr val="256B2B"/>
          </a:solidFill>
          <a:ln/>
        </p:spPr>
      </p:sp>
      <p:sp>
        <p:nvSpPr>
          <p:cNvPr id="23" name="Text 21"/>
          <p:cNvSpPr/>
          <p:nvPr/>
        </p:nvSpPr>
        <p:spPr>
          <a:xfrm>
            <a:off x="8538354" y="2446338"/>
            <a:ext cx="1324934" cy="887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il registro della 3B con fino a 200 voti.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990284" y="2344738"/>
            <a:ext cx="1617126" cy="1166416"/>
          </a:xfrm>
          <a:prstGeom prst="roundRect">
            <a:avLst>
              <a:gd name="adj" fmla="val 5226"/>
            </a:avLst>
          </a:prstGeom>
          <a:solidFill>
            <a:srgbClr val="F2EDED"/>
          </a:solidFill>
          <a:ln/>
        </p:spPr>
      </p:sp>
      <p:sp>
        <p:nvSpPr>
          <p:cNvPr id="25" name="Text 23"/>
          <p:cNvSpPr/>
          <p:nvPr/>
        </p:nvSpPr>
        <p:spPr>
          <a:xfrm>
            <a:off x="10117281" y="2446338"/>
            <a:ext cx="1363132" cy="887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sizeof(Registro) e byte copiati per valore.</a:t>
            </a:r>
            <a:endParaRPr lang="en-US" sz="1100" dirty="0"/>
          </a:p>
        </p:txBody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10515"/>
            <a:ext cx="1178530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b="1" spc="63" kern="100" dirty="0">
                <a:solidFill>
                  <a:srgbClr val="256B2B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SEZIONE 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06390" y="587267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Esempi Pratici: Problemi su Struct per Valore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06390" y="1189236"/>
            <a:ext cx="5613260" cy="1116112"/>
          </a:xfrm>
          <a:prstGeom prst="roundRect">
            <a:avLst>
              <a:gd name="adj" fmla="val 1024"/>
            </a:avLst>
          </a:prstGeom>
          <a:solidFill>
            <a:srgbClr val="DBF0DD"/>
          </a:solidFill>
          <a:ln/>
        </p:spPr>
      </p:sp>
      <p:sp>
        <p:nvSpPr>
          <p:cNvPr id="5" name="Text 3"/>
          <p:cNvSpPr/>
          <p:nvPr/>
        </p:nvSpPr>
        <p:spPr>
          <a:xfrm>
            <a:off x="584185" y="1329480"/>
            <a:ext cx="525766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040 – Calcolatrice di frazioni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84185" y="1689874"/>
            <a:ext cx="5435464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Le quattro operazioni con il risultato normalizzato.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72046" y="1189236"/>
            <a:ext cx="5613260" cy="1116112"/>
          </a:xfrm>
          <a:prstGeom prst="roundRect">
            <a:avLst>
              <a:gd name="adj" fmla="val 1024"/>
            </a:avLst>
          </a:prstGeom>
          <a:solidFill>
            <a:srgbClr val="DBF0DD"/>
          </a:solidFill>
          <a:ln/>
        </p:spPr>
      </p:sp>
      <p:sp>
        <p:nvSpPr>
          <p:cNvPr id="8" name="Text 6"/>
          <p:cNvSpPr/>
          <p:nvPr/>
        </p:nvSpPr>
        <p:spPr>
          <a:xfrm>
            <a:off x="6349841" y="1329480"/>
            <a:ext cx="525766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050 – Orari dei treni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349841" y="1689874"/>
            <a:ext cx="5257668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Orario restituito da aggiungi_minuti: i pendolari arrivano in tempo?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06390" y="2457648"/>
            <a:ext cx="5613260" cy="867271"/>
          </a:xfrm>
          <a:prstGeom prst="roundRect">
            <a:avLst>
              <a:gd name="adj" fmla="val 1318"/>
            </a:avLst>
          </a:prstGeom>
          <a:solidFill>
            <a:srgbClr val="DBF0DD"/>
          </a:solidFill>
          <a:ln/>
        </p:spPr>
      </p:sp>
      <p:sp>
        <p:nvSpPr>
          <p:cNvPr id="11" name="Text 9"/>
          <p:cNvSpPr/>
          <p:nvPr/>
        </p:nvSpPr>
        <p:spPr>
          <a:xfrm>
            <a:off x="584185" y="2597893"/>
            <a:ext cx="525766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060 – Banchi del laboratorio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84185" y="2958286"/>
            <a:ext cx="5435464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Rettangoli sulla pianta: sovrapposizione e intersezione.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72046" y="2457648"/>
            <a:ext cx="5613260" cy="867271"/>
          </a:xfrm>
          <a:prstGeom prst="roundRect">
            <a:avLst>
              <a:gd name="adj" fmla="val 1318"/>
            </a:avLst>
          </a:prstGeom>
          <a:solidFill>
            <a:srgbClr val="DBF0DD"/>
          </a:solidFill>
          <a:ln/>
        </p:spPr>
      </p:sp>
      <p:sp>
        <p:nvSpPr>
          <p:cNvPr id="14" name="Text 12"/>
          <p:cNvSpPr/>
          <p:nvPr/>
        </p:nvSpPr>
        <p:spPr>
          <a:xfrm>
            <a:off x="6349841" y="2597893"/>
            <a:ext cx="525766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070 – Cambio valuta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349841" y="2958286"/>
            <a:ext cx="5435464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Importo convertito in euro con la tabella dei cambi.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06390" y="3477220"/>
            <a:ext cx="11378915" cy="867271"/>
          </a:xfrm>
          <a:prstGeom prst="roundRect">
            <a:avLst>
              <a:gd name="adj" fmla="val 1318"/>
            </a:avLst>
          </a:prstGeom>
          <a:solidFill>
            <a:srgbClr val="DBF0DD"/>
          </a:solidFill>
          <a:ln/>
        </p:spPr>
      </p:sp>
      <p:sp>
        <p:nvSpPr>
          <p:cNvPr id="17" name="Text 15"/>
          <p:cNvSpPr/>
          <p:nvPr/>
        </p:nvSpPr>
        <p:spPr>
          <a:xfrm>
            <a:off x="584185" y="3617465"/>
            <a:ext cx="11023324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080 – Impedenze di un circuito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84185" y="3977858"/>
            <a:ext cx="1120112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Numeri complessi per un circuito RLC in serie e in parallelo.</a:t>
            </a:r>
            <a:endParaRPr lang="en-US" sz="14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10515"/>
            <a:ext cx="1178530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b="1" spc="63" kern="100" dirty="0">
                <a:solidFill>
                  <a:srgbClr val="256B2B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SEZIONE 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06390" y="587267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Esempi Pratici: Puntatori a Struct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06390" y="1198444"/>
            <a:ext cx="11785305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Concetti base — tre file su freccia, modifica e const.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06390" y="1565077"/>
            <a:ext cx="3589744" cy="2123877"/>
          </a:xfrm>
          <a:prstGeom prst="roundRect">
            <a:avLst>
              <a:gd name="adj" fmla="val 538"/>
            </a:avLst>
          </a:prstGeom>
          <a:solidFill>
            <a:srgbClr val="DBF0DD"/>
          </a:solidFill>
          <a:ln/>
        </p:spPr>
      </p:sp>
      <p:sp>
        <p:nvSpPr>
          <p:cNvPr id="6" name="Text 4"/>
          <p:cNvSpPr/>
          <p:nvPr/>
        </p:nvSpPr>
        <p:spPr>
          <a:xfrm>
            <a:off x="584185" y="1756121"/>
            <a:ext cx="3234153" cy="474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1 – 010-operatore-freccia.c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84185" y="2344738"/>
            <a:ext cx="1617027" cy="1090216"/>
          </a:xfrm>
          <a:prstGeom prst="roundRect">
            <a:avLst>
              <a:gd name="adj" fmla="val 5591"/>
            </a:avLst>
          </a:prstGeom>
          <a:solidFill>
            <a:srgbClr val="F2EDED"/>
          </a:solidFill>
          <a:ln/>
        </p:spPr>
      </p:sp>
      <p:sp>
        <p:nvSpPr>
          <p:cNvPr id="8" name="Shape 6"/>
          <p:cNvSpPr/>
          <p:nvPr/>
        </p:nvSpPr>
        <p:spPr>
          <a:xfrm>
            <a:off x="584185" y="2344738"/>
            <a:ext cx="38099" cy="1090216"/>
          </a:xfrm>
          <a:prstGeom prst="rect">
            <a:avLst/>
          </a:prstGeom>
          <a:solidFill>
            <a:srgbClr val="256B2B"/>
          </a:solidFill>
          <a:ln/>
        </p:spPr>
      </p:sp>
      <p:sp>
        <p:nvSpPr>
          <p:cNvPr id="9" name="Text 7"/>
          <p:cNvSpPr/>
          <p:nvPr/>
        </p:nvSpPr>
        <p:spPr>
          <a:xfrm>
            <a:off x="749281" y="2446338"/>
            <a:ext cx="1324934" cy="887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il rappresentante di classe scelto tra due studenti.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01212" y="2344738"/>
            <a:ext cx="1617126" cy="1166416"/>
          </a:xfrm>
          <a:prstGeom prst="roundRect">
            <a:avLst>
              <a:gd name="adj" fmla="val 5226"/>
            </a:avLst>
          </a:prstGeom>
          <a:solidFill>
            <a:srgbClr val="F2EDED"/>
          </a:solidFill>
          <a:ln/>
        </p:spPr>
      </p:sp>
      <p:sp>
        <p:nvSpPr>
          <p:cNvPr id="11" name="Text 9"/>
          <p:cNvSpPr/>
          <p:nvPr/>
        </p:nvSpPr>
        <p:spPr>
          <a:xfrm>
            <a:off x="2328209" y="2446338"/>
            <a:ext cx="1363132" cy="887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(*p).media e p-&gt;media sulla stessa struct.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00926" y="1565077"/>
            <a:ext cx="3589744" cy="2123877"/>
          </a:xfrm>
          <a:prstGeom prst="roundRect">
            <a:avLst>
              <a:gd name="adj" fmla="val 538"/>
            </a:avLst>
          </a:prstGeom>
          <a:solidFill>
            <a:srgbClr val="DBF0DD"/>
          </a:solidFill>
          <a:ln/>
        </p:spPr>
      </p:sp>
      <p:sp>
        <p:nvSpPr>
          <p:cNvPr id="13" name="Text 11"/>
          <p:cNvSpPr/>
          <p:nvPr/>
        </p:nvSpPr>
        <p:spPr>
          <a:xfrm>
            <a:off x="4478722" y="1756121"/>
            <a:ext cx="3234153" cy="474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2 – 020-modificare-tramite-puntatore.c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4478722" y="2344738"/>
            <a:ext cx="1617027" cy="894655"/>
          </a:xfrm>
          <a:prstGeom prst="roundRect">
            <a:avLst>
              <a:gd name="adj" fmla="val 6814"/>
            </a:avLst>
          </a:prstGeom>
          <a:solidFill>
            <a:srgbClr val="F2EDED"/>
          </a:solidFill>
          <a:ln/>
        </p:spPr>
      </p:sp>
      <p:sp>
        <p:nvSpPr>
          <p:cNvPr id="15" name="Shape 13"/>
          <p:cNvSpPr/>
          <p:nvPr/>
        </p:nvSpPr>
        <p:spPr>
          <a:xfrm>
            <a:off x="4478722" y="2344738"/>
            <a:ext cx="38099" cy="894655"/>
          </a:xfrm>
          <a:prstGeom prst="rect">
            <a:avLst/>
          </a:prstGeom>
          <a:solidFill>
            <a:srgbClr val="256B2B"/>
          </a:solidFill>
          <a:ln/>
        </p:spPr>
      </p:sp>
      <p:sp>
        <p:nvSpPr>
          <p:cNvPr id="16" name="Text 14"/>
          <p:cNvSpPr/>
          <p:nvPr/>
        </p:nvSpPr>
        <p:spPr>
          <a:xfrm>
            <a:off x="4643817" y="2446338"/>
            <a:ext cx="1324934" cy="691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la tessera della mensa.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95748" y="2344738"/>
            <a:ext cx="1617126" cy="970855"/>
          </a:xfrm>
          <a:prstGeom prst="roundRect">
            <a:avLst>
              <a:gd name="adj" fmla="val 6279"/>
            </a:avLst>
          </a:prstGeom>
          <a:solidFill>
            <a:srgbClr val="F2EDED"/>
          </a:solidFill>
          <a:ln/>
        </p:spPr>
      </p:sp>
      <p:sp>
        <p:nvSpPr>
          <p:cNvPr id="18" name="Text 16"/>
          <p:cNvSpPr/>
          <p:nvPr/>
        </p:nvSpPr>
        <p:spPr>
          <a:xfrm>
            <a:off x="6222745" y="2446338"/>
            <a:ext cx="1363132" cy="691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ricarica e paga ricevono Tessera *.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195462" y="1565077"/>
            <a:ext cx="3589744" cy="2123877"/>
          </a:xfrm>
          <a:prstGeom prst="roundRect">
            <a:avLst>
              <a:gd name="adj" fmla="val 538"/>
            </a:avLst>
          </a:prstGeom>
          <a:solidFill>
            <a:srgbClr val="DBF0DD"/>
          </a:solidFill>
          <a:ln/>
        </p:spPr>
      </p:sp>
      <p:sp>
        <p:nvSpPr>
          <p:cNvPr id="20" name="Text 18"/>
          <p:cNvSpPr/>
          <p:nvPr/>
        </p:nvSpPr>
        <p:spPr>
          <a:xfrm>
            <a:off x="8373258" y="1756121"/>
            <a:ext cx="3234153" cy="474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3 – 030-const-per-leggere.c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8373258" y="2344738"/>
            <a:ext cx="1617027" cy="894655"/>
          </a:xfrm>
          <a:prstGeom prst="roundRect">
            <a:avLst>
              <a:gd name="adj" fmla="val 6814"/>
            </a:avLst>
          </a:prstGeom>
          <a:solidFill>
            <a:srgbClr val="F2EDED"/>
          </a:solidFill>
          <a:ln/>
        </p:spPr>
      </p:sp>
      <p:sp>
        <p:nvSpPr>
          <p:cNvPr id="22" name="Shape 20"/>
          <p:cNvSpPr/>
          <p:nvPr/>
        </p:nvSpPr>
        <p:spPr>
          <a:xfrm>
            <a:off x="8373258" y="2344738"/>
            <a:ext cx="38099" cy="894655"/>
          </a:xfrm>
          <a:prstGeom prst="rect">
            <a:avLst/>
          </a:prstGeom>
          <a:solidFill>
            <a:srgbClr val="256B2B"/>
          </a:solidFill>
          <a:ln/>
        </p:spPr>
      </p:sp>
      <p:sp>
        <p:nvSpPr>
          <p:cNvPr id="23" name="Text 21"/>
          <p:cNvSpPr/>
          <p:nvPr/>
        </p:nvSpPr>
        <p:spPr>
          <a:xfrm>
            <a:off x="8538354" y="2446338"/>
            <a:ext cx="1324934" cy="691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lo stesso registro della 3B.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990284" y="2344738"/>
            <a:ext cx="1617126" cy="970855"/>
          </a:xfrm>
          <a:prstGeom prst="roundRect">
            <a:avLst>
              <a:gd name="adj" fmla="val 6279"/>
            </a:avLst>
          </a:prstGeom>
          <a:solidFill>
            <a:srgbClr val="F2EDED"/>
          </a:solidFill>
          <a:ln/>
        </p:spPr>
      </p:sp>
      <p:sp>
        <p:nvSpPr>
          <p:cNvPr id="25" name="Text 23"/>
          <p:cNvSpPr/>
          <p:nvPr/>
        </p:nvSpPr>
        <p:spPr>
          <a:xfrm>
            <a:off x="10117281" y="2446338"/>
            <a:ext cx="1363132" cy="691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const Registro *, 8 byte invece di 808.</a:t>
            </a:r>
            <a:endParaRPr lang="en-US" sz="1100" dirty="0"/>
          </a:p>
        </p:txBody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10515"/>
            <a:ext cx="1178530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b="1" spc="63" kern="100" dirty="0">
                <a:solidFill>
                  <a:srgbClr val="256B2B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SEZIONE 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06390" y="587267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Esempi Pratici: Problemi su Puntatori a Struct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06390" y="1189236"/>
            <a:ext cx="5613260" cy="867271"/>
          </a:xfrm>
          <a:prstGeom prst="roundRect">
            <a:avLst>
              <a:gd name="adj" fmla="val 1318"/>
            </a:avLst>
          </a:prstGeom>
          <a:solidFill>
            <a:srgbClr val="DBF0DD"/>
          </a:solidFill>
          <a:ln/>
        </p:spPr>
      </p:sp>
      <p:sp>
        <p:nvSpPr>
          <p:cNvPr id="5" name="Text 3"/>
          <p:cNvSpPr/>
          <p:nvPr/>
        </p:nvSpPr>
        <p:spPr>
          <a:xfrm>
            <a:off x="584185" y="1329480"/>
            <a:ext cx="525766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040 – Borsellino elettronico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84185" y="1689874"/>
            <a:ext cx="5435464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Acquisti ai distributori e ricariche con codici di esito.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72046" y="1189236"/>
            <a:ext cx="5613260" cy="867271"/>
          </a:xfrm>
          <a:prstGeom prst="roundRect">
            <a:avLst>
              <a:gd name="adj" fmla="val 1318"/>
            </a:avLst>
          </a:prstGeom>
          <a:solidFill>
            <a:srgbClr val="DBF0DD"/>
          </a:solidFill>
          <a:ln/>
        </p:spPr>
      </p:sp>
      <p:sp>
        <p:nvSpPr>
          <p:cNvPr id="8" name="Text 6"/>
          <p:cNvSpPr/>
          <p:nvPr/>
        </p:nvSpPr>
        <p:spPr>
          <a:xfrm>
            <a:off x="6349841" y="1329480"/>
            <a:ext cx="525766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050 – Termostato delle aule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349841" y="1689874"/>
            <a:ext cx="5435464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La stessa funzione aggiorna con isteresi due aule diverse.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06390" y="2208808"/>
            <a:ext cx="5613260" cy="1116112"/>
          </a:xfrm>
          <a:prstGeom prst="roundRect">
            <a:avLst>
              <a:gd name="adj" fmla="val 1024"/>
            </a:avLst>
          </a:prstGeom>
          <a:solidFill>
            <a:srgbClr val="DBF0DD"/>
          </a:solidFill>
          <a:ln/>
        </p:spPr>
      </p:sp>
      <p:sp>
        <p:nvSpPr>
          <p:cNvPr id="11" name="Text 9"/>
          <p:cNvSpPr/>
          <p:nvPr/>
        </p:nvSpPr>
        <p:spPr>
          <a:xfrm>
            <a:off x="584185" y="2349052"/>
            <a:ext cx="525766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060 – Scambio di studenti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84185" y="2709446"/>
            <a:ext cx="5257668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Scambio tra 1A e 1B tramite puntatori, confronto con le copie.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72046" y="2208808"/>
            <a:ext cx="5613260" cy="1116112"/>
          </a:xfrm>
          <a:prstGeom prst="roundRect">
            <a:avLst>
              <a:gd name="adj" fmla="val 1024"/>
            </a:avLst>
          </a:prstGeom>
          <a:solidFill>
            <a:srgbClr val="DBF0DD"/>
          </a:solidFill>
          <a:ln/>
        </p:spPr>
      </p:sp>
      <p:sp>
        <p:nvSpPr>
          <p:cNvPr id="14" name="Text 12"/>
          <p:cNvSpPr/>
          <p:nvPr/>
        </p:nvSpPr>
        <p:spPr>
          <a:xfrm>
            <a:off x="6349841" y="2349052"/>
            <a:ext cx="525766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070 – Lettura di una scheda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349841" y="2709446"/>
            <a:ext cx="5257668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leggi_libro riempie la struct del chiamante e controlla l'ISBN.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06390" y="3477220"/>
            <a:ext cx="11378915" cy="867271"/>
          </a:xfrm>
          <a:prstGeom prst="roundRect">
            <a:avLst>
              <a:gd name="adj" fmla="val 1318"/>
            </a:avLst>
          </a:prstGeom>
          <a:solidFill>
            <a:srgbClr val="DBF0DD"/>
          </a:solidFill>
          <a:ln/>
        </p:spPr>
      </p:sp>
      <p:sp>
        <p:nvSpPr>
          <p:cNvPr id="17" name="Text 15"/>
          <p:cNvSpPr/>
          <p:nvPr/>
        </p:nvSpPr>
        <p:spPr>
          <a:xfrm>
            <a:off x="584185" y="3617465"/>
            <a:ext cx="11023324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080 – Ricerca con puntatore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84185" y="3977858"/>
            <a:ext cx="1120112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cerca restituisce il PC del laboratorio da modificare.</a:t>
            </a:r>
            <a:endParaRPr lang="en-US" sz="14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10515"/>
            <a:ext cx="1178530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b="1" spc="63" kern="100" dirty="0">
                <a:solidFill>
                  <a:srgbClr val="256B2B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SEZIONE 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06390" y="587267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Esempi Pratici: Array di Struct e Funzioni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06390" y="1198444"/>
            <a:ext cx="11785305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Concetti base — tre file su array, puntatori e criteri.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06390" y="1565077"/>
            <a:ext cx="3589744" cy="2319437"/>
          </a:xfrm>
          <a:prstGeom prst="roundRect">
            <a:avLst>
              <a:gd name="adj" fmla="val 493"/>
            </a:avLst>
          </a:prstGeom>
          <a:solidFill>
            <a:srgbClr val="DBF0DD"/>
          </a:solidFill>
          <a:ln/>
        </p:spPr>
      </p:sp>
      <p:sp>
        <p:nvSpPr>
          <p:cNvPr id="6" name="Text 4"/>
          <p:cNvSpPr/>
          <p:nvPr/>
        </p:nvSpPr>
        <p:spPr>
          <a:xfrm>
            <a:off x="584185" y="1756121"/>
            <a:ext cx="3234153" cy="474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1 – 010-array-come-parametro.c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84185" y="2344738"/>
            <a:ext cx="1617027" cy="1209576"/>
          </a:xfrm>
          <a:prstGeom prst="roundRect">
            <a:avLst>
              <a:gd name="adj" fmla="val 5040"/>
            </a:avLst>
          </a:prstGeom>
          <a:solidFill>
            <a:srgbClr val="F2EDED"/>
          </a:solidFill>
          <a:ln/>
        </p:spPr>
      </p:sp>
      <p:sp>
        <p:nvSpPr>
          <p:cNvPr id="8" name="Shape 6"/>
          <p:cNvSpPr/>
          <p:nvPr/>
        </p:nvSpPr>
        <p:spPr>
          <a:xfrm>
            <a:off x="584185" y="2344738"/>
            <a:ext cx="38099" cy="1209576"/>
          </a:xfrm>
          <a:prstGeom prst="rect">
            <a:avLst/>
          </a:prstGeom>
          <a:solidFill>
            <a:srgbClr val="256B2B"/>
          </a:solidFill>
          <a:ln/>
        </p:spPr>
      </p:sp>
      <p:sp>
        <p:nvSpPr>
          <p:cNvPr id="9" name="Text 7"/>
          <p:cNvSpPr/>
          <p:nvPr/>
        </p:nvSpPr>
        <p:spPr>
          <a:xfrm>
            <a:off x="749281" y="2446338"/>
            <a:ext cx="1324934" cy="691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le medie di fine anno della classe.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01212" y="2344738"/>
            <a:ext cx="1617126" cy="1285776"/>
          </a:xfrm>
          <a:prstGeom prst="roundRect">
            <a:avLst>
              <a:gd name="adj" fmla="val 4741"/>
            </a:avLst>
          </a:prstGeom>
          <a:solidFill>
            <a:srgbClr val="F2EDED"/>
          </a:solidFill>
          <a:ln/>
        </p:spPr>
      </p:sp>
      <p:sp>
        <p:nvSpPr>
          <p:cNvPr id="11" name="Text 9"/>
          <p:cNvSpPr/>
          <p:nvPr/>
        </p:nvSpPr>
        <p:spPr>
          <a:xfrm>
            <a:off x="2328209" y="2446338"/>
            <a:ext cx="1363132" cy="108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const Studente classe[] e arrotondamento al mezzo voto.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00926" y="1565077"/>
            <a:ext cx="3589744" cy="2319437"/>
          </a:xfrm>
          <a:prstGeom prst="roundRect">
            <a:avLst>
              <a:gd name="adj" fmla="val 493"/>
            </a:avLst>
          </a:prstGeom>
          <a:solidFill>
            <a:srgbClr val="DBF0DD"/>
          </a:solidFill>
          <a:ln/>
        </p:spPr>
      </p:sp>
      <p:sp>
        <p:nvSpPr>
          <p:cNvPr id="13" name="Text 11"/>
          <p:cNvSpPr/>
          <p:nvPr/>
        </p:nvSpPr>
        <p:spPr>
          <a:xfrm>
            <a:off x="4478722" y="1756121"/>
            <a:ext cx="3234153" cy="474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2 – 020-puntatore-che-scorre.c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4478722" y="2344738"/>
            <a:ext cx="1617027" cy="1014016"/>
          </a:xfrm>
          <a:prstGeom prst="roundRect">
            <a:avLst>
              <a:gd name="adj" fmla="val 6012"/>
            </a:avLst>
          </a:prstGeom>
          <a:solidFill>
            <a:srgbClr val="F2EDED"/>
          </a:solidFill>
          <a:ln/>
        </p:spPr>
      </p:sp>
      <p:sp>
        <p:nvSpPr>
          <p:cNvPr id="15" name="Shape 13"/>
          <p:cNvSpPr/>
          <p:nvPr/>
        </p:nvSpPr>
        <p:spPr>
          <a:xfrm>
            <a:off x="4478722" y="2344738"/>
            <a:ext cx="38099" cy="1014016"/>
          </a:xfrm>
          <a:prstGeom prst="rect">
            <a:avLst/>
          </a:prstGeom>
          <a:solidFill>
            <a:srgbClr val="256B2B"/>
          </a:solidFill>
          <a:ln/>
        </p:spPr>
      </p:sp>
      <p:sp>
        <p:nvSpPr>
          <p:cNvPr id="16" name="Text 14"/>
          <p:cNvSpPr/>
          <p:nvPr/>
        </p:nvSpPr>
        <p:spPr>
          <a:xfrm>
            <a:off x="4643817" y="2446338"/>
            <a:ext cx="1324934" cy="691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il tabellone degli arrivi in stazione.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95748" y="2344738"/>
            <a:ext cx="1617126" cy="1090216"/>
          </a:xfrm>
          <a:prstGeom prst="roundRect">
            <a:avLst>
              <a:gd name="adj" fmla="val 5591"/>
            </a:avLst>
          </a:prstGeom>
          <a:solidFill>
            <a:srgbClr val="F2EDED"/>
          </a:solidFill>
          <a:ln/>
        </p:spPr>
      </p:sp>
      <p:sp>
        <p:nvSpPr>
          <p:cNvPr id="18" name="Text 16"/>
          <p:cNvSpPr/>
          <p:nvPr/>
        </p:nvSpPr>
        <p:spPr>
          <a:xfrm>
            <a:off x="6222745" y="2446338"/>
            <a:ext cx="1363132" cy="887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const Treno *p che scorre e piu_in_ritardo.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195462" y="1565077"/>
            <a:ext cx="3589744" cy="2319437"/>
          </a:xfrm>
          <a:prstGeom prst="roundRect">
            <a:avLst>
              <a:gd name="adj" fmla="val 493"/>
            </a:avLst>
          </a:prstGeom>
          <a:solidFill>
            <a:srgbClr val="DBF0DD"/>
          </a:solidFill>
          <a:ln/>
        </p:spPr>
      </p:sp>
      <p:sp>
        <p:nvSpPr>
          <p:cNvPr id="20" name="Text 18"/>
          <p:cNvSpPr/>
          <p:nvPr/>
        </p:nvSpPr>
        <p:spPr>
          <a:xfrm>
            <a:off x="8373258" y="1756121"/>
            <a:ext cx="3234153" cy="474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3 – 030-criterio-come-parametro.c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8373258" y="2344738"/>
            <a:ext cx="1617027" cy="1285776"/>
          </a:xfrm>
          <a:prstGeom prst="roundRect">
            <a:avLst>
              <a:gd name="adj" fmla="val 4741"/>
            </a:avLst>
          </a:prstGeom>
          <a:solidFill>
            <a:srgbClr val="F2EDED"/>
          </a:solidFill>
          <a:ln/>
        </p:spPr>
      </p:sp>
      <p:sp>
        <p:nvSpPr>
          <p:cNvPr id="22" name="Shape 20"/>
          <p:cNvSpPr/>
          <p:nvPr/>
        </p:nvSpPr>
        <p:spPr>
          <a:xfrm>
            <a:off x="8373258" y="2344738"/>
            <a:ext cx="38099" cy="1285776"/>
          </a:xfrm>
          <a:prstGeom prst="rect">
            <a:avLst/>
          </a:prstGeom>
          <a:solidFill>
            <a:srgbClr val="256B2B"/>
          </a:solidFill>
          <a:ln/>
        </p:spPr>
      </p:sp>
      <p:sp>
        <p:nvSpPr>
          <p:cNvPr id="23" name="Text 21"/>
          <p:cNvSpPr/>
          <p:nvPr/>
        </p:nvSpPr>
        <p:spPr>
          <a:xfrm>
            <a:off x="8538354" y="2446338"/>
            <a:ext cx="1324934" cy="108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insufficienze, eccellenze e assenze della classe.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990284" y="2344738"/>
            <a:ext cx="1617126" cy="1361976"/>
          </a:xfrm>
          <a:prstGeom prst="roundRect">
            <a:avLst>
              <a:gd name="adj" fmla="val 4476"/>
            </a:avLst>
          </a:prstGeom>
          <a:solidFill>
            <a:srgbClr val="F2EDED"/>
          </a:solidFill>
          <a:ln/>
        </p:spPr>
      </p:sp>
      <p:sp>
        <p:nvSpPr>
          <p:cNvPr id="25" name="Text 23"/>
          <p:cNvSpPr/>
          <p:nvPr/>
        </p:nvSpPr>
        <p:spPr>
          <a:xfrm>
            <a:off x="10117281" y="2446338"/>
            <a:ext cx="1363132" cy="691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typedef Criterio, conta ed elenca.</a:t>
            </a:r>
            <a:endParaRPr lang="en-US" sz="1100" dirty="0"/>
          </a:p>
        </p:txBody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10515"/>
            <a:ext cx="1178530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b="1" spc="63" kern="100" dirty="0">
                <a:solidFill>
                  <a:srgbClr val="256B2B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SEZIONE 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06390" y="587267"/>
            <a:ext cx="11378915" cy="893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Esempi Pratici: Problemi su Array di Struct e Funzioni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06390" y="1636216"/>
            <a:ext cx="5613260" cy="1116112"/>
          </a:xfrm>
          <a:prstGeom prst="roundRect">
            <a:avLst>
              <a:gd name="adj" fmla="val 1024"/>
            </a:avLst>
          </a:prstGeom>
          <a:solidFill>
            <a:srgbClr val="DBF0DD"/>
          </a:solidFill>
          <a:ln/>
        </p:spPr>
      </p:sp>
      <p:sp>
        <p:nvSpPr>
          <p:cNvPr id="5" name="Text 3"/>
          <p:cNvSpPr/>
          <p:nvPr/>
        </p:nvSpPr>
        <p:spPr>
          <a:xfrm>
            <a:off x="584185" y="1776461"/>
            <a:ext cx="525766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040 – Tabellone della stazione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84185" y="2136854"/>
            <a:ext cx="5257668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Ritardi, soppressioni e prossimo treno per una destinazione.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72046" y="1636216"/>
            <a:ext cx="5613260" cy="1116112"/>
          </a:xfrm>
          <a:prstGeom prst="roundRect">
            <a:avLst>
              <a:gd name="adj" fmla="val 1024"/>
            </a:avLst>
          </a:prstGeom>
          <a:solidFill>
            <a:srgbClr val="DBF0DD"/>
          </a:solidFill>
          <a:ln/>
        </p:spPr>
      </p:sp>
      <p:sp>
        <p:nvSpPr>
          <p:cNvPr id="8" name="Text 6"/>
          <p:cNvSpPr/>
          <p:nvPr/>
        </p:nvSpPr>
        <p:spPr>
          <a:xfrm>
            <a:off x="6349841" y="1776461"/>
            <a:ext cx="525766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050 – Campionato di calcetto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349841" y="2136854"/>
            <a:ext cx="5435464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Risultati, tabella e capolista senza ordinare l'array.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06390" y="2904629"/>
            <a:ext cx="5613260" cy="1116112"/>
          </a:xfrm>
          <a:prstGeom prst="roundRect">
            <a:avLst>
              <a:gd name="adj" fmla="val 1024"/>
            </a:avLst>
          </a:prstGeom>
          <a:solidFill>
            <a:srgbClr val="DBF0DD"/>
          </a:solidFill>
          <a:ln/>
        </p:spPr>
      </p:sp>
      <p:sp>
        <p:nvSpPr>
          <p:cNvPr id="11" name="Text 9"/>
          <p:cNvSpPr/>
          <p:nvPr/>
        </p:nvSpPr>
        <p:spPr>
          <a:xfrm>
            <a:off x="584185" y="3044873"/>
            <a:ext cx="525766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060 – Noleggio bici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84185" y="3405267"/>
            <a:ext cx="5257668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Funzioni che lavorano su una bici trovata con un puntatore.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72046" y="2904629"/>
            <a:ext cx="5613260" cy="1116112"/>
          </a:xfrm>
          <a:prstGeom prst="roundRect">
            <a:avLst>
              <a:gd name="adj" fmla="val 1024"/>
            </a:avLst>
          </a:prstGeom>
          <a:solidFill>
            <a:srgbClr val="DBF0DD"/>
          </a:solidFill>
          <a:ln/>
        </p:spPr>
      </p:sp>
      <p:sp>
        <p:nvSpPr>
          <p:cNvPr id="14" name="Text 12"/>
          <p:cNvSpPr/>
          <p:nvPr/>
        </p:nvSpPr>
        <p:spPr>
          <a:xfrm>
            <a:off x="6349841" y="3044873"/>
            <a:ext cx="525766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070 – Elezione dei rappresentanti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349841" y="3405267"/>
            <a:ext cx="5435464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Spoglio delle schede, i due più votati e il ballottaggio.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06390" y="4173041"/>
            <a:ext cx="11378915" cy="867271"/>
          </a:xfrm>
          <a:prstGeom prst="roundRect">
            <a:avLst>
              <a:gd name="adj" fmla="val 1318"/>
            </a:avLst>
          </a:prstGeom>
          <a:solidFill>
            <a:srgbClr val="DBF0DD"/>
          </a:solidFill>
          <a:ln/>
        </p:spPr>
      </p:sp>
      <p:sp>
        <p:nvSpPr>
          <p:cNvPr id="17" name="Text 15"/>
          <p:cNvSpPr/>
          <p:nvPr/>
        </p:nvSpPr>
        <p:spPr>
          <a:xfrm>
            <a:off x="584185" y="4313286"/>
            <a:ext cx="11023324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080 – Filtri del catalogo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84185" y="4673679"/>
            <a:ext cx="1120112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Ricerche nel catalogo con una tabella di Filtro.</a:t>
            </a:r>
            <a:endParaRPr lang="en-US" sz="14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2026-10-12T12:57:36Z</dcterms:created>
  <dcterms:modified xsi:type="dcterms:W3CDTF">2026-10-12T12:57:36Z</dcterms:modified>
</cp:coreProperties>
</file>