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962811"/>
            <a:ext cx="6502237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Controllo del Flusso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3384471"/>
            <a:ext cx="65022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Logica booleana, if-else, switch, while, do-while, for, break e continue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4197548"/>
            <a:ext cx="6502237" cy="727373"/>
          </a:xfrm>
          <a:prstGeom prst="rect">
            <a:avLst/>
          </a:prstGeom>
          <a:solidFill>
            <a:srgbClr val="102010"/>
          </a:solidFill>
          <a:ln/>
        </p:spPr>
      </p:sp>
      <p:sp>
        <p:nvSpPr>
          <p:cNvPr id="5" name="Shape 3"/>
          <p:cNvSpPr/>
          <p:nvPr/>
        </p:nvSpPr>
        <p:spPr>
          <a:xfrm>
            <a:off x="634984" y="4426148"/>
            <a:ext cx="1310250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1642" y="4483239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34132" y="4426148"/>
            <a:ext cx="2216988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0789" y="4483239"/>
            <a:ext cx="261325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STRUTTURE DI CONTROLLO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0017" y="4426148"/>
            <a:ext cx="1617424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6675" y="4483239"/>
            <a:ext cx="201369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PROGRAMMAZIONE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58739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Cos'è il Controllo del Flusso?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2198569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programma esegue le istruzioni in ordine, dall'alto in basso. Le strutture di controllo cambiano questo ordine.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2590602"/>
          <a:ext cx="11378916" cy="914400"/>
        </p:xfrm>
        <a:graphic>
          <a:graphicData uri="http://schemas.openxmlformats.org/drawingml/2006/table">
            <a:tbl>
              <a:tblPr/>
              <a:tblGrid>
                <a:gridCol w="2503326"/>
                <a:gridCol w="5461856"/>
                <a:gridCol w="341373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Struttura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Che cosa fa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Costrutti 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Sequenza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esegue le istruzioni una dopo l'altra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(nessuno)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Selezione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sceglie quale blocco eseguire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if-else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switch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Iterazione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ripete un blocco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do-while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4351139"/>
            <a:ext cx="11378915" cy="942181"/>
          </a:xfrm>
          <a:prstGeom prst="roundRect">
            <a:avLst>
              <a:gd name="adj" fmla="val 1213"/>
            </a:avLst>
          </a:prstGeom>
          <a:solidFill>
            <a:srgbClr val="DBF0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4608314"/>
            <a:ext cx="222244" cy="177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4225" y="4582597"/>
            <a:ext cx="106232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Tutto parte da una condizione: if, while e for decidono valutando un'espressione vera o falsa. Per questo il capitolo inizia dalla logica booleana.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601580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Vero e Falso in 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2212757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 non ha un tipo booleano: si usano gli interi.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2611140"/>
          <a:ext cx="4798793" cy="914400"/>
        </p:xfrm>
        <a:graphic>
          <a:graphicData uri="http://schemas.openxmlformats.org/drawingml/2006/table">
            <a:tbl>
              <a:tblPr/>
              <a:tblGrid>
                <a:gridCol w="1679533"/>
                <a:gridCol w="3119260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 una condizione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falso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85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qualunque valore diverso da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509876" y="2620347"/>
            <a:ext cx="62754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confronti (==, !=, &lt;, &gt;, &lt;=, &gt;=) e gli operatori logici (&amp;&amp;, ||, !) restituiscono sempre 1 oppure 0.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09876" y="3308846"/>
            <a:ext cx="6275429" cy="924520"/>
          </a:xfrm>
          <a:prstGeom prst="roundRect">
            <a:avLst>
              <a:gd name="adj" fmla="val 1236"/>
            </a:avLst>
          </a:prstGeom>
          <a:solidFill>
            <a:srgbClr val="F2EDED"/>
          </a:solidFill>
          <a:ln/>
        </p:spPr>
      </p:sp>
      <p:sp>
        <p:nvSpPr>
          <p:cNvPr id="7" name="Text 4"/>
          <p:cNvSpPr/>
          <p:nvPr/>
        </p:nvSpPr>
        <p:spPr>
          <a:xfrm>
            <a:off x="5723191" y="3486964"/>
            <a:ext cx="584879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sala_piena = (posti_liberi == 0);   /* variabile booleana (flag)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in_rosso   = (saldo &lt; 0);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06390" y="4585791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4842966"/>
            <a:ext cx="222244" cy="177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4225" y="4817249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Errore tipico: = assegna, == confronta. if (x = 0) assegna 0 e la condizione è sempre falsa.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583026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 Tavole di Verità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2184995"/>
          <a:ext cx="5906146" cy="914400"/>
        </p:xfrm>
        <a:graphic>
          <a:graphicData uri="http://schemas.openxmlformats.org/drawingml/2006/table">
            <a:tbl>
              <a:tblPr/>
              <a:tblGrid>
                <a:gridCol w="826860"/>
                <a:gridCol w="826860"/>
                <a:gridCol w="944983"/>
                <a:gridCol w="1063106"/>
                <a:gridCol w="1063106"/>
                <a:gridCol w="1181229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!a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 &amp;&amp; b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 || b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 != b (XOR)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7229" y="2763639"/>
            <a:ext cx="5168076" cy="1084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AND: vero solo se tutte le condizioni sono vere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OR: vero se almeno una è vera (anche tutte)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XOR: in C non esiste come operatore logico; su valori 0/1 si scrive a != b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06390" y="4604345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4861520"/>
            <a:ext cx="222244" cy="177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4225" y="4835803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Nelle condizioni si usano &amp;&amp; e ||, non &amp; e | (operatori bit a bit).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732053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Combinare le Condizioni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2334022"/>
            <a:ext cx="11378915" cy="65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Precedenza, dalla più alta: ! → &lt; &gt; &lt;= &gt;= → == != → &amp;&amp; → ||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&amp;&amp; lega più di ||: a || b &amp;&amp; c si legge a || (b &amp;&amp; c). Quando compaiono insieme si scrivono sempre le parentesi.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3117453"/>
          <a:ext cx="11378916" cy="914400"/>
        </p:xfrm>
        <a:graphic>
          <a:graphicData uri="http://schemas.openxmlformats.org/drawingml/2006/table">
            <a:tbl>
              <a:tblPr/>
              <a:tblGrid>
                <a:gridCol w="4551546"/>
                <a:gridCol w="682736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Condizione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Espressione 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 dentro [min, max]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&gt;= min &amp;&amp; x &lt;= max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 fuori da [min, max]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&lt; min || x &gt; max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4455319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4712494"/>
            <a:ext cx="222244" cy="177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4225" y="4686776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Errore tipico: 18 &lt;= eta &lt;= 65 è sempre vero. Si scrive eta &gt;= 18 &amp;&amp; eta &lt;= 65.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663195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De Morgan e Corto Circuito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2274372"/>
            <a:ext cx="55370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Leggi di De Morgan: per negare una condizione composta si negano le parti e si scambia &amp;&amp; con ||.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962870"/>
            <a:ext cx="5537061" cy="1208980"/>
          </a:xfrm>
          <a:prstGeom prst="roundRect">
            <a:avLst>
              <a:gd name="adj" fmla="val 945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3140988"/>
            <a:ext cx="511043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!(a &amp;&amp; b)   equivale a   !a || !b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!(a || b)   equivale a   !a &amp;&amp; !b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!(ora &gt;= 9 &amp;&amp; ora &lt;= 18)   -&gt;   ora &lt; 9 || ora &gt; 18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244" y="2274372"/>
            <a:ext cx="55370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Corto circuito: &amp;&amp; e || si fermano appena il risultato è certo.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714030"/>
            <a:ext cx="5537061" cy="924520"/>
          </a:xfrm>
          <a:prstGeom prst="roundRect">
            <a:avLst>
              <a:gd name="adj" fmla="val 1236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6461559" y="2892147"/>
            <a:ext cx="511043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divisore != 0 &amp;&amp; dividendo / divisore &gt; 2   /* la divisione avviene solo se divisore != 0 */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390" y="4524276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4781451"/>
            <a:ext cx="222244" cy="177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4225" y="4755733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 Morgan serve per scrivere la condizione con cui un ciclo continua partendo da quella con cui si ferma.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44392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Dalla Frase alla Condizione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2045891"/>
            <a:ext cx="11378915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Individuare le condizioni elementari (un confronto ciascuna)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Tradurre i connettivi: "e", "ma" → &amp;&amp; ; "o", "oppure" → || ; "non", "tranne" → ! ; "o... o..." → a != b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Aggiungere le parentesi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3008313"/>
          <a:ext cx="11378916" cy="914400"/>
        </p:xfrm>
        <a:graphic>
          <a:graphicData uri="http://schemas.openxmlformats.org/drawingml/2006/table">
            <a:tbl>
              <a:tblPr/>
              <a:tblGrid>
                <a:gridCol w="5120452"/>
                <a:gridCol w="625846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Frase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Condizione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maggiorenne ma con meno di 65 anni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eta &gt;= 18 &amp;&amp; eta &lt; 65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festivo oppure dopo le 20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giorno == 7 || ora &gt;= 20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sconto tranne sotto i 20 euro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carta &amp;&amp; !(importo &lt; 20)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4743450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5000625"/>
            <a:ext cx="222244" cy="177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4225" y="4974908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"sconto il sabato e la domenica" si traduce con ||: giorno == 6 || giorno == 7.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470115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L'Istruzione if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2272109"/>
            <a:ext cx="5167977" cy="1208980"/>
          </a:xfrm>
          <a:prstGeom prst="roundRect">
            <a:avLst>
              <a:gd name="adj" fmla="val 945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2450227"/>
            <a:ext cx="474134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(condizione)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istruzioni eseguite solo se la condizione è vera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79060" y="2272109"/>
            <a:ext cx="5906245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6092375" y="2450227"/>
            <a:ext cx="5479615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sconto = 0.0;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(spesa &gt;= 50.0)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sconto = spesa * 0.10;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390" y="4101783"/>
            <a:ext cx="1137891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Nota: un if/else è già comparso nel capitolo 01 (01-introduzione/02-variabili-e-tipi/060-problema-calcolo-area.c), prima di essere spiegato.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6390" y="4717256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4974431"/>
            <a:ext cx="222244" cy="177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4225" y="4948714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graffe si scrivono sempre. Attenzione al punto e virgola: if (x &gt; 0); crea un if vuoto.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627575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if-else: Due Alternative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2429570"/>
            <a:ext cx="5906146" cy="1777901"/>
          </a:xfrm>
          <a:prstGeom prst="roundRect">
            <a:avLst>
              <a:gd name="adj" fmla="val 643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2607687"/>
            <a:ext cx="5479516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(prelievo &lt;= saldo)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saldo = saldo - prelievo;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printf("Prelievo rifiutato\n");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2433717"/>
            <a:ext cx="516807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Viene eseguito esattamente uno dei due blocchi.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2778125"/>
          <a:ext cx="5168076" cy="914400"/>
        </p:xfrm>
        <a:graphic>
          <a:graphicData uri="http://schemas.openxmlformats.org/drawingml/2006/table">
            <a:tbl>
              <a:tblPr/>
              <a:tblGrid>
                <a:gridCol w="2480605"/>
                <a:gridCol w="2687471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Serve...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 usa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scegliere tra due valori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ternario: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cond ? v1 : v2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eseguire istruzioni diverse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if-else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06390" y="4559895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4817070"/>
            <a:ext cx="222244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4225" y="4791353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if separati non equivalgono a un if-else: il secondo controllo può vedere dati già modificati dal primo.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343115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Catene else-if e if Annidati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2145109"/>
            <a:ext cx="5537061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2323227"/>
            <a:ext cx="5110432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(punteggio &gt;= 90)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printf("ECCELLENTE\n");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(punteggio &gt;= 70) {      /* qui 70 &lt;= punteggio &lt; 90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printf("BUONO\n");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printf("INSUFFICIENTE\n");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48244" y="2651919"/>
            <a:ext cx="5537061" cy="1333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esegue il primo ramo con condizione vera: si parte dalla condizione più restrittiva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annidati: la seconda domanda ha senso solo dopo la prima (utente esiste → PIN corretto)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Dangling else: un else si associa all'if più vicino senza else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844355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5101530"/>
            <a:ext cx="222244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4225" y="5075813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Ordine sbagliato: con if (voto &gt;= 6) prima di if (voto &gt;= 9), il ramo "ottimo" non viene mai raggiunto.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197065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L'Istruzione switch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999059"/>
            <a:ext cx="5167977" cy="3484662"/>
          </a:xfrm>
          <a:prstGeom prst="roundRect">
            <a:avLst>
              <a:gd name="adj" fmla="val 328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2177177"/>
            <a:ext cx="4741347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(giorno)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printf("lunedi'\n");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printf("martedi'\n");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printf("valore non valido\n");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9060" y="2576711"/>
          <a:ext cx="5906245" cy="914400"/>
        </p:xfrm>
        <a:graphic>
          <a:graphicData uri="http://schemas.openxmlformats.org/drawingml/2006/table">
            <a:tbl>
              <a:tblPr/>
              <a:tblGrid>
                <a:gridCol w="2008038"/>
                <a:gridCol w="2126205"/>
                <a:gridCol w="177200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Regola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Corretto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Errore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espressione intera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switch (giorno)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switch su un double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case con costante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case 3: case 'S':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case x: case eta &gt;= 18: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default sempre presente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default: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85865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Casi Raggruppati e break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287859"/>
            <a:ext cx="5537061" cy="4906963"/>
          </a:xfrm>
          <a:prstGeom prst="roundRect">
            <a:avLst>
              <a:gd name="adj" fmla="val 233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465977"/>
            <a:ext cx="5110432" cy="4551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(giorno)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3: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4: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5: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printf("giorno feriale\n");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6: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7: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printf("fine settimana\n");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printf("valore non valido\n");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48244" y="2853809"/>
            <a:ext cx="55370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Senza break l'esecuzione prosegue nel case successivo (fall-through). Si sfrutta per raggruppare i valori: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3447058"/>
            <a:ext cx="5537061" cy="1191022"/>
          </a:xfrm>
          <a:prstGeom prst="roundRect">
            <a:avLst>
              <a:gd name="adj" fmla="val 960"/>
            </a:avLst>
          </a:prstGeom>
          <a:solidFill>
            <a:srgbClr val="DBF0D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039" y="3704233"/>
            <a:ext cx="222244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26079" y="3678515"/>
            <a:ext cx="478143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break dello switch è l'unico break ammesso dalle convenzioni del corso. Per intervalli e condizioni composte si usa la catena else-if.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028989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Ciclo while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830983"/>
            <a:ext cx="5167977" cy="120898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2009100"/>
            <a:ext cx="474134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(condizione)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corpo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390" y="3239988"/>
            <a:ext cx="5167977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condizione si controlla prima di ogni ripetizione: zero iterazioni se è falsa subito.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tre elementi di un ciclo corretto: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6390" y="4196060"/>
            <a:ext cx="5167977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Inizializzazione della variabile di controllo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Condizione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Aggiornamento nel corpo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79060" y="1830983"/>
            <a:ext cx="5906245" cy="2062361"/>
          </a:xfrm>
          <a:prstGeom prst="roundRect">
            <a:avLst>
              <a:gd name="adj" fmla="val 55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092375" y="2009100"/>
            <a:ext cx="5479615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risparmio = 0.0;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settimane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(risparmio &lt; obiettivo)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risparmio = risparmio + versamento;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settimane++;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390" y="5158482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5415657"/>
            <a:ext cx="222244" cy="177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4225" y="5389940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Senza aggiornamento il ciclo è infinito. while (x &gt; 0); con il punto e virgola crea un ciclo vuoto.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00378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Ciclo do-while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627981"/>
            <a:ext cx="11378915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806099"/>
            <a:ext cx="10952285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printf("Voto (1-10): 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scanf("%d", &amp;voto);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(voto &lt; 1 || voto &gt; 10);   /* punto e virgola obbligatorio */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3448447"/>
          <a:ext cx="11378916" cy="914400"/>
        </p:xfrm>
        <a:graphic>
          <a:graphicData uri="http://schemas.openxmlformats.org/drawingml/2006/table">
            <a:tbl>
              <a:tblPr/>
              <a:tblGrid>
                <a:gridCol w="2730928"/>
                <a:gridCol w="4323944"/>
                <a:gridCol w="4324043"/>
              </a:tblGrid>
              <a:tr h="397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while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do-while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controllo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prima del corpo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dopo il corpo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esecuzioni minime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uso tipico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ripetizioni non 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validazione input, menu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06390" y="5183584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5440759"/>
            <a:ext cx="222244" cy="177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4225" y="5415042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condizione è quella di RIPETIZIONE (dato non valido), cioè la negazione della condizione di validità.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366035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Sentinella e Variabili Flag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977211"/>
            <a:ext cx="55370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Sentinella: un valore speciale segnala la fine dei dati. Lettura anticipata: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665710"/>
            <a:ext cx="5537061" cy="1777901"/>
          </a:xfrm>
          <a:prstGeom prst="roundRect">
            <a:avLst>
              <a:gd name="adj" fmla="val 643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843828"/>
            <a:ext cx="5110432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scanf("%lf", &amp;spesa);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(spesa != 0)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totale = totale + spesa;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scanf("%lf", &amp;spesa);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244" y="1977211"/>
            <a:ext cx="55370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Flag: una variabile booleana registra un evento e compare nella condizione.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665710"/>
            <a:ext cx="5537061" cy="1208980"/>
          </a:xfrm>
          <a:prstGeom prst="roundRect">
            <a:avLst>
              <a:gd name="adj" fmla="val 945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6461559" y="2843828"/>
            <a:ext cx="511043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(!indovinato &amp;&amp; tentativi &lt; MAX_TENTATIVI)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390" y="4821436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5078611"/>
            <a:ext cx="222244" cy="177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4225" y="5052894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Dopo il ciclo il flag dice perché il ciclo è terminato.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1587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Ciclo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782961"/>
            <a:ext cx="11378915" cy="1208980"/>
          </a:xfrm>
          <a:prstGeom prst="roundRect">
            <a:avLst>
              <a:gd name="adj" fmla="val 945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961078"/>
            <a:ext cx="1095228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(inizializzazione; condizione; aggiornamento)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corpo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3318966"/>
          <a:ext cx="5906146" cy="914400"/>
        </p:xfrm>
        <a:graphic>
          <a:graphicData uri="http://schemas.openxmlformats.org/drawingml/2006/table">
            <a:tbl>
              <a:tblPr/>
              <a:tblGrid>
                <a:gridCol w="2716740"/>
                <a:gridCol w="1417404"/>
                <a:gridCol w="177200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Intestazione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Iterazioni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Valori di 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(i = 0; i &lt; N; i++)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 … N-1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(i = 1; i &lt;= N; i++)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… 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(i = N; i &gt;= 1; i--)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… 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3318966"/>
          <a:ext cx="5168076" cy="914400"/>
        </p:xfrm>
        <a:graphic>
          <a:graphicData uri="http://schemas.openxmlformats.org/drawingml/2006/table">
            <a:tbl>
              <a:tblPr/>
              <a:tblGrid>
                <a:gridCol w="2842348"/>
                <a:gridCol w="232572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Situazione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Ciclo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numero di ripetizioni noto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dipende da un evento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almeno un'esecuzione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do-while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06390" y="5028704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5285879"/>
            <a:ext cx="222244" cy="177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4225" y="5260161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Errore off-by-one: &lt; al posto di &lt;= (o viceversa) aggiunge o toglie un'iterazione.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281500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Cicli Annidati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892677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ogni iterazione del ciclo esterno, il ciclo interno viene eseguito per intero.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491085"/>
            <a:ext cx="5906146" cy="2062361"/>
          </a:xfrm>
          <a:prstGeom prst="roundRect">
            <a:avLst>
              <a:gd name="adj" fmla="val 55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669203"/>
            <a:ext cx="5479516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(riga = 1; riga &lt;= 5; riga++)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(colonna = 1; colonna &lt;= riga; colonna++)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printf("*");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printf("\n");          /* a capo alla fine della riga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7229" y="3104555"/>
            <a:ext cx="5168076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Esterno sulle righe, interno sulle colonne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iterazioni si moltiplicano: 10 x 10 = 100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due variabili di controllo devono essere diverse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390" y="4905871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5163046"/>
            <a:ext cx="222244" cy="177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4225" y="5137329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Metodo per le figure: per ogni riga contare spazi e asterischi e trovare la formula in funzione del numero di riga.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30481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break e continue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906786"/>
          <a:ext cx="11378916" cy="914400"/>
        </p:xfrm>
        <a:graphic>
          <a:graphicData uri="http://schemas.openxmlformats.org/drawingml/2006/table">
            <a:tbl>
              <a:tblPr/>
              <a:tblGrid>
                <a:gridCol w="2844729"/>
                <a:gridCol w="853418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Istruzione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Effetto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break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termina subito il ciclo più interno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continue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salta il resto del corpo e passa all'iterazione successiva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06390" y="3228459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Perché nel corso si evitano: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6390" y="3626842"/>
            <a:ext cx="11378915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introducono punti di uscita e di salto non evidenti, nascosti nel corpo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capire quando il ciclo termina bisogna leggerlo tutto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dopo il ciclo non è chiaro perché sia terminato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break esce da un solo ciclo; continue in un while può saltare l'aggiornamento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06390" y="4882555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5139730"/>
            <a:ext cx="222244" cy="177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4225" y="5114012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break dello switch è un'altra cosa: chiude il case ed è ammesso.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205995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Come Evitare break e continue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817172"/>
            <a:ext cx="55370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 posto di break: un flag nella condizione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256830"/>
            <a:ext cx="5537061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434947"/>
            <a:ext cx="5110432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trovato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51; i &lt;= 100 &amp;&amp; !trovato; i++)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 % 7 == 0)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trovato = 1;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numero = 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244" y="1817172"/>
            <a:ext cx="55370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 posto di continue: un if con la condizione opposta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256830"/>
            <a:ext cx="5537061" cy="1777901"/>
          </a:xfrm>
          <a:prstGeom prst="roundRect">
            <a:avLst>
              <a:gd name="adj" fmla="val 643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6461559" y="2434947"/>
            <a:ext cx="5110432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1; i &lt;= 10; i++)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 % 2 != 0)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somma = somma + 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390" y="4981476"/>
            <a:ext cx="11378915" cy="693341"/>
          </a:xfrm>
          <a:prstGeom prst="roundRect">
            <a:avLst>
              <a:gd name="adj" fmla="val 1648"/>
            </a:avLst>
          </a:prstGeom>
          <a:solidFill>
            <a:srgbClr val="DBF0D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5238651"/>
            <a:ext cx="222244" cy="177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4225" y="5212933"/>
            <a:ext cx="11207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Regola: tutte le ragioni per cui un ciclo termina devono comparire nella sua intestazione.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983969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2585938"/>
            <a:ext cx="5613260" cy="751681"/>
          </a:xfrm>
          <a:prstGeom prst="roundRect">
            <a:avLst>
              <a:gd name="adj" fmla="val 1521"/>
            </a:avLst>
          </a:prstGeom>
          <a:solidFill>
            <a:srgbClr val="DBF0DD"/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2722146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1. Assegnazione al posto del confronto: if (x = 0) assegna e la condizione è sempre falsa.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72046" y="2585938"/>
            <a:ext cx="5613260" cy="751681"/>
          </a:xfrm>
          <a:prstGeom prst="roundRect">
            <a:avLst>
              <a:gd name="adj" fmla="val 152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324442" y="2722146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2. Intervallo matematico: 18 &lt;= eta &lt;= 65 è sempre vero; usare &amp;&amp;.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390" y="3489920"/>
            <a:ext cx="5613260" cy="751681"/>
          </a:xfrm>
          <a:prstGeom prst="roundRect">
            <a:avLst>
              <a:gd name="adj" fmla="val 152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558786" y="3626128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3. Punto e virgola dopo if, while o for: crea un corpo vuoto.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046" y="3489920"/>
            <a:ext cx="5613260" cy="751681"/>
          </a:xfrm>
          <a:prstGeom prst="roundRect">
            <a:avLst>
              <a:gd name="adj" fmla="val 152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2" y="3626128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4. break dimenticato nello switch: l'esecuzione prosegue nel case successivo.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390" y="4393902"/>
            <a:ext cx="5613260" cy="502841"/>
          </a:xfrm>
          <a:prstGeom prst="roundRect">
            <a:avLst>
              <a:gd name="adj" fmla="val 227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558786" y="4530110"/>
            <a:ext cx="54608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5. Aggiornamento mancante: ciclo infinito.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4393902"/>
            <a:ext cx="5613260" cy="502841"/>
          </a:xfrm>
          <a:prstGeom prst="roundRect">
            <a:avLst>
              <a:gd name="adj" fmla="val 2273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4530110"/>
            <a:ext cx="54608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6. Accumulatore non inizializzato o azzerato dentro il ciclo.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95755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559520"/>
          <a:ext cx="11378916" cy="914400"/>
        </p:xfrm>
        <a:graphic>
          <a:graphicData uri="http://schemas.openxmlformats.org/drawingml/2006/table">
            <a:tbl>
              <a:tblPr/>
              <a:tblGrid>
                <a:gridCol w="2958431"/>
                <a:gridCol w="4323944"/>
                <a:gridCol w="4096541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Condizione composta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&amp;&amp; || ! con parentesi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&amp;&amp; prima di ||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Negazione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De Morgan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&gt;= diventa &lt;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Due alternative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if-else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solo ramo eseguito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Più alternative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catena else-if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dal caso più restrittivo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Valori costanti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switch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break in ogni case, default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Ripetizioni non 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while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anche zero volte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Almeno una volta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do-while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validazione, menu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Ripetizioni 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for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 &lt; N oppure i &lt;= 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Uscita anticipata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flag nella condizione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niente break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Scarto di valori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if con condizione opposta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niente continue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577439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185419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Logica Booleana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2465368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quattro file sui valori di verità e sulla costruzione delle condizioni.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2832001"/>
            <a:ext cx="2730432" cy="2454275"/>
          </a:xfrm>
          <a:prstGeom prst="roundRect">
            <a:avLst>
              <a:gd name="adj" fmla="val 466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2959001"/>
            <a:ext cx="2476438" cy="1951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1. 010-valori-di-verita.c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che cosa il C considera vero o falso.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confronti che valgono 0/1, variabili booleane, !!x, stampa con il ternario.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89218" y="2832001"/>
            <a:ext cx="2730432" cy="2454275"/>
          </a:xfrm>
          <a:prstGeom prst="roundRect">
            <a:avLst>
              <a:gd name="adj" fmla="val 466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3416215" y="2959001"/>
            <a:ext cx="2476438" cy="2200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2. 020-tavole-di-verita.c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costruire le tavole di NOT, AND, OR, XOR.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ogni riga calcolata dal programma; XOR con (a||b) &amp;&amp; !(a&amp;&amp;b) e con a != b; tre ingressi.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046" y="2832001"/>
            <a:ext cx="2730432" cy="2454275"/>
          </a:xfrm>
          <a:prstGeom prst="roundRect">
            <a:avLst>
              <a:gd name="adj" fmla="val 466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6299042" y="2959001"/>
            <a:ext cx="2476438" cy="195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3. 030-combinazione-di-operatori.c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combinare più operatori senza ambiguità.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precedenza e parentesi, intervalli, De Morgan, corto circuito.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54873" y="2832001"/>
            <a:ext cx="2730432" cy="2454275"/>
          </a:xfrm>
          <a:prstGeom prst="roundRect">
            <a:avLst>
              <a:gd name="adj" fmla="val 466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9181870" y="2959001"/>
            <a:ext cx="2476438" cy="195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4. 040-dal-testo-alla-condizione.c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tradurre regole in italiano.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condizioni elementari, connettivi, errori di traduzione.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709400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198615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di Logica Booleana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2588121"/>
            <a:ext cx="5537061" cy="1455738"/>
          </a:xfrm>
          <a:prstGeom prst="roundRect">
            <a:avLst>
              <a:gd name="adj" fmla="val 785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765921"/>
            <a:ext cx="5181470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Anno bisestile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Regola gregoriana in un'unica espressione: (div4 &amp;&amp; !div100) || div400; giorni di febbraio = 28 + bisestile.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2588121"/>
            <a:ext cx="5537061" cy="1455738"/>
          </a:xfrm>
          <a:prstGeom prst="roundRect">
            <a:avLst>
              <a:gd name="adj" fmla="val 785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6426039" y="2765921"/>
            <a:ext cx="5181470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Requisiti concorso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Età in [18, 35], almeno il diploma, prova superata con 60 oppure con 50 se laureati; esito su tre valori con ternari annidati.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6390" y="4196259"/>
            <a:ext cx="11378915" cy="958056"/>
          </a:xfrm>
          <a:prstGeom prst="roundRect">
            <a:avLst>
              <a:gd name="adj" fmla="val 1193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584185" y="4374059"/>
            <a:ext cx="1102332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Orario di apertura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Orario convertito in minuti; fasce feriali e del sabato come intervalli; regola completa con &amp;&amp; e ||.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762780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203953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If-else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2650708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sulla selezione.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322054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1. 010-if-semplice.c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eseguire un blocco solo se serve.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allerta caldo, valore di default modificato dall'if, condizione salvata in un flag.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0926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478722" y="322054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2. 020-if-else.c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scegliere tra due alternative.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pari/dispari, maggiore tra due numeri, prelievo consentito o rifiutato, confronto con il ternario.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5462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373258" y="3220541"/>
            <a:ext cx="3234153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3. 030-if-annidati-e-catene.c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più di due alternative.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catena else-if, if annidati, annidamento e &amp;&amp;, dangling else.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833820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211057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If-else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2712541"/>
            <a:ext cx="5537061" cy="1206897"/>
          </a:xfrm>
          <a:prstGeom prst="roundRect">
            <a:avLst>
              <a:gd name="adj" fmla="val 947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890341"/>
            <a:ext cx="5181470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Equazione di secondo grado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Delta positivo, nullo o negativo; caso a = 0 con equazione determinata, impossibile o indeterminata.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2712541"/>
            <a:ext cx="5537061" cy="1206897"/>
          </a:xfrm>
          <a:prstGeom prst="roundRect">
            <a:avLst>
              <a:gd name="adj" fmla="val 947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6426039" y="2890341"/>
            <a:ext cx="5181470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Tariffa biglietto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Catena per età e tessera universitaria; sconto del martedì come if separato; importi in centesimi.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6390" y="4071838"/>
            <a:ext cx="11378915" cy="958056"/>
          </a:xfrm>
          <a:prstGeom prst="roundRect">
            <a:avLst>
              <a:gd name="adj" fmla="val 1193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584185" y="4249638"/>
            <a:ext cx="1102332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Classificazione triangolo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Lati positivi, disuguaglianza triangolare, equilatero/isoscele/scaleno, rettangolo con Pitagora.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762780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203953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Switch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2650708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sulla selezione multipla.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322054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1. 010-switch-base.c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scegliere un ramo in base a un valore.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giorno della settimana, più istruzioni per case, codici HTTP non consecutivi, default.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0926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478722" y="322054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2. 020-casi-raggruppati.c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più valori con lo stesso codice.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feriale/festivo, stagioni, fasce di voto; effetto del break dimenticato.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5462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373258" y="3220541"/>
            <a:ext cx="3234153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3. 030-switch-su-caratteri.c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menu a lettere.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switch su char letto con " %c", maiuscole e minuscole raggruppate.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833820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211057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Switch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2712541"/>
            <a:ext cx="5537061" cy="1206897"/>
          </a:xfrm>
          <a:prstGeom prst="roundRect">
            <a:avLst>
              <a:gd name="adj" fmla="val 947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890341"/>
            <a:ext cx="5181470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Giorni del mese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filastrocca tradotta in casi raggruppati; febbraio bisestile con un if nel case.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2712541"/>
            <a:ext cx="5537061" cy="1206897"/>
          </a:xfrm>
          <a:prstGeom prst="roundRect">
            <a:avLst>
              <a:gd name="adj" fmla="val 947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6426039" y="2890341"/>
            <a:ext cx="5181470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Distributore di bevande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Codice prodotto → nome e prezzo con due switch; pagamento e resto in centesimi.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6390" y="4071838"/>
            <a:ext cx="11378915" cy="958056"/>
          </a:xfrm>
          <a:prstGeom prst="roundRect">
            <a:avLst>
              <a:gd name="adj" fmla="val 1193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584185" y="4249638"/>
            <a:ext cx="1102332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Giudizio del voto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Voto in decimi → giudizio e livello di apprendimento; esito con if sull'intervallo.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762780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203953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While e Do-while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2650708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sui cicli con condizione.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322054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1. 010-while-base.c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ripetere finché una condizione è vera.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conto alla rovescia, contatore e accumulatore, obiettivo di risparmio, zero iterazioni.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0926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478722" y="322054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2. 020-ciclo-con-sentinella.c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leggere un numero di dati non noto.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sentinella 0, lettura anticipata, totale, media e massimo senza array.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5462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373258" y="322054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3. 030-do-while-validazione.c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chiedere un dato finché non è valido.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do-while di validazione dentro un do-while di ripetizione su richiesta.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897320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217407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While e Do-while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2776041"/>
            <a:ext cx="3691341" cy="1156097"/>
          </a:xfrm>
          <a:prstGeom prst="roundRect">
            <a:avLst>
              <a:gd name="adj" fmla="val 989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2928441"/>
            <a:ext cx="3386549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Cifre di un numero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 % 10 e n / 10: numero di cifre, somma, inverso, palindromo.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50127" y="2776041"/>
            <a:ext cx="3691341" cy="1156097"/>
          </a:xfrm>
          <a:prstGeom prst="roundRect">
            <a:avLst>
              <a:gd name="adj" fmla="val 989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4402523" y="2928441"/>
            <a:ext cx="3386549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MCD di Euclide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MCD(a, b) = MCD(b, a % b) passo per passo; mcm.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93865" y="2776041"/>
            <a:ext cx="3691341" cy="1156097"/>
          </a:xfrm>
          <a:prstGeom prst="roundRect">
            <a:avLst>
              <a:gd name="adj" fmla="val 989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8246261" y="2928441"/>
            <a:ext cx="3386549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Indovina il numero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Numero casuale, 7 tentativi, flag indovinato nella condizione del ciclo.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4059138"/>
            <a:ext cx="11378915" cy="907256"/>
          </a:xfrm>
          <a:prstGeom prst="roundRect">
            <a:avLst>
              <a:gd name="adj" fmla="val 1260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58786" y="4211538"/>
            <a:ext cx="11074123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Bancomat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Menu do-while con switch: saldo, prelievo con limite giornaliero, versamento.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762780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203953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For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2650708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sui cicli con contatore.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322054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1. 010-for-base.c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ripetere un numero noto di volte.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avanti, indietro, passo 5 e potenze di 2; equivalenza con while; conteggio delle iterazioni.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0926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478722" y="322054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2. 020-accumulatori.c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elaborare sette temperature senza memorizzarle.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somma, massimo e minimo inizializzati con il primo valore, contatore sopra soglia.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5462" y="3042741"/>
            <a:ext cx="3589744" cy="2058194"/>
          </a:xfrm>
          <a:prstGeom prst="roundRect">
            <a:avLst>
              <a:gd name="adj" fmla="val 555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373258" y="322054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3. 030-cicli-annidati.c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ripetere dentro una ripetizione.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tavola pitagorica, rettangolo e triangolo di asterischi, griglia di coordinate.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772900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204965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2651621"/>
            <a:ext cx="3691341" cy="1404938"/>
          </a:xfrm>
          <a:prstGeom prst="roundRect">
            <a:avLst>
              <a:gd name="adj" fmla="val 81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2804021"/>
            <a:ext cx="3386549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Tabella di conversione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Celsius, Fahrenheit e Kelvin con intervallo e passo scelti dall'utente.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50127" y="2651621"/>
            <a:ext cx="3691341" cy="1404938"/>
          </a:xfrm>
          <a:prstGeom prst="roundRect">
            <a:avLst>
              <a:gd name="adj" fmla="val 814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4402523" y="2804021"/>
            <a:ext cx="3386549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Numeri primi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Divisori fino a √n con d * d &lt;= n e flag nella condizione; elenco dei primi.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93865" y="2651621"/>
            <a:ext cx="3691341" cy="1404938"/>
          </a:xfrm>
          <a:prstGeom prst="roundRect">
            <a:avLst>
              <a:gd name="adj" fmla="val 814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8246261" y="2804021"/>
            <a:ext cx="3386549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Scontrino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 articoli: subtotale, sconto del 5% oltre 100 euro, riga più costosa.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4183559"/>
            <a:ext cx="11378915" cy="907256"/>
          </a:xfrm>
          <a:prstGeom prst="roundRect">
            <a:avLst>
              <a:gd name="adj" fmla="val 1260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58786" y="4335959"/>
            <a:ext cx="11074123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Figure ASCII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Triangolo, piramide, quadrato vuoto e rombo: spazi e asterischi in funzione della riga.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638360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19151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Break e Continue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2526288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file: come funzionano e come farne a meno.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2918321"/>
            <a:ext cx="3589744" cy="2307034"/>
          </a:xfrm>
          <a:prstGeom prst="roundRect">
            <a:avLst>
              <a:gd name="adj" fmla="val 495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309612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1. 010-break-e-continue.c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capire che cosa fanno break e continue.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unico file del corso che li usa, segnalati come "DA NON IMITARE"; break nei cicli annidati.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0926" y="2918321"/>
            <a:ext cx="3589744" cy="2307034"/>
          </a:xfrm>
          <a:prstGeom prst="roundRect">
            <a:avLst>
              <a:gd name="adj" fmla="val 495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478722" y="3096121"/>
            <a:ext cx="3234153" cy="1951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2. 020-evitare-break.c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terminare un ciclo senza break.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flag nella condizione, condizione naturale al posto di while (1), uscita da due cicli annidati.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5462" y="2918321"/>
            <a:ext cx="3589744" cy="2307034"/>
          </a:xfrm>
          <a:prstGeom prst="roundRect">
            <a:avLst>
              <a:gd name="adj" fmla="val 495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373258" y="3096121"/>
            <a:ext cx="32341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3. 030-evitare-continue.c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Problema: scartare valori senza continue.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Tecnica: if con la condizione opposta, De Morgan, ramo else per gli scartati.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833820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2110572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senza Break e Continue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2712541"/>
            <a:ext cx="5537061" cy="1206897"/>
          </a:xfrm>
          <a:prstGeom prst="roundRect">
            <a:avLst>
              <a:gd name="adj" fmla="val 947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890341"/>
            <a:ext cx="5181470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Primo divisore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Ricerca con flag fino a √n; scomposizione in fattori primi con esponenti.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2712541"/>
            <a:ext cx="5537061" cy="1206897"/>
          </a:xfrm>
          <a:prstGeom prst="roundRect">
            <a:avLst>
              <a:gd name="adj" fmla="val 947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6426039" y="2890341"/>
            <a:ext cx="5181470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Verifica PIN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tentativi, flag pin_corretto; il formato errato non consuma un tentativo.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6390" y="4071838"/>
            <a:ext cx="11378915" cy="958056"/>
          </a:xfrm>
          <a:prstGeom prst="roundRect">
            <a:avLst>
              <a:gd name="adj" fmla="val 1193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584185" y="4249638"/>
            <a:ext cx="1102332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Letture del contatore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Sentinella -999; le letture negative vengono scartate e contate nel ramo else.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2026-10-11T09:24:49Z</dcterms:created>
  <dcterms:modified xsi:type="dcterms:W3CDTF">2026-10-11T09:24:49Z</dcterms:modified>
</cp:coreProperties>
</file>