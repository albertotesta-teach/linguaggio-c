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tru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embeddedFontLst>
    <p:embeddedFont>
      <p:font typeface="Verdana"/>
      <p:regular r:id="rId201314"/>
    </p:embeddedFont>
    <p:embeddedFont>
      <p:font typeface="Verdana Bold"/>
      <p:regular r:id="rId2013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Relationship Id="rId201314" Target="fonts/201314.fntdata" Type="http://schemas.openxmlformats.org/officeDocument/2006/relationships/font"/><Relationship Id="rId201315" Target="fonts/201315.fntdata" Type="http://schemas.openxmlformats.org/officeDocument/2006/relationships/font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1962811"/>
            <a:ext cx="6502237" cy="122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Controllo del Flusso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06390" y="3384471"/>
            <a:ext cx="6502237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6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Logica booleana, if-else, switch, while, do-while, for, break e continue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06390" y="4197548"/>
            <a:ext cx="6502237" cy="727373"/>
          </a:xfrm>
          <a:prstGeom prst="rect">
            <a:avLst/>
          </a:prstGeom>
          <a:solidFill>
            <a:srgbClr val="102010"/>
          </a:solidFill>
          <a:ln/>
        </p:spPr>
      </p:sp>
      <p:sp>
        <p:nvSpPr>
          <p:cNvPr id="5" name="Shape 3"/>
          <p:cNvSpPr/>
          <p:nvPr/>
        </p:nvSpPr>
        <p:spPr>
          <a:xfrm>
            <a:off x="634984" y="4426148"/>
            <a:ext cx="1310250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1642" y="4483239"/>
            <a:ext cx="1706520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LINGUAGGIO 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034132" y="4426148"/>
            <a:ext cx="2216988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0789" y="4483239"/>
            <a:ext cx="2613257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STRUTTURE DI CONTROLLO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0017" y="4426148"/>
            <a:ext cx="1617424" cy="270173"/>
          </a:xfrm>
          <a:prstGeom prst="roundRect">
            <a:avLst>
              <a:gd name="adj" fmla="val 4231"/>
            </a:avLst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46675" y="4483239"/>
            <a:ext cx="2013693" cy="1636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PROGRAMMAZIONE</a:t>
            </a:r>
            <a:endParaRPr lang="en-US" sz="11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017" y="0"/>
            <a:ext cx="4876678" cy="685800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Cos'è il Controllo del Flusso?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programma esegue le istruzioni in ordine, dall'alto in basso. Le strutture di controllo cambiano questo ordine.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280021"/>
          <a:ext cx="11378916" cy="914400"/>
        </p:xfrm>
        <a:graphic>
          <a:graphicData uri="http://schemas.openxmlformats.org/drawingml/2006/table">
            <a:tbl>
              <a:tblPr/>
              <a:tblGrid>
                <a:gridCol w="2503326"/>
                <a:gridCol w="5461856"/>
                <a:gridCol w="3413734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Struttura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Che cosa fa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Costrutti C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Sequenza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esegue le istruzioni una dopo l'altra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(nessuno)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Selezione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sceglie quale blocco eseguire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if-else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switch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Iterazione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ripete un blocco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while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do-while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3040559"/>
            <a:ext cx="11378915" cy="942181"/>
          </a:xfrm>
          <a:prstGeom prst="roundRect">
            <a:avLst>
              <a:gd name="adj" fmla="val 1213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297734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3272016"/>
            <a:ext cx="106232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Tutto parte da una condizione: if, while e for decidono valutando un'espressione vera o falsa. Per questo il capitolo inizia dalla logica booleana.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Vero e Falso in C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C non ha un tipo booleano: si usano gli interi.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286371"/>
          <a:ext cx="4798793" cy="914400"/>
        </p:xfrm>
        <a:graphic>
          <a:graphicData uri="http://schemas.openxmlformats.org/drawingml/2006/table">
            <a:tbl>
              <a:tblPr/>
              <a:tblGrid>
                <a:gridCol w="1679533"/>
                <a:gridCol w="3119260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 una 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falso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8858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qualunque valore diverso da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vero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509876" y="1295579"/>
            <a:ext cx="6275429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confronti (==, !=, &lt;, &gt;, &lt;=, &gt;=) e gli operatori logici (&amp;&amp;, ||, !) restituiscono sempre 1 oppure 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509876" y="1984077"/>
            <a:ext cx="6275429" cy="924520"/>
          </a:xfrm>
          <a:prstGeom prst="roundRect">
            <a:avLst>
              <a:gd name="adj" fmla="val 1236"/>
            </a:avLst>
          </a:prstGeom>
          <a:solidFill>
            <a:srgbClr val="F2EDED"/>
          </a:solidFill>
          <a:ln/>
        </p:spPr>
      </p:sp>
      <p:sp>
        <p:nvSpPr>
          <p:cNvPr id="7" name="Text 4"/>
          <p:cNvSpPr/>
          <p:nvPr/>
        </p:nvSpPr>
        <p:spPr>
          <a:xfrm>
            <a:off x="5723191" y="2162195"/>
            <a:ext cx="5848799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sala_piena = (posti_liberi == 0);   /* variabile booleana (flag)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in_rosso   = (saldo &lt; 0);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06390" y="3261023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518198"/>
            <a:ext cx="222244" cy="1778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84225" y="349248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= assegna, == confronta. if (x = 0) assegna 0 e la condizione è sempre falsa.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Le Tavole di Verità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878780"/>
          <a:ext cx="5906146" cy="914400"/>
        </p:xfrm>
        <a:graphic>
          <a:graphicData uri="http://schemas.openxmlformats.org/drawingml/2006/table">
            <a:tbl>
              <a:tblPr/>
              <a:tblGrid>
                <a:gridCol w="826860"/>
                <a:gridCol w="826860"/>
                <a:gridCol w="944983"/>
                <a:gridCol w="1063106"/>
                <a:gridCol w="1063106"/>
                <a:gridCol w="1181229"/>
              </a:tblGrid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!a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&amp;&amp; 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|| b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 != b (XOR)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617229" y="1457424"/>
            <a:ext cx="5168076" cy="10842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AND: vero solo se tutte le condizioni sono vere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OR: vero se almeno una è vera (anche tutte)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XOR: in C non esiste come operatore logico; su valori 0/1 si scrive a != b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406390" y="3298130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555305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3529588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Nelle condizioni si usano &amp;&amp; e ||, non &amp; e | (operatori bit a bit).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Combinare le Condizioni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78780"/>
            <a:ext cx="11378915" cy="656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Precedenza, dalla più alta: ! → &lt; &gt; &lt;= &gt;= → == != → &amp;&amp; → ||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&amp;&amp; lega più di ||: a || b &amp;&amp; c si legge a || (b &amp;&amp; c). Quando compaiono insieme si scrivono sempre le parentesi.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662212"/>
          <a:ext cx="11378916" cy="914400"/>
        </p:xfrm>
        <a:graphic>
          <a:graphicData uri="http://schemas.openxmlformats.org/drawingml/2006/table">
            <a:tbl>
              <a:tblPr/>
              <a:tblGrid>
                <a:gridCol w="4551546"/>
                <a:gridCol w="6827369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Espressione C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dentro [min, max]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&gt;= min &amp;&amp; x &lt;= max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x fuori da [min, max]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 &lt; min || x &gt; max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3000077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257252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3231535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tipico: 18 &lt;= eta &lt;= 65 è sempre vero. Si scrive eta &gt;= 18 &amp;&amp; eta &lt;= 65.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De Morgan e Corto Circuito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Leggi di De Morgan: per negare una condizione composta si negano le parti e si scambia &amp;&amp; con ||.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1576487"/>
            <a:ext cx="5537061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1754604"/>
            <a:ext cx="511043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!(a &amp;&amp; b)   equivale a   !a || !b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!(a || b)   equivale a   !a &amp;&amp; !b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!(ora &gt;= 9 &amp;&amp; ora &lt;= 18)   -&gt;   ora &lt; 9 || ora &gt; 18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887988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Corto circuito: &amp;&amp; e || si fermano appena il risultato è certo.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327646"/>
            <a:ext cx="5537061" cy="924520"/>
          </a:xfrm>
          <a:prstGeom prst="roundRect">
            <a:avLst>
              <a:gd name="adj" fmla="val 1236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1505764"/>
            <a:ext cx="5110432" cy="56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divisore != 0 &amp;&amp; dividendo / divisore &gt; 2   /* la divisione avviene solo se divisore != 0 */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313789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395067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336935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Morgan serve per scrivere la condizione con cui un ciclo continua partendo da quella con cui si ferma.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Dalla Frase alla Condizione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78780"/>
            <a:ext cx="11378915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Individuare le condizioni elementari (un confronto ciascuna)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Tradurre i connettivi: "e", "ma" → &amp;&amp; ; "o", "oppure" → || ; "non", "tranne" → ! ; "o... o..." → a != b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Aggiungere le parentesi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1841202"/>
          <a:ext cx="11378916" cy="914400"/>
        </p:xfrm>
        <a:graphic>
          <a:graphicData uri="http://schemas.openxmlformats.org/drawingml/2006/table">
            <a:tbl>
              <a:tblPr/>
              <a:tblGrid>
                <a:gridCol w="5120452"/>
                <a:gridCol w="625846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maggiorenne ma con meno di 65 anni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eta &gt;= 18 &amp;&amp; eta &lt; 65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festivo oppure dopo le 20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giorno == 7 || ora &gt;= 20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sconto tranne sotto i 20 euro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carta &amp;&amp; !(importo &lt; 20)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06390" y="3576340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833515"/>
            <a:ext cx="222244" cy="1778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84225" y="3807797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"sconto il sabato e la domenica" si traduce con ||: giorno == 6 || giorno == 7.</a:t>
            </a:r>
            <a:endParaRPr lang="en-US" sz="14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L'Istruzione if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167977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474134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(condizione)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istruzioni eseguite solo se la condizione è vera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879060" y="1078805"/>
            <a:ext cx="5906245" cy="1493441"/>
          </a:xfrm>
          <a:prstGeom prst="roundRect">
            <a:avLst>
              <a:gd name="adj" fmla="val 765"/>
            </a:avLst>
          </a:prstGeom>
          <a:solidFill>
            <a:srgbClr val="F2EDED"/>
          </a:solidFill>
          <a:ln/>
        </p:spPr>
      </p:sp>
      <p:sp>
        <p:nvSpPr>
          <p:cNvPr id="6" name="Text 4"/>
          <p:cNvSpPr/>
          <p:nvPr/>
        </p:nvSpPr>
        <p:spPr>
          <a:xfrm>
            <a:off x="6092375" y="1256923"/>
            <a:ext cx="5479615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sconto = 0.0;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(spesa &gt;= 50.0)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sconto = spesa * 0.10;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6390" y="2908479"/>
            <a:ext cx="1137891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Nota: un if/else è già comparso nel capitolo 01 (01-introduzione/02-variabili-e-tipi/060-problema-calcolo-area.c), prima di essere spiegato.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352395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781127"/>
            <a:ext cx="222244" cy="1778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84225" y="375541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graffe si scrivono sempre. Attenzione al punto e virgola: if (x &gt; 0); crea un if vuoto.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if-else: Due Alternative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906146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5479516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(prelievo &lt;= saldo)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saldo = saldo - prelievo;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printf("Prelievo rifiutato\n");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617229" y="1082953"/>
            <a:ext cx="5168076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Viene eseguito esattamente uno dei due blocchi.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7229" y="1427361"/>
          <a:ext cx="5168076" cy="914400"/>
        </p:xfrm>
        <a:graphic>
          <a:graphicData uri="http://schemas.openxmlformats.org/drawingml/2006/table">
            <a:tbl>
              <a:tblPr/>
              <a:tblGrid>
                <a:gridCol w="2480605"/>
                <a:gridCol w="2687471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Serve...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 usa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scegliere tra due valori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ternario: 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cond ? v1 : v2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eseguire istruzioni diverse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if-else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06390" y="3209131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466306"/>
            <a:ext cx="222244" cy="1778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84225" y="3440589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Due if separati non equivalgono a un if-else: il secondo controllo può vedere dati già modificati dal primo.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502936" y="6466086"/>
            <a:ext cx="688759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Catene else-if e if Annidati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537061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5110432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(punteggio &gt;= 90)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printf("ECCELLENTE\n");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if (punteggio &gt;= 70) {      /* qui 70 &lt;= punteggio &lt; 90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printf("BUONO\n");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else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printf("INSUFFICIENTE\n");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1585615"/>
            <a:ext cx="5537061" cy="13331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 esegue il primo ramo con condizione vera: si parte dalla condizione più restrittiva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annidati: la seconda domanda ha senso solo dopo la prima (utente esiste → PIN corretto)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Dangling else: un else si associa all'if più vicino senza else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06390" y="377805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035227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4225" y="4009509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Ordine sbagliato: con if (voto &gt;= 6) prima di if (voto &gt;= 9), il ramo "ottimo" non viene mai raggiunto.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L'Istruzione switch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167977" cy="3484662"/>
          </a:xfrm>
          <a:prstGeom prst="roundRect">
            <a:avLst>
              <a:gd name="adj" fmla="val 328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4741347" cy="3129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(giorno)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1: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printf("lunedi'\n");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2: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printf("martedi'\n");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printf("valore non valido\n");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9060" y="1656457"/>
          <a:ext cx="5906245" cy="914400"/>
        </p:xfrm>
        <a:graphic>
          <a:graphicData uri="http://schemas.openxmlformats.org/drawingml/2006/table">
            <a:tbl>
              <a:tblPr/>
              <a:tblGrid>
                <a:gridCol w="2008038"/>
                <a:gridCol w="2126205"/>
                <a:gridCol w="177200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Regola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Corretto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Errore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espressione intera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switch (giorno)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switch su un double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60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case con costante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case 3: case 'S':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case x: case eta &gt;= 18: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3974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default sempre presente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default: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Casi Raggruppati e break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537061" cy="4906963"/>
          </a:xfrm>
          <a:prstGeom prst="roundRect">
            <a:avLst>
              <a:gd name="adj" fmla="val 233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5110432" cy="45513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(giorno)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1: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2: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3: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4: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5: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printf("giorno feriale\n");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6: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7: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printf("fine settimana\n");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default: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printf("valore non valido\n");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break;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248244" y="2644755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Senza break l'esecuzione prosegue nel case successivo (fall-through). Si sfrutta per raggruppare i valori: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3238004"/>
            <a:ext cx="5537061" cy="1191022"/>
          </a:xfrm>
          <a:prstGeom prst="roundRect">
            <a:avLst>
              <a:gd name="adj" fmla="val 960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26039" y="3495179"/>
            <a:ext cx="222244" cy="177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26079" y="3469461"/>
            <a:ext cx="4781430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break dello switch è l'unico break ammesso dalle convenzioni del corso. Per intervalli e condizioni composte si usa la catena else-if.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while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1078805"/>
            <a:ext cx="5167977" cy="1208980"/>
          </a:xfrm>
          <a:prstGeom prst="roundRect">
            <a:avLst>
              <a:gd name="adj" fmla="val 945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256923"/>
            <a:ext cx="4741347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(condizione)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corpo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6390" y="2487811"/>
            <a:ext cx="5167977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condizione si controlla prima di ogni ripetizione: zero iterazioni se è falsa subito.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 tre elementi di un ciclo corretto: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90" y="3443883"/>
            <a:ext cx="5167977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Inizializzazione della variabile di controllo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2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Condizione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Font typeface="+mj-lt"/>
              <a:buAutoNum type="arabicPeriod" startAt="3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Aggiornamento nel corpo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879060" y="1078805"/>
            <a:ext cx="5906245" cy="2062361"/>
          </a:xfrm>
          <a:prstGeom prst="roundRect">
            <a:avLst>
              <a:gd name="adj" fmla="val 554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6092375" y="1256923"/>
            <a:ext cx="5479615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risparmio = 0.0;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settimane =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(risparmio &lt; obiettivo)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risparmio = risparmio + versamento;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settimane++;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4406305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663480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4637762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Senza aggiornamento il ciclo è infinito. while (x &gt; 0); con il punto e virgola crea un ciclo vuoto.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do-while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901005"/>
            <a:ext cx="11378915" cy="1493441"/>
          </a:xfrm>
          <a:prstGeom prst="roundRect">
            <a:avLst>
              <a:gd name="adj" fmla="val 76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079123"/>
            <a:ext cx="10952285" cy="1137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printf("Voto (1-10): 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scanf("%d", &amp;voto);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while (voto &lt; 1 || voto &gt; 10);   /* punto e virgola obbligatorio */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2721471"/>
          <a:ext cx="11378916" cy="914400"/>
        </p:xfrm>
        <a:graphic>
          <a:graphicData uri="http://schemas.openxmlformats.org/drawingml/2006/table">
            <a:tbl>
              <a:tblPr/>
              <a:tblGrid>
                <a:gridCol w="2730928"/>
                <a:gridCol w="4323944"/>
                <a:gridCol w="4324043"/>
              </a:tblGrid>
              <a:tr h="3972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do-while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controllo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prima del corpo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dopo il corpo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esecuzioni minime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tipico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non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validazione input, menu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06390" y="4456609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713784"/>
            <a:ext cx="222244" cy="177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4225" y="4688066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condizione è quella di RIPETIZIONE (dato non valido), cioè la negazione della condizione di validità.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Sentinella e Variabili Flag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Sentinella: un valore speciale segnala la fine dei dati. Lettura anticipata: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1576487"/>
            <a:ext cx="5537061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1754604"/>
            <a:ext cx="5110432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scanf("%lf", &amp;spesa);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(spesa !=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totale = totale + spesa;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scanf("%lf", &amp;spesa);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887988"/>
            <a:ext cx="55370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Flag: una variabile booleana registra un evento e compare nella condizione.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576487"/>
            <a:ext cx="5537061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1754604"/>
            <a:ext cx="511043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(!indovinato &amp;&amp; tentativi &lt; MAX_TENTATIVI)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3732213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3989388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396367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Dopo il ciclo il flag dice perché il ciclo è terminato.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14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Il Ciclo for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875605"/>
            <a:ext cx="11378915" cy="1208980"/>
          </a:xfrm>
          <a:prstGeom prst="roundRect">
            <a:avLst>
              <a:gd name="adj" fmla="val 945"/>
            </a:avLst>
          </a:prstGeom>
          <a:solidFill>
            <a:srgbClr val="F2EDED"/>
          </a:solidFill>
          <a:ln/>
        </p:spPr>
      </p:sp>
      <p:sp>
        <p:nvSpPr>
          <p:cNvPr id="4" name="Text 2"/>
          <p:cNvSpPr/>
          <p:nvPr/>
        </p:nvSpPr>
        <p:spPr>
          <a:xfrm>
            <a:off x="619705" y="1053723"/>
            <a:ext cx="10952285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(inizializzazione; condizione; aggiornamento)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corpo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2411611"/>
          <a:ext cx="5906146" cy="914400"/>
        </p:xfrm>
        <a:graphic>
          <a:graphicData uri="http://schemas.openxmlformats.org/drawingml/2006/table">
            <a:tbl>
              <a:tblPr/>
              <a:tblGrid>
                <a:gridCol w="2716740"/>
                <a:gridCol w="1417404"/>
                <a:gridCol w="1772003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Intestazione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Iterazioni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Valori di 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0; i &lt; N; i++)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 … N-1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1; i &lt;= N; i++)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 … 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 (i = N; i &gt;= 1; i--)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 … 1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7229" y="2411611"/>
          <a:ext cx="5168076" cy="914400"/>
        </p:xfrm>
        <a:graphic>
          <a:graphicData uri="http://schemas.openxmlformats.org/drawingml/2006/table">
            <a:tbl>
              <a:tblPr/>
              <a:tblGrid>
                <a:gridCol w="2842348"/>
                <a:gridCol w="2325729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Situazione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Ciclo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numero di ripetizioni noto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dipende da un evento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while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almeno un'esecuzione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do-while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06390" y="4121348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378523"/>
            <a:ext cx="222244" cy="1778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984225" y="4352806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Errore off-by-one: &lt; al posto di &lt;= (o viceversa) aggiunge o toglie un'iterazione.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Cicli Annidati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ogni iterazione del ciclo esterno, il ciclo interno viene eseguito per intero.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1486396"/>
            <a:ext cx="5906146" cy="2062361"/>
          </a:xfrm>
          <a:prstGeom prst="roundRect">
            <a:avLst>
              <a:gd name="adj" fmla="val 554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1664514"/>
            <a:ext cx="5479516" cy="170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(riga = 1; riga &lt;= 5; riga++)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(colonna = 1; colonna &lt;= riga; colonna++)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printf("*");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printf("\n");          /* a capo alla fine della riga */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17229" y="2099866"/>
            <a:ext cx="5168076" cy="8354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Esterno sulle righe, interno sulle colonne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iterazioni si moltiplicano: 10 x 10 = 100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 due variabili di controllo devono essere diverse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390" y="390118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158357"/>
            <a:ext cx="222244" cy="177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84225" y="413264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Metodo per le figure: per ogni riga contare spazi e asterischi e trovare la formula in funzione del numero di riga.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break e continue</a:t>
            </a:r>
            <a:endParaRPr lang="en-US" sz="3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878780"/>
          <a:ext cx="11378916" cy="914400"/>
        </p:xfrm>
        <a:graphic>
          <a:graphicData uri="http://schemas.openxmlformats.org/drawingml/2006/table">
            <a:tbl>
              <a:tblPr/>
              <a:tblGrid>
                <a:gridCol w="2844729"/>
                <a:gridCol w="8534187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Istruzione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Effetto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break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termina subito il ciclo più interno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continue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salta il resto del corpo e passa all'iterazione successiva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06390" y="220045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Perché nel corso si evitano: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06390" y="2598837"/>
            <a:ext cx="11378915" cy="11287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introducono punti di uscita e di salto non evidenti, nascosti nel corpo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 capire quando il ciclo termina bisogna leggerlo tutto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dopo il ciclo non è chiaro perché sia terminato</a:t>
            </a:r>
            <a:endParaRPr lang="en-US" sz="1400" dirty="0"/>
          </a:p>
          <a:p>
            <a:pPr algn="l" marL="284480" indent="-284480">
              <a:lnSpc>
                <a:spcPct val="117000"/>
              </a:lnSpc>
              <a:buSzPct val="100000"/>
              <a:buChar char="•"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break esce da un solo ciclo; continue in un while può saltare l'aggiornamento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06390" y="3854549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111724"/>
            <a:ext cx="222244" cy="1778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84225" y="4086007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Il break dello switch è un'altra cosa: chiude il case ed è ammesso.</a:t>
            </a:r>
            <a:endParaRPr lang="en-US" sz="14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Come Evitare break e continue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6390" y="887988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posto di break: un flag nella condizione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06390" y="1327646"/>
            <a:ext cx="5537061" cy="2346821"/>
          </a:xfrm>
          <a:prstGeom prst="roundRect">
            <a:avLst>
              <a:gd name="adj" fmla="val 487"/>
            </a:avLst>
          </a:prstGeom>
          <a:solidFill>
            <a:srgbClr val="F2EDED"/>
          </a:solidFill>
          <a:ln/>
        </p:spPr>
      </p:sp>
      <p:sp>
        <p:nvSpPr>
          <p:cNvPr id="5" name="Text 3"/>
          <p:cNvSpPr/>
          <p:nvPr/>
        </p:nvSpPr>
        <p:spPr>
          <a:xfrm>
            <a:off x="619705" y="1505764"/>
            <a:ext cx="5110432" cy="19912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trovato = 0;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51; i &lt;= 100 &amp;&amp; !trovato; i++)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% 7 ==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trovato = 1;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numero = i;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248244" y="887988"/>
            <a:ext cx="5537061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 posto di continue: un if con la condizione opposta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48244" y="1327646"/>
            <a:ext cx="5537061" cy="1777901"/>
          </a:xfrm>
          <a:prstGeom prst="roundRect">
            <a:avLst>
              <a:gd name="adj" fmla="val 643"/>
            </a:avLst>
          </a:prstGeom>
          <a:solidFill>
            <a:srgbClr val="F2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61559" y="1505764"/>
            <a:ext cx="5110432" cy="14223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(i = 1; i &lt;= 10; i++)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 % 2 != 0) {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somma = somma + i;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400" dirty="0"/>
          </a:p>
          <a:p>
            <a:pPr algn="l" indent="0" marL="0">
              <a:lnSpc>
                <a:spcPct val="133000"/>
              </a:lnSpc>
              <a:buNone/>
            </a:pPr>
            <a:r>
              <a:rPr lang="en-US" sz="140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390" y="4052292"/>
            <a:ext cx="11378915" cy="693341"/>
          </a:xfrm>
          <a:prstGeom prst="roundRect">
            <a:avLst>
              <a:gd name="adj" fmla="val 1648"/>
            </a:avLst>
          </a:prstGeom>
          <a:solidFill>
            <a:srgbClr val="DBF0DD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185" y="4309467"/>
            <a:ext cx="222244" cy="1778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84225" y="4283750"/>
            <a:ext cx="1120747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Regola: tutte le ragioni per cui un ciclo termina devono comparire nella sua intestazione.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768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Errori Comuni da Evitare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6390" y="878780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4" name="Text 2"/>
          <p:cNvSpPr/>
          <p:nvPr/>
        </p:nvSpPr>
        <p:spPr>
          <a:xfrm>
            <a:off x="558786" y="1014988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Assegnazione al posto del confronto: if (x = 0) assegna e la condizione è sempre falsa.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172046" y="878780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6324442" y="1014988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Intervallo matematico: 18 &lt;= eta &lt;= 65 è sempre vero; usare &amp;&amp;.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390" y="1782763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558786" y="1918970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Punto e virgola dopo if, while o for: crea un corpo vuoto.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46" y="1782763"/>
            <a:ext cx="5613260" cy="751681"/>
          </a:xfrm>
          <a:prstGeom prst="roundRect">
            <a:avLst>
              <a:gd name="adj" fmla="val 1521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6324442" y="1918970"/>
            <a:ext cx="5308467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break dimenticato nello switch: l'esecuzione prosegue nel case successivo.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06390" y="2686745"/>
            <a:ext cx="5613260" cy="502841"/>
          </a:xfrm>
          <a:prstGeom prst="roundRect">
            <a:avLst>
              <a:gd name="adj" fmla="val 2273"/>
            </a:avLst>
          </a:prstGeom>
          <a:solidFill>
            <a:srgbClr val="DBF0DD"/>
          </a:solidFill>
          <a:ln/>
        </p:spPr>
      </p:sp>
      <p:sp>
        <p:nvSpPr>
          <p:cNvPr id="12" name="Text 10"/>
          <p:cNvSpPr/>
          <p:nvPr/>
        </p:nvSpPr>
        <p:spPr>
          <a:xfrm>
            <a:off x="558786" y="2822952"/>
            <a:ext cx="546086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5. Aggiornamento mancante: ciclo infinito.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72046" y="2686745"/>
            <a:ext cx="5613260" cy="502841"/>
          </a:xfrm>
          <a:prstGeom prst="roundRect">
            <a:avLst>
              <a:gd name="adj" fmla="val 2273"/>
            </a:avLst>
          </a:prstGeom>
          <a:solidFill>
            <a:srgbClr val="DBF0DD"/>
          </a:solidFill>
          <a:ln/>
        </p:spPr>
      </p:sp>
      <p:sp>
        <p:nvSpPr>
          <p:cNvPr id="14" name="Text 12"/>
          <p:cNvSpPr/>
          <p:nvPr/>
        </p:nvSpPr>
        <p:spPr>
          <a:xfrm>
            <a:off x="6324442" y="2822952"/>
            <a:ext cx="5460863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6. Accumulatore non inizializzato o azzerato dentro il ciclo.</a:t>
            </a:r>
            <a:endParaRPr lang="en-US" sz="14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26011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Riepilogo Concetti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390" y="827980"/>
          <a:ext cx="11378916" cy="914400"/>
        </p:xfrm>
        <a:graphic>
          <a:graphicData uri="http://schemas.openxmlformats.org/drawingml/2006/table">
            <a:tbl>
              <a:tblPr/>
              <a:tblGrid>
                <a:gridCol w="2958431"/>
                <a:gridCol w="4323944"/>
                <a:gridCol w="4096541"/>
              </a:tblGrid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Operazione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Tecnica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E1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Condizione composta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&amp;&amp; || ! con parentesi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&amp;&amp; prima di ||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Negazione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 Morgan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&gt;= diventa &lt;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Due alternative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if-else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un solo ramo eseguito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Più alternative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catena else-if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dal caso più restrittivo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Valori costanti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switch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break in ogni case, default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non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anche zero volte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Almeno una volta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do-while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validazione, menu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Ripetizioni note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for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 &lt; N oppure i &lt;= N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2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Uscita anticipata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flag nella condizione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niente break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Scarto di valori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if con condizione opposta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B3535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niente continue</a:t>
                      </a:r>
                      <a:endParaRPr lang="en-US" sz="14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133347" marR="133347" marT="71118" marB="71118" anchor="ctr">
                    <a:lnL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A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343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110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Logica Booleana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222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quattro file sui valori di verità e sulla costruzione delle condizioni.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488877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33387" y="1615877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010-valori-di-verita.c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che cosa il C considera vero o falso.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confronti che valgono 0/1, variabili booleane, !!x, stampa con il ternario.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89218" y="1488877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3416215" y="1615877"/>
            <a:ext cx="2476438" cy="2200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020-tavole-di-verita.c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costruire le tavole di NOT, AND, OR, XOR.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ogni riga calcolata dal programma; XOR con (a||b) &amp;&amp; !(a&amp;&amp;b) e con a != b; tre ingressi.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046" y="1488877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6299042" y="1615877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030-combinazione-di-operatori.c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combinare più operatori senza ambiguità.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precedenza e parentesi, intervalli, De Morgan, corto circuito.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54873" y="1488877"/>
            <a:ext cx="2730432" cy="2454275"/>
          </a:xfrm>
          <a:prstGeom prst="roundRect">
            <a:avLst>
              <a:gd name="adj" fmla="val 466"/>
            </a:avLst>
          </a:prstGeom>
          <a:solidFill>
            <a:srgbClr val="DBF0DD"/>
          </a:solidFill>
          <a:ln/>
        </p:spPr>
      </p:sp>
      <p:sp>
        <p:nvSpPr>
          <p:cNvPr id="12" name="Text 10"/>
          <p:cNvSpPr/>
          <p:nvPr/>
        </p:nvSpPr>
        <p:spPr>
          <a:xfrm>
            <a:off x="9181870" y="1615877"/>
            <a:ext cx="2476438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4. 040-dal-testo-alla-condizione.c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tradurre regole in italiano.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condizioni elementari, connettivi, errori di traduzione.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di Logica Booleana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38436"/>
            <a:ext cx="5537061" cy="1455738"/>
          </a:xfrm>
          <a:prstGeom prst="roundRect">
            <a:avLst>
              <a:gd name="adj" fmla="val 785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Anno bisestile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Regola gregoriana in un'unica espressione: (div4 &amp;&amp; !div100) || div400; giorni di febbraio = 28 + bisestile.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1138436"/>
            <a:ext cx="5537061" cy="1455738"/>
          </a:xfrm>
          <a:prstGeom prst="roundRect">
            <a:avLst>
              <a:gd name="adj" fmla="val 785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1316236"/>
            <a:ext cx="5181470" cy="110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Requisiti concorso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Età in [18, 35], almeno il diploma, prova superata con 60 oppure con 50 se laureati; esito su tre valori con ternari annidati.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2746573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2924373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Orario di apertura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Orario convertito in minuti; fasce feriali e del sabato come intervalli; regola completa con &amp;&amp; e ||.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If-else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476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sulla selezione.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010-if-semplice.c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eseguire un blocco solo se serve.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allerta caldo, valore di default modificato dall'if, condizione salvata in un flag.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020-if-else.c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scegliere tra due alternative.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pari/dispari, maggiore tra due numeri, prelievo consentito o rifiutato, confronto con il ternario.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1717477"/>
            <a:ext cx="3234153" cy="1204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030-if-annidati-e-catene.c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più di due alternative.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catena else-if, if annidati, annidamento e &amp;&amp;, dangling else.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If-else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Equazione di secondo grado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Delta positivo, nullo o negativo; caso a = 0 con equazione determinata, impossibile o indeterminata.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Tariffa biglietto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Catena per età e tessera universitaria; sconto del martedì come if separato; importi in centesimi.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2497733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2675533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Classificazione triangolo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Lati positivi, disuguaglianza triangolare, equilatero/isoscele/scaleno, rettangolo con Pitagora.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Switch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476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sulla selezione multipla.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010-switch-base.c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scegliere un ramo in base a un valore.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giorno della settimana, più istruzioni per case, codici HTTP non consecutivi, default.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020-casi-raggruppati.c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più valori con lo stesso codice.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feriale/festivo, stagioni, fasce di voto; effetto del break dimenticato.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1717477"/>
            <a:ext cx="3234153" cy="1453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030-switch-su-caratteri.c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menu a lettere.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switch su char letto con " %c", maiuscole e minuscole raggruppate.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Switch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Giorni del mese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filastrocca tradotta in casi raggruppati; febbraio bisestile con un if nel case.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Distributore di bevande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Codice prodotto → nome e prezzo con due switch; pagamento e resto in centesimi.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2497733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2675533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Giudizio del voto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Voto in decimi → giudizio e livello di apprendimento; esito con if sull'intervallo.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While e Do-while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476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sui cicli con condizione.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010-while-base.c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finché una condizione è vera.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conto alla rovescia, contatore e accumulatore, obiettivo di risparmio, zero iterazioni.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020-ciclo-con-sentinella.c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leggere un numero di dati non noto.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sentinella 0, lettura anticipata, totale, media e massimo senza array.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030-do-while-validazione.c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chiedere un dato finché non è valido.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do-while di validazione dentro un do-while di ripetizione su richiesta.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343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110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While e Do-while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13036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58786" y="1265436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Cifre di un numero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 % 10 e n / 10: numero di cifre, somma, inverso, palindromo.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0127" y="1113036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4402523" y="1265436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MCD di Euclide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MCD(a, b) = MCD(b, a % b) passo per passo; mcm.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3865" y="1113036"/>
            <a:ext cx="3691341" cy="1156097"/>
          </a:xfrm>
          <a:prstGeom prst="roundRect">
            <a:avLst>
              <a:gd name="adj" fmla="val 989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8246261" y="1265436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Indovina il numero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Numero casuale, 7 tentativi, flag indovinato nella condizione del ciclo.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390" y="2396133"/>
            <a:ext cx="11378915" cy="907256"/>
          </a:xfrm>
          <a:prstGeom prst="roundRect">
            <a:avLst>
              <a:gd name="adj" fmla="val 1260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558786" y="2548533"/>
            <a:ext cx="11074123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Bancomat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Menu do-while con switch: saldo, prelievo con limite giornaliero, versamento.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476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 sui cicli con contatore.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010-for-base.c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un numero noto di volte.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avanti, indietro, passo 5 e potenze di 2; equivalenza con while; conteggio delle iterazioni.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020-accumulatori.c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elaborare sette temperature senza memorizzarle.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somma, massimo e minimo inizializzati con il primo valore, contatore sopra soglia.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1539677"/>
            <a:ext cx="3589744" cy="2058194"/>
          </a:xfrm>
          <a:prstGeom prst="roundRect">
            <a:avLst>
              <a:gd name="adj" fmla="val 55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030-cicli-annidati.c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ripetere dentro una ripetizione.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tavola pitagorica, rettangolo e triangolo di asterischi, griglia di coordinate.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343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110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con For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13036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58786" y="1265436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Tabella di conversione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Celsius, Fahrenheit e Kelvin con intervallo e passo scelti dall'utente.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50127" y="1113036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4402523" y="1265436"/>
            <a:ext cx="3386549" cy="1100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Numeri primi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Divisori fino a √n con d * d &lt;= n e flag nella condizione; elenco dei primi.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3865" y="1113036"/>
            <a:ext cx="3691341" cy="1404938"/>
          </a:xfrm>
          <a:prstGeom prst="roundRect">
            <a:avLst>
              <a:gd name="adj" fmla="val 814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8246261" y="1265436"/>
            <a:ext cx="3386549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Scontrino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 articoli: subtotale, sconto del 5% oltre 100 euro, riga più costosa.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06390" y="2644973"/>
            <a:ext cx="11378915" cy="907256"/>
          </a:xfrm>
          <a:prstGeom prst="roundRect">
            <a:avLst>
              <a:gd name="adj" fmla="val 1260"/>
            </a:avLst>
          </a:prstGeom>
          <a:solidFill>
            <a:srgbClr val="DBF0DD"/>
          </a:solidFill>
          <a:ln/>
        </p:spPr>
      </p:sp>
      <p:sp>
        <p:nvSpPr>
          <p:cNvPr id="11" name="Text 9"/>
          <p:cNvSpPr/>
          <p:nvPr/>
        </p:nvSpPr>
        <p:spPr>
          <a:xfrm>
            <a:off x="558786" y="2797373"/>
            <a:ext cx="11074123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070 – Figure ASCII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Triangolo, piramide, quadrato vuoto e rombo: spazi e asterischi in funzione della riga.</a:t>
            </a:r>
            <a:endParaRPr lang="en-US" sz="14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Break e Continue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06390" y="1147644"/>
            <a:ext cx="11785305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Concetti base — tre file: come funzionano e come farne a meno.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06390" y="1539677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6" name="Text 4"/>
          <p:cNvSpPr/>
          <p:nvPr/>
        </p:nvSpPr>
        <p:spPr>
          <a:xfrm>
            <a:off x="584185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1. 010-break-e-continue.c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capire che cosa fanno break e continue.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unico file del corso che li usa, segnalati come "DA NON IMITARE"; break nei cicli annidati.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00926" y="1539677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8" name="Text 6"/>
          <p:cNvSpPr/>
          <p:nvPr/>
        </p:nvSpPr>
        <p:spPr>
          <a:xfrm>
            <a:off x="4478722" y="1717477"/>
            <a:ext cx="3234153" cy="1951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2. 020-evitare-break.c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terminare un ciclo senza break.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flag nella condizione, condizione naturale al posto di while (1), uscita da due cicli annidati.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95462" y="1539677"/>
            <a:ext cx="3589744" cy="2307034"/>
          </a:xfrm>
          <a:prstGeom prst="roundRect">
            <a:avLst>
              <a:gd name="adj" fmla="val 495"/>
            </a:avLst>
          </a:prstGeom>
          <a:solidFill>
            <a:srgbClr val="DBF0DD"/>
          </a:solidFill>
          <a:ln/>
        </p:spPr>
      </p:sp>
      <p:sp>
        <p:nvSpPr>
          <p:cNvPr id="10" name="Text 8"/>
          <p:cNvSpPr/>
          <p:nvPr/>
        </p:nvSpPr>
        <p:spPr>
          <a:xfrm>
            <a:off x="8373258" y="1717477"/>
            <a:ext cx="3234153" cy="1702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3. 030-evitare-continue.c</a:t>
            </a:r>
            <a:endParaRPr lang="en-US" sz="1400" dirty="0"/>
          </a:p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Problema: scartare valori senza continue.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Tecnica: if con la condizione opposta, De Morgan, ramo else per gli scartati.</a:t>
            </a:r>
            <a:endParaRPr lang="en-US" sz="14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259715"/>
            <a:ext cx="11785305" cy="186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50" spc="63" kern="100" dirty="0">
                <a:solidFill>
                  <a:srgbClr val="256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SEZIONE 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406390" y="536467"/>
            <a:ext cx="11378915" cy="446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3200" b="1" dirty="0">
                <a:solidFill>
                  <a:srgbClr val="1F1E1E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Esempi Pratici: Problemi senza Break e Continue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06390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5" name="Text 3"/>
          <p:cNvSpPr/>
          <p:nvPr/>
        </p:nvSpPr>
        <p:spPr>
          <a:xfrm>
            <a:off x="584185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040 – Primo divisore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Ricerca con flag fino a √n; scomposizione in fattori primi con esponenti.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48244" y="1138436"/>
            <a:ext cx="5537061" cy="1206897"/>
          </a:xfrm>
          <a:prstGeom prst="roundRect">
            <a:avLst>
              <a:gd name="adj" fmla="val 947"/>
            </a:avLst>
          </a:prstGeom>
          <a:solidFill>
            <a:srgbClr val="DBF0DD"/>
          </a:solidFill>
          <a:ln/>
        </p:spPr>
      </p:sp>
      <p:sp>
        <p:nvSpPr>
          <p:cNvPr id="7" name="Text 5"/>
          <p:cNvSpPr/>
          <p:nvPr/>
        </p:nvSpPr>
        <p:spPr>
          <a:xfrm>
            <a:off x="6426039" y="1316236"/>
            <a:ext cx="5181470" cy="8512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050 – Verifica PIN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 tentativi, flag pin_corretto; il formato errato non consuma un tentativo.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06390" y="2497733"/>
            <a:ext cx="11378915" cy="958056"/>
          </a:xfrm>
          <a:prstGeom prst="roundRect">
            <a:avLst>
              <a:gd name="adj" fmla="val 1193"/>
            </a:avLst>
          </a:prstGeom>
          <a:solidFill>
            <a:srgbClr val="DBF0DD"/>
          </a:solidFill>
          <a:ln/>
        </p:spPr>
      </p:sp>
      <p:sp>
        <p:nvSpPr>
          <p:cNvPr id="9" name="Text 7"/>
          <p:cNvSpPr/>
          <p:nvPr/>
        </p:nvSpPr>
        <p:spPr>
          <a:xfrm>
            <a:off x="584185" y="2675533"/>
            <a:ext cx="11023324" cy="60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3B3535"/>
                </a:solidFill>
                <a:latin typeface="Verdana Bold" pitchFamily="34" charset="0"/>
                <a:ea typeface="Verdana Bold" pitchFamily="34" charset="-122"/>
                <a:cs typeface="Verdana Bold" pitchFamily="34" charset="-120"/>
              </a:rPr>
              <a:t>060 – Letture del contatore</a:t>
            </a:r>
            <a:endParaRPr lang="en-US" sz="14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4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Sentinella -999; le letture negative vengono scartate e contate nel ramo else.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585" y="6459835"/>
            <a:ext cx="271456" cy="18663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423860" y="6466086"/>
            <a:ext cx="767835" cy="1741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2026-10-11T14:14:28Z</dcterms:created>
  <dcterms:modified xsi:type="dcterms:W3CDTF">2026-10-11T14:14:28Z</dcterms:modified>
</cp:coreProperties>
</file>