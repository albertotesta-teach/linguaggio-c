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232091"/>
            <a:ext cx="6502237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Puntatori a Puntatori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3653750"/>
            <a:ext cx="690862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Doppio puntatore, array di puntatori, matrici e puntatori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4182368"/>
            <a:ext cx="6502237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428396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434105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4283968"/>
            <a:ext cx="1031849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4341059"/>
            <a:ext cx="142811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4080" y="4283968"/>
            <a:ext cx="2047328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210738" y="4341059"/>
            <a:ext cx="244359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PUNTATORI A PUNTATORI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1193800"/>
            <a:ext cx="4470288" cy="44704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Puntatore a Puntatore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27533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Anche un puntatore è una variabile e ha un indirizzo. Un puntatore a puntatore (doppio puntatore) contiene l'indirizzo di un altro puntatore.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275330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5848700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ascensore = 2;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*selezionato = &amp;ascensore;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**pannello = &amp;selezionato;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**pannello = 4;              /* ascensore vale 4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*pannello = &amp;montacarichi;   /* selezionato cambia bersaglio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138513"/>
            <a:ext cx="6275330" cy="1356122"/>
          </a:xfrm>
          <a:prstGeom prst="roundRect">
            <a:avLst>
              <a:gd name="adj" fmla="val 4495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452521"/>
            <a:ext cx="591973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pannello è l'indirizzo di selezionato; *pannello è il valore di selezionato (l'indirizzo di ascensore); **pannello è il valore di ascensore.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203656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Modificare un Puntatore del Chiamante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6090787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664158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scegli_coda(int **coda, int *c1, int *c2, int *c3)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*coda = c1;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(*c2 &lt; **coda)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*coda = c2;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(*c3 &lt; **coda)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*coda = c3;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scegli_coda(&amp;mia_coda, &amp;cassa1, &amp;cassa2, &amp;cassa3);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01870" y="929580"/>
            <a:ext cx="4983435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funzione deve far puntare un puntatore del main alla cassa del supermercato con la fila più corta.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per modificare un int serve un int *, per modificare un int * serve un int **: si passa l'indirizzo del puntatore.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01870" y="2632174"/>
            <a:ext cx="4983435" cy="1203722"/>
          </a:xfrm>
          <a:prstGeom prst="roundRect">
            <a:avLst>
              <a:gd name="adj" fmla="val 5064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6979666" y="2869982"/>
            <a:ext cx="462784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il parametro int *coda la funzione cambierebbe solo la propria copia del puntatore: nel main mia_coda punterebbe ancora alla cassa 1.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Puntatore che Avanza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6090787" cy="4338042"/>
          </a:xfrm>
          <a:prstGeom prst="roundRect">
            <a:avLst>
              <a:gd name="adj" fmla="val 26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664158" cy="3982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leggi_numero(const char **p, int *numero)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letto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(**p == ' 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(*p)++;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*numero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(**p &gt;= '0' &amp;&amp; **p &lt;= '9')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*numero = *numero * 10 + (**p - '0');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(*p)++;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letto = 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letto;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01870" y="929580"/>
            <a:ext cx="4983435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leggere uno dopo l'altro i numeri scritti in una riga di testo, come "12 7 130 45 9".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la funzione riceve l'indirizzo del puntatore di lettura (const char **) e lo sposta oltre il numero letto. Alla chiamata successiva la lettura riparte da lì.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01870" y="2632174"/>
          <a:ext cx="4983435" cy="914400"/>
        </p:xfrm>
        <a:graphic>
          <a:graphicData uri="http://schemas.openxmlformats.org/drawingml/2006/table">
            <a:tbl>
              <a:tblPr/>
              <a:tblGrid>
                <a:gridCol w="1494991"/>
                <a:gridCol w="348844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Espressione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puntatore di lettura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carattere da leggere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(*p)++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sposta in avanti il puntatore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01870" y="4817368"/>
            <a:ext cx="4983435" cy="1305322"/>
          </a:xfrm>
          <a:prstGeom prst="roundRect">
            <a:avLst>
              <a:gd name="adj" fmla="val 4670"/>
            </a:avLst>
          </a:prstGeom>
          <a:solidFill>
            <a:srgbClr val="DBF0DD"/>
          </a:solidFill>
          <a:ln/>
        </p:spPr>
      </p:sp>
      <p:sp>
        <p:nvSpPr>
          <p:cNvPr id="8" name="Text 5"/>
          <p:cNvSpPr/>
          <p:nvPr/>
        </p:nvSpPr>
        <p:spPr>
          <a:xfrm>
            <a:off x="6979666" y="5105976"/>
            <a:ext cx="462784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parentesi in (*p)++ sono necessarie: *p++ sposterebbe la copia locale p, non il puntatore del chiamante.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Esito con return, Puntatore in Uscita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11378915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ricerca deve dire se ha trovato l'elemento e, se sì, permettere di modificarlo.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l'esito (1 o 0) esce con return, il puntatore all'elemento trovato esce da un parametro di tipo int **.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786037"/>
            <a:ext cx="11378915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964154"/>
            <a:ext cx="10952285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cerca(int *v, int n, int valore, int **trovato);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(cerca(posti, POSTI, 0, &amp;posto)) {   /* primo posto libero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*posto = tessera;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printf("Posto %d", (int) (posto - posti) + 1);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048423"/>
            <a:ext cx="11378915" cy="858441"/>
          </a:xfrm>
          <a:prstGeom prst="roundRect">
            <a:avLst>
              <a:gd name="adj" fmla="val 7101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362430"/>
            <a:ext cx="116075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non trova, cerca scrive NULL in *trovato e restituisce 0: il chiamante dereferenzia posto solo dopo un esito positivo.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Puntatori a Stringhe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2753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elenco di testi può essere un array di puntatori: ogni elemento è un const char * che punta a un letterale lungo quanto serve.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275330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584870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 *brevi[7] = {"lun", "mar", "mer", "gio", "ven", "sab", "dom"};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printf("%s", brevi[i]);     /* la stringa i-esima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brevi[i][0]                 /* il suo primo carattere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brevi[6] = "---";           /* cambia il puntatore, non il testo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605213"/>
            <a:ext cx="6275330" cy="1356122"/>
          </a:xfrm>
          <a:prstGeom prst="roundRect">
            <a:avLst>
              <a:gd name="adj" fmla="val 4495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3919220"/>
            <a:ext cx="591973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char[7][10] riserva 10 caratteri per ogni riga, anche per "sab"; l'array di puntatori occupa 7 indirizzi più i testi, ciascuno della sua lunghezza.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2474516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Puntatori a Variabili e ad Array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array di puntatori raccoglie in un elenco variabili o array che nel programma sono separati, per elaborarli con un ciclo.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378446"/>
            <a:ext cx="11378915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556564"/>
            <a:ext cx="10952285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*sensori[3] = {&amp;aula, &amp;laboratorio, &amp;palestra};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*sensori[i] = *sensori[i] + 10;      /* modifica la variabile i-esima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*gruppi[4] = {rossi, blu, verdi, gialli};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studenti[4] = {3, 5, 4, 2};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media(gruppi[g], studenti[g]);       /* array del gruppo g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gruppi[g][i]                         /* voto i del gruppo g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925292"/>
            <a:ext cx="11378915" cy="1107281"/>
          </a:xfrm>
          <a:prstGeom prst="roundRect">
            <a:avLst>
              <a:gd name="adj" fmla="val 5505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239300"/>
            <a:ext cx="1102332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variabili e gli array restano dove sono: l'array contiene solo i loro indirizzi. Per gruppi di dimensioni diverse serve un secondo array con le lunghezze.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Riordinare Scambiando Puntatori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11378915" cy="905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cambiare l'ordine di un elenco di nomi senza copiare i caratteri.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scambiano due indirizzi dell'array di puntatori; i testi restano dove sono. Per scambiare due const char * la funzione riceve i loro indirizzi: const char **.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034877"/>
            <a:ext cx="11378915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212995"/>
            <a:ext cx="10952285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scambia(const char **a, const char **b)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*temp = *a;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*a = *b;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*b = temp;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scambia(&amp;ordine[0], &amp;ordine[2]);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150644"/>
            <a:ext cx="11378915" cy="1107281"/>
          </a:xfrm>
          <a:prstGeom prst="roundRect">
            <a:avLst>
              <a:gd name="adj" fmla="val 5505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5464651"/>
            <a:ext cx="1102332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Anche le funzioni si possono raccogliere in un array: void (*comandi[4])(int *, int *, int *) = {avanti, indietro, destra, sinistra}; e poi comandi[k](&amp;x, &amp;y, &amp;dir).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Matrice in Memoria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27533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int m[R][C] è un array di R righe, ciascuna un array di C int. In memoria le righe sono consecutive: tutta la riga 0, poi tutta la riga 1, e così via.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780877"/>
          <a:ext cx="6275330" cy="914400"/>
        </p:xfrm>
        <a:graphic>
          <a:graphicData uri="http://schemas.openxmlformats.org/drawingml/2006/table">
            <a:tbl>
              <a:tblPr/>
              <a:tblGrid>
                <a:gridCol w="2510072"/>
                <a:gridCol w="376525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Espressione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m[i]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riga i: un array di C int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+ i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 della riga i: avanza di una riga intera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*(*(m + i) + j)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l'elemento m[i][j]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&amp;m[0][0] + i * C + j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lo stesso elemento contato dall'inizio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136727"/>
            <a:ext cx="6275330" cy="1356122"/>
          </a:xfrm>
          <a:prstGeom prst="roundRect">
            <a:avLst>
              <a:gd name="adj" fmla="val 4495"/>
            </a:avLst>
          </a:prstGeom>
          <a:solidFill>
            <a:srgbClr val="DBF0DD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4450735"/>
            <a:ext cx="591973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indirizzi sono numeri esadecimali, come li stampa %p: tra un elemento e il successivo c'è sizeof(int) = 4 byte, tra una riga e la successiva C × 4 byte.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354091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Tre Modi di Scorrere una Matrice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(*riga)[MESI];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(riga = vendite; riga &lt; vendite + NEGOZI; riga++)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 = totale_riga(riga);      /* (*riga)[j] è l'elemento j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media(&amp;serra[0][0], FILE_SERRA * SETTORI);   /* tutta la serra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media(serra[f], SETTORI);                    /* una fila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posizione k = p - &amp;m[0][0]:  riga k / C, colonna k % C */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1550353"/>
                <a:gridCol w="1808812"/>
                <a:gridCol w="180891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Codice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Quando usarla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a riga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(*riga)[C]; riga++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elaborare riga per riga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riga come 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f(m[i], 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riusare funzioni su int *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Blocco unico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= &amp;m[0][0]; p &lt; &amp;m[0][0] + R * C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riga non conta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385840"/>
            <a:ext cx="5168076" cy="1356122"/>
          </a:xfrm>
          <a:prstGeom prst="roundRect">
            <a:avLst>
              <a:gd name="adj" fmla="val 4495"/>
            </a:avLst>
          </a:prstGeom>
          <a:solidFill>
            <a:srgbClr val="DBF0DD"/>
          </a:solidFill>
          <a:ln/>
        </p:spPr>
      </p:sp>
      <p:sp>
        <p:nvSpPr>
          <p:cNvPr id="7" name="Text 4"/>
          <p:cNvSpPr/>
          <p:nvPr/>
        </p:nvSpPr>
        <p:spPr>
          <a:xfrm>
            <a:off x="6795025" y="3699847"/>
            <a:ext cx="481248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 (*riga)[C] è un puntatore a una riga; int *riga[C] è un array di C puntatori: le parentesi cambiano tutto.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Righe di Lunghezza Diversa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6275330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 distanze tra cinque paesi sono simmetriche, quindi basta la metà della tabella sotto la diagonale; la riga i ha i elementi.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ogni riga è un array a sé e un array di puntatori le raccoglie.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229743"/>
            <a:ext cx="6275330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407860"/>
            <a:ext cx="5848700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r1[1] = {7};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r2[2] = {12, 6};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r3[3] = {9, 15, 18};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r4[4] = {14, 10, 8, 21};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*righe[5] = {NULL, r1, r2, r3, r4};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righe[3][1]      /* distanza tra il paese 3 e il paese 1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76589"/>
            <a:ext cx="6275330" cy="1356122"/>
          </a:xfrm>
          <a:prstGeom prst="roundRect">
            <a:avLst>
              <a:gd name="adj" fmla="val 4495"/>
            </a:avLst>
          </a:prstGeom>
          <a:solidFill>
            <a:srgbClr val="DBF0DD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5090597"/>
            <a:ext cx="591973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un array di puntatori alle righe, riordinare (ad esempio una classifica) significa scambiare puntatori: le righe della matrice non si spostano.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3500437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537061" cy="1099145"/>
          </a:xfrm>
          <a:prstGeom prst="roundRect">
            <a:avLst>
              <a:gd name="adj" fmla="val 5546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1158180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84" y="1417261"/>
            <a:ext cx="507987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int * a una funzione che deve cambiare un puntatore del chiamante: serve int **.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48244" y="929580"/>
            <a:ext cx="5537061" cy="1099145"/>
          </a:xfrm>
          <a:prstGeom prst="roundRect">
            <a:avLst>
              <a:gd name="adj" fmla="val 5546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158180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6838" y="1417261"/>
            <a:ext cx="507987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*p++ invece di (*p)++ per far avanzare il puntatore del chiamante.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390" y="2333526"/>
            <a:ext cx="5537061" cy="903585"/>
          </a:xfrm>
          <a:prstGeom prst="roundRect">
            <a:avLst>
              <a:gd name="adj" fmla="val 6746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634984" y="256212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4984" y="2821206"/>
            <a:ext cx="530846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Confondere *pp (il puntatore intermedio) con **pp (la variabile finale).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8244" y="2333526"/>
            <a:ext cx="5537061" cy="903585"/>
          </a:xfrm>
          <a:prstGeom prst="roundRect">
            <a:avLst>
              <a:gd name="adj" fmla="val 6746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76838" y="256212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6838" y="2821206"/>
            <a:ext cx="530846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Dereferenziare il puntatore in uscita senza controllare l'esito o NULL.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3541911"/>
            <a:ext cx="5537061" cy="903585"/>
          </a:xfrm>
          <a:prstGeom prst="roundRect">
            <a:avLst>
              <a:gd name="adj" fmla="val 6746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634984" y="3770511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984" y="4029591"/>
            <a:ext cx="530846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Modificare il testo di un letterale puntato da un array di const char *.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8244" y="3541911"/>
            <a:ext cx="5537061" cy="903585"/>
          </a:xfrm>
          <a:prstGeom prst="roundRect">
            <a:avLst>
              <a:gd name="adj" fmla="val 6746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476838" y="3770511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6838" y="4029591"/>
            <a:ext cx="530846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int *riga[C] (array di puntatori) invece di int (*riga)[C].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390" y="4750296"/>
            <a:ext cx="5537061" cy="1099145"/>
          </a:xfrm>
          <a:prstGeom prst="roundRect">
            <a:avLst>
              <a:gd name="adj" fmla="val 5546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634984" y="497889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4984" y="5237976"/>
            <a:ext cx="530846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riga[j] invece di (*riga)[j] con un puntatore a riga.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8244" y="4750296"/>
            <a:ext cx="5537061" cy="1099145"/>
          </a:xfrm>
          <a:prstGeom prst="roundRect">
            <a:avLst>
              <a:gd name="adj" fmla="val 5546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476838" y="497889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76838" y="5237976"/>
            <a:ext cx="507987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Ricavare riga e colonna dividendo per il numero di righe invece che per la lunghezza di una riga.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3413635"/>
                <a:gridCol w="3413635"/>
                <a:gridCol w="455164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a puntatore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**pp = &amp;p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*pp è p, **pp è la 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Cambiare un puntatore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f(&amp;p)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con parametro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**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*coda = c2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Lettura che avanza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char **p, (*p)++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riprende da dove si è fermata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Esito e puntatore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0/1, int **trovato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 se non trovato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Elenco di testi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char *v[N]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testi di lunghezza diversa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Elenco di variabili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*v[N] = {&amp;a, &amp;b}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*v[i] è la 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Riordinare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scambiare puntatori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 dati non si spostano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Tabella di funzioni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 (*f[N])(...)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f[k](...)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a riga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(*riga)[C]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riga++ avanza di una riga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Matrice come blocco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&amp;m[0][0], R * C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riga k / C, colonna k % 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Righe di lunghezza diversa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int *righe[N]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righe[i][j]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Doppio Puntatore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435973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 puntatore a puntatore.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834356"/>
            <a:ext cx="3589744" cy="2929632"/>
          </a:xfrm>
          <a:prstGeom prst="roundRect">
            <a:avLst>
              <a:gd name="adj" fmla="val 390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235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010-puntatore-a-puntatore.c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235" y="2633067"/>
            <a:ext cx="3195954" cy="848320"/>
          </a:xfrm>
          <a:prstGeom prst="roundRect">
            <a:avLst>
              <a:gd name="adj" fmla="val 7186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831829" y="2869922"/>
            <a:ext cx="2738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ascensore e montacarichi selezionati da un pannello.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235" y="3481388"/>
            <a:ext cx="3195954" cy="848320"/>
          </a:xfrm>
          <a:prstGeom prst="roundRect">
            <a:avLst>
              <a:gd name="adj" fmla="val 7186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831829" y="3718243"/>
            <a:ext cx="2738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 **pannello, *pannello e **pannello.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834356"/>
            <a:ext cx="3589744" cy="2929632"/>
          </a:xfrm>
          <a:prstGeom prst="roundRect">
            <a:avLst>
              <a:gd name="adj" fmla="val 390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7771" y="2044451"/>
            <a:ext cx="3196054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020-modificare-un-puntatore-del-chiamante.c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97771" y="2870498"/>
            <a:ext cx="3195954" cy="848320"/>
          </a:xfrm>
          <a:prstGeom prst="roundRect">
            <a:avLst>
              <a:gd name="adj" fmla="val 7186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726365" y="3107353"/>
            <a:ext cx="2738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scegliere la cassa con la fila più corta al supermercato.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7771" y="3718818"/>
            <a:ext cx="3195954" cy="848320"/>
          </a:xfrm>
          <a:prstGeom prst="roundRect">
            <a:avLst>
              <a:gd name="adj" fmla="val 7186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4726365" y="3955673"/>
            <a:ext cx="2738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scegli_coda(&amp;mia_coda, ...) con parametro int **.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834356"/>
            <a:ext cx="3589744" cy="2929632"/>
          </a:xfrm>
          <a:prstGeom prst="roundRect">
            <a:avLst>
              <a:gd name="adj" fmla="val 390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2307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030-puntatore-che-avanza.c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92307" y="2633067"/>
            <a:ext cx="3195954" cy="848320"/>
          </a:xfrm>
          <a:prstGeom prst="roundRect">
            <a:avLst>
              <a:gd name="adj" fmla="val 7186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20902" y="2869922"/>
            <a:ext cx="2738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punteggi delle squadre di un quiz scritti in una riga.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92307" y="3481388"/>
            <a:ext cx="3195954" cy="848320"/>
          </a:xfrm>
          <a:prstGeom prst="roundRect">
            <a:avLst>
              <a:gd name="adj" fmla="val 7186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8620902" y="3718243"/>
            <a:ext cx="2738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leggi_numero(&amp;p, &amp;n) con const char ** e (*p)++.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il Doppio Puntatore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42676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56701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Turno di guardia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926451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Sportello di tutoraggio: passa_turno(&amp;turno, ore, n) sposta il docente di turno.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42676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56701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Calcolatrice delle spese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926451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Espressioni di entrate e uscite lette con un solo puntatore che avanza; posizione dell'errore.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588617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72886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Coppia più vicina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088303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Fotofinish della campestre: i due tempi più vicini restituiti con const int **.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588617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72886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Lettore di comandi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088303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Domotica dell'aula: SET luce 80; GET luce letti da funzioni che fanno avanzare la lettura.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75046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89071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Ricerca con esito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25015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Rastrelliera delle biciclette: esito con return, posto trovato in un int **.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di Puntatori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435973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sugli array di puntatori.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834356"/>
            <a:ext cx="3589744" cy="2184202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235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010-array-di-stringhe-costanti.c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235" y="2633067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30232" y="2742922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giorni di apertura della biblioteca.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235" y="3227388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730232" y="3337243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const char *giorni[7] a confronto con char[7][10].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834356"/>
            <a:ext cx="3589744" cy="2184202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7771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020-array-di-puntatori-a-variabili.c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97771" y="2633067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24768" y="2742922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temperature di aula, laboratorio e palestra.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7771" y="3227388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4624768" y="3337243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 *sensori[3] = {&amp;aula, ...} e *sensori[i].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834356"/>
            <a:ext cx="3589744" cy="2184202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2307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030-scambiare-puntatori.c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92307" y="2633067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19304" y="2742922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ordine degli interventi in assemblea di classe.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92307" y="3227388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8519304" y="3337243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scambia(&amp;ordine[0], &amp;ordine[2]) con const char **.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Array di Puntatori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42676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56701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Menu del giorno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92645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Mensa scolastica: piatti con nomi di lunghezza molto diversa.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42676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56701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Classifica per puntatori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926451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Gara di orientamento: la giuria corregge la classifica scambiando puntatori a nomi e tempi.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588617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72886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Messaggi di errore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08830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Stampante 3D: il codice dell'errore è l'indice della descrizione.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588617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72886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Tabella di comandi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088303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Robot del laboratorio: un array di puntatori a funzione al posto di una catena di if.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75046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89071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Gruppi di lavoro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25015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Voti di gruppi con un numero diverso di studenti: int *gruppi[4].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Matrici e Puntatori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435973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sulla matrice vista con i puntatori.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834356"/>
            <a:ext cx="3589744" cy="2184202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235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010-matrice-in-memoria.c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235" y="2633067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30232" y="2742922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prenotazioni dei banchi di un'aula studio.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235" y="3227388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730232" y="3337243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indirizzi consecutivi, sizeof, *(*(m + i) + j).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834356"/>
            <a:ext cx="3589744" cy="2184202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7771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020-puntatore-a-riga.c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97771" y="2633067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24768" y="2742922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vendite mensili di quattro cartolerie.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7771" y="3227388"/>
            <a:ext cx="3195954" cy="398760"/>
          </a:xfrm>
          <a:prstGeom prst="roundRect">
            <a:avLst>
              <a:gd name="adj" fmla="val 15287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4624768" y="3337243"/>
            <a:ext cx="306895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 (*riga)[MESI] e riga++.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834356"/>
            <a:ext cx="3589744" cy="2184202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2307" y="2044451"/>
            <a:ext cx="3196054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030-matrice-come-blocco-unico.c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92307" y="2633067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19304" y="2742922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minuti di occupazione del parcheggio della scuola.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92307" y="3227388"/>
            <a:ext cx="3195954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8519304" y="3337243"/>
            <a:ext cx="29419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&amp;m[0][0], un solo ciclo, riga k / C e colonna k % C.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3055"/>
            <a:ext cx="11785305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390" y="82479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Matrici e Puntatori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42676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56701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Orario settimanale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926451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riga del giorno passata come const int *, la matrice come const int (*)[ORE].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42676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56701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Statistiche della serra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92645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stesse funzioni su tutta la serra (blocco unico) e su una fila (una riga).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588617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72886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Triangolo delle distanze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08830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Pulmino scolastico: tabella triangolare con righe di lunghezza diversa.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588617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72886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Scambio di righe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088303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Torneo di calcetto: classifica come array di puntatori alle righe, sorpassi con scambi.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75046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89071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Immagine in scala di grigi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25015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Capovolgimento con due puntatori a riga, negativo come blocco unico.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2026-10-12T06:31:48Z</dcterms:created>
  <dcterms:modified xsi:type="dcterms:W3CDTF">2026-10-12T06:31:48Z</dcterms:modified>
</cp:coreProperties>
</file>