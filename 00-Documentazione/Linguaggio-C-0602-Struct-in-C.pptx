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397191"/>
            <a:ext cx="6228004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Struct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204190"/>
            <a:ext cx="622800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Dichiarazione e accesso, assegnamento e confronto, array di struct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017268"/>
            <a:ext cx="6228004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411886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417595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4118868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4175959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3602" y="4118868"/>
            <a:ext cx="787579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980259" y="4175959"/>
            <a:ext cx="118384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Nuovo Tipo Fatto di Campi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7156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struct raggruppa in una sola variabile dati di tipo diverso che descrivono la stessa cosa. Ogni dato è un campo, e si raggiunge con l'operatore punto.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323108"/>
            <a:ext cx="6715652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501225"/>
            <a:ext cx="628902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nome[20];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classe[4];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media;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                            /* ; obbligatorio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studente s;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strcpy(s.nome, "Giulia Ferri");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s.media = 7.8;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438874"/>
            <a:ext cx="6715652" cy="1107281"/>
          </a:xfrm>
          <a:prstGeom prst="roundRect">
            <a:avLst>
              <a:gd name="adj" fmla="val 103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438874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752882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campo si usa come una variabile del suo tipo: s.nome è un array di char (si riempie con strcpy), s.media è un double.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165457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Inizializzare una Struct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537061" cy="2062361"/>
          </a:xfrm>
          <a:prstGeom prst="roundRect">
            <a:avLst>
              <a:gd name="adj" fmla="val 55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110432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tessera sara = {1024, "Bianchi Sara", 12, 25.50};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tessera nuova = {.credito = 10.00, .numero = 1025};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tessera vuota = {0};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vuota = {2000, "Neri Luca", 0, 5.0};    /* errore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vuota.numero = 2000;                    /* corretto */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929580"/>
          <a:ext cx="5537062" cy="914400"/>
        </p:xfrm>
        <a:graphic>
          <a:graphicData uri="http://schemas.openxmlformats.org/drawingml/2006/table">
            <a:tbl>
              <a:tblPr/>
              <a:tblGrid>
                <a:gridCol w="1550353"/>
                <a:gridCol w="2325530"/>
                <a:gridCol w="1661178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Campi non indicati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 ordine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{1024, "Bianchi Sara", 12, 25.50}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zero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il 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{.numero = 1025, .credito = 10.00}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zero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tutto a zero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{0}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—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48244" y="3411240"/>
            <a:ext cx="5537061" cy="1107281"/>
          </a:xfrm>
          <a:prstGeom prst="roundRect">
            <a:avLst>
              <a:gd name="adj" fmla="val 1032"/>
            </a:avLst>
          </a:pr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248244" y="3411240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476838" y="3725247"/>
            <a:ext cx="513067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lista tra graffe vale solo nella dichiarazione. Una struct locale non inizializzata contiene valori casuali.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typedef e struct: un Tipo Davvero Nuovo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053582"/>
          </a:xfrm>
          <a:prstGeom prst="roundRect">
            <a:avLst>
              <a:gd name="adj" fmla="val 28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valore;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Euro;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valore;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Chilometri;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 prezzo = {1.79};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Chilometri distanza = {290};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prezzo = distanza;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error: incompatible types when assigning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 type 'Euro' from type 'Chilometri'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Nel sottocapitolo typedef, Euro e Chilometri erano due nomi dello stesso double. Ogni struct invece è un tipo diverso da tutti gli altri, anche con gli stessi campi.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853902"/>
            <a:ext cx="5168076" cy="1356122"/>
          </a:xfrm>
          <a:prstGeom prst="roundRect">
            <a:avLst>
              <a:gd name="adj" fmla="val 843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853902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167910"/>
            <a:ext cx="47616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 qui in poi il corso usa typedef struct { ... } Nome; con l'iniziale maiuscola. La forma struct studente resta valida.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Copiare una Struct con =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7156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struct dello stesso tipo si assegnano con =: tutti i campi vengono copiati, compresi gli array contenuti nella struct. Dopo la copia le due variabili sono indipendenti.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715652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289022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Pagella simulazione;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simulazione = primo_quadrimestre;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simulazione.voti[1] = 6;      /* l'originale non cambia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voti[4];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copia_voti[4];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copia_voti = voti;            /* errore: un array non si assegna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07434"/>
            <a:ext cx="6715652" cy="1107281"/>
          </a:xfrm>
          <a:prstGeom prst="roundRect">
            <a:avLst>
              <a:gd name="adj" fmla="val 103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07434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021441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Scambiare due struct intere scambia tutti i campi: per spostare due studenti si scambiano solo fila e pc, non i nomi.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28530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Confrontare Campo per Campo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72160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== b tra due struct non compila.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378446"/>
            <a:ext cx="5721604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556564"/>
            <a:ext cx="5294974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if (inventario == conteggio)    errore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stesso_articolo = strcmp(inventario.codice, conteggio.codice) ==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identici = stesso_articolo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strcmp(inventario.descrizione, conteggio.descrizione) == 0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inventario.quantita == conteggio.quantita;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32687" y="938788"/>
            <a:ext cx="535261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confrontano i campi, ognuno nel modo adatto al suo tipo: i numeri con ==, le stringhe con strcmp.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32687" y="1780877"/>
          <a:ext cx="5352619" cy="914400"/>
        </p:xfrm>
        <a:graphic>
          <a:graphicData uri="http://schemas.openxmlformats.org/drawingml/2006/table">
            <a:tbl>
              <a:tblPr/>
              <a:tblGrid>
                <a:gridCol w="1401033"/>
                <a:gridCol w="1976190"/>
                <a:gridCol w="197539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o strcpy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 = 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o strcmp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per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scambio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con appoggio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temp = a; a = b; b = temp;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32687" y="3739455"/>
            <a:ext cx="5352618" cy="1056481"/>
          </a:xfrm>
          <a:prstGeom prst="roundRect">
            <a:avLst>
              <a:gd name="adj" fmla="val 1082"/>
            </a:avLst>
          </a:prstGeom>
          <a:solidFill>
            <a:srgbClr val="DCEFDC"/>
          </a:solidFill>
          <a:ln/>
        </p:spPr>
      </p:sp>
      <p:sp>
        <p:nvSpPr>
          <p:cNvPr id="9" name="Shape 6"/>
          <p:cNvSpPr/>
          <p:nvPr/>
        </p:nvSpPr>
        <p:spPr>
          <a:xfrm>
            <a:off x="6432687" y="3739455"/>
            <a:ext cx="50799" cy="10564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10" name="Text 7"/>
          <p:cNvSpPr/>
          <p:nvPr/>
        </p:nvSpPr>
        <p:spPr>
          <a:xfrm>
            <a:off x="6635882" y="4028063"/>
            <a:ext cx="49970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a.codice == b.codice confronta gli indirizzi di due array diversi: è sempre falso anche quando il testo è uguale.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 e Allineamento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7156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può lasciare byte vuoti (padding) tra i campi, così che un int stia a un indirizzo multiplo di 4. La sizeof di una struct può essere maggiore della somma dei campi.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715652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28902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stanza;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valore;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unita;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Lettura;              /* 12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offsetof(Lettura, valore)    /* 4, da &lt;stddef.h&gt;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549973"/>
            <a:ext cx="6715652" cy="1107281"/>
          </a:xfrm>
          <a:prstGeom prst="roundRect">
            <a:avLst>
              <a:gd name="adj" fmla="val 103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549973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863981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Mettendo i campi grandi per primi il padding si riduce: per 10000 letture 80000 byte invece di 120000.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460228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Struct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7156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struct descrive un oggetto, un array di struct un elenco: le righe di una tabella. Ogni elemento è una struct completa.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715652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28902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classe[5] =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{"Bianchi Sara", 16, 7.8},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{"Colombo Luca", 17, 6.2},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classe[i]            /* lo studente 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classe[i].media      /* un suo campo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classe[i].nome[0]    /* l'iniziale del nome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743053"/>
            <a:ext cx="6715652" cy="1107281"/>
          </a:xfrm>
          <a:prstGeom prst="roundRect">
            <a:avLst>
              <a:gd name="adj" fmla="val 103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743053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057061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posto di tre array paralleli da tenere allineati c'è un solo array: i dati dello stesso studente restano insieme.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302867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Ricerca e Massimo su un Campo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3789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algoritmi visti con gli array si applicano scegliendo il campo su cui lavorare. Il risultato di una ricerca è l'indice: con l'indice si leggono tutti gli altri campi.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786037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964154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LIBRI &amp;&amp; trovato == -1)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(strcmp(libri[i].titolo, cercato) ==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trovato =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(libri[i].prestiti &gt; libri[piu_letto].prestiti)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piu_letto =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586012"/>
          <a:ext cx="5168076" cy="914400"/>
        </p:xfrm>
        <a:graphic>
          <a:graphicData uri="http://schemas.openxmlformats.org/drawingml/2006/table">
            <a:tbl>
              <a:tblPr/>
              <a:tblGrid>
                <a:gridCol w="1653737"/>
                <a:gridCol w="351433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 sul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strcmp(libri[i].titolo, cercato) ==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massimo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libri[i].prestiti &gt; libri[migliore].prestiti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conteggio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libri[i].copie &gt; libri[i].in_prestito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Struct che Contengono Array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nome[20];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voti[MAX_VOTI];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n_voti;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Registro;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classe[STUDENTI];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classe[s].voti[v]          /* voto v dello studente s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classe[s].voti[classe[s].n_voti] = 7;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classe[s].n_voti++;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campo può essere un array: per ogni studente i voti delle verifiche e quanti voti ha. Si legge da sinistra a destra: elemento dell'array esterno, campo, elemento del campo.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102743"/>
            <a:ext cx="5168076" cy="1604963"/>
          </a:xfrm>
          <a:prstGeom prst="roundRect">
            <a:avLst>
              <a:gd name="adj" fmla="val 71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102743"/>
            <a:ext cx="50799" cy="1604963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416751"/>
            <a:ext cx="476168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 di aggiungere un voto si controlla che n_voti sia minore di MAX_VOTI. La stessa idea vale per le prenotazioni delle aule: char prenotata[ORE][4] dentro ogni Aula.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97588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il punto e virgola dopo la dichiarazione della struct.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97588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nome del tipo al posto della variabile: Studente.media invece di s.media.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2265462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40819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83346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Assegnare una stringa a un campo array con = invece di strcpy.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046" y="2265462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40819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83346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la lista tra graffe dopo la dichiarazione.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6390" y="3601343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744074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416935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due struct con == invece di confrontare i campi.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046" y="3601343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744074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4169351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due campi stringa con == invece di strcmp.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390" y="4937224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507995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5505232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Calcolare la dimensione sommando i campi e dimenticare il padding.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046" y="4937224"/>
            <a:ext cx="5613260" cy="1183481"/>
          </a:xfrm>
          <a:prstGeom prst="roundRect">
            <a:avLst>
              <a:gd name="adj" fmla="val 5151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507995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5505232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classe.media[i] invece di classe[i].media.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730928"/>
                <a:gridCol w="4551546"/>
                <a:gridCol w="409644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Dichiarare il 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struct { ... } Nome;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ogni struct è un tipo nuovo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Accedere a un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s.media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campo si usa come una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Inizializzare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{v1, v2}, {.campo = v}, {0}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nella dichiarazione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 = 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anche gli array interni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per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strcmp per le stringhe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sizeof(Tipo), offsetof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padding conta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di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classe[i].campo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record per 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 e massimo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 su un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risultato è un indice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classe[s].voti[v]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numero di elementi in un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Dichiarazione e Accesso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campi e inizializzazione.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364581"/>
          </a:xfrm>
          <a:prstGeom prst="roundRect">
            <a:avLst>
              <a:gd name="adj" fmla="val 48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010-tipo-con-campi.c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136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152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nome, classe e media di due studenti della 3B.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08451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18611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studente, operatore punto e sizeof.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364581"/>
          </a:xfrm>
          <a:prstGeom prst="roundRect">
            <a:avLst>
              <a:gd name="adj" fmla="val 48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020-inizializzazione.c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1136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2152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tessere della mensa scolastica.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28889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29905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inizializzazione in ordine, con il nome dei campi e a zero.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364581"/>
          </a:xfrm>
          <a:prstGeom prst="roundRect">
            <a:avLst>
              <a:gd name="adj" fmla="val 48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030-typedef-struct.c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136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152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costo del carburante per la gita.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8889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29905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Euro e Chilometri come struct: assegnamento che non compila.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Dichiarazione e Accesso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8018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Scheda di un libro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6225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Prestiti e restituzioni sulle copie disponibili della biblioteca.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8018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Distanza GPS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622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Distanza tra due Punto dell'uscita didattica e tempo a piedi.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55429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1210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Durata delle lezioni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814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Orario per lezione: durata, anomalie e sovrapposizioni.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55429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1210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Somma di frazioni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814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Dosi di una ricetta come Frazione, ridotte ai minimi termini.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274641"/>
            <a:ext cx="11378915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440286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Carta d'imbarco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80067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Controllo al gate di CartaImbarco e Volo, due tipi diversi.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Assegnamento e Confronto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copia, confronto e dimensione.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97572"/>
          </a:xfrm>
          <a:prstGeom prst="roundRect">
            <a:avLst>
              <a:gd name="adj" fmla="val 409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010-copia-con-assegnamento.c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510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5268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simulazione dei voti di fine anno.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1263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2279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 di una Pagella con un array interno.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97572"/>
          </a:xfrm>
          <a:prstGeom prst="roundRect">
            <a:avLst>
              <a:gd name="adj" fmla="val 409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020-confronto-campo-per-campo.c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51088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5268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inventario del laboratorio e conteggio di fine anno.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32194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42354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strcmp e == sui campi, == tra struct non compila.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97572"/>
          </a:xfrm>
          <a:prstGeom prst="roundRect">
            <a:avLst>
              <a:gd name="adj" fmla="val 409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030-dimensione-e-allineamento.c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51088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5268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letture dei sensori in una centralina con poca memoria.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32194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42354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padding, offsetof e ordine dei campi.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Assegnamento e Confronto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8018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Scambio di posti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622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studenti si scambiano la postazione: scambio sbagliato e corretto.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8018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Backup delle impostazioni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622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LIM dell'aula: backup, ripristino e valori di fabbrica con un assegnamento.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55429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1210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Confronto tra pagelle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814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Secondo quadrimestre come copia del primo, variazioni e recuperi.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55429"/>
            <a:ext cx="5613260" cy="1166912"/>
          </a:xfrm>
          <a:prstGeom prst="roundRect">
            <a:avLst>
              <a:gd name="adj" fmla="val 979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1210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Modifiche all'anagrafica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814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 di lavoro, elenco dei campi cambiati e conferma.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274641"/>
            <a:ext cx="11378915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440286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Doppioni nelle iscrizioni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80067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Iscrizioni ai corsi pomeridiani confrontate con la precedente.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di Struct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tabelle di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602012"/>
          </a:xfrm>
          <a:prstGeom prst="roundRect">
            <a:avLst>
              <a:gd name="adj" fmla="val 439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010-array-di-struct.c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136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152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l'elenco della 3B con età e media.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8889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29905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Studente classe[5] e copia di un elemento.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602012"/>
          </a:xfrm>
          <a:prstGeom prst="roundRect">
            <a:avLst>
              <a:gd name="adj" fmla="val 439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020-ricerca-e-massimo.c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510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5268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libri della biblioteca di classe.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1263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2279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per titolo, massimo e conteggio su un campo.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602012"/>
          </a:xfrm>
          <a:prstGeom prst="roundRect">
            <a:avLst>
              <a:gd name="adj" fmla="val 439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030-struct-con-array.c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136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152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registro dei voti di matematica.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8889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29905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classe[s].voti[v] e numero di voti in un campo.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di Struct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548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Rubrica di classe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7152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per inizio del cognome e per ruolo.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548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Magazzino del laboratorio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7152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Carico, prelievo e articoli sottoscorta da riordinare.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259608"/>
            <a:ext cx="5613260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4252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Corsa campestre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78564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Podio di ogni categoria con ricerche ripetute del minimo.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259608"/>
            <a:ext cx="5613260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4252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Prenotazione delle aule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78564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di prenotazioni dentro ogni Aula.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329980"/>
            <a:ext cx="11378915" cy="918071"/>
          </a:xfrm>
          <a:prstGeom prst="roundRect">
            <a:avLst>
              <a:gd name="adj" fmla="val 1245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495624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Registro delle assenze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856018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Ore di assenza mensili e stima rispetto al limite annuale.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2026-10-12T10:24:12Z</dcterms:created>
  <dcterms:modified xsi:type="dcterms:W3CDTF">2026-10-12T10:24:12Z</dcterms:modified>
</cp:coreProperties>
</file>