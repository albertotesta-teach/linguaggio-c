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371791"/>
            <a:ext cx="6095848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Le Funzioni in 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09585" y="3178790"/>
            <a:ext cx="609584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Definizione e chiamata, parametri e valore di ritorno, passaggio per riferimento, scope e visibilità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585" y="4042668"/>
            <a:ext cx="6095848" cy="473373"/>
          </a:xfrm>
          <a:prstGeom prst="roundRect">
            <a:avLst>
              <a:gd name="adj" fmla="val 12877"/>
            </a:avLst>
          </a:prstGeom>
          <a:solidFill>
            <a:srgbClr val="1B4D20"/>
          </a:solidFill>
          <a:ln/>
        </p:spPr>
      </p:sp>
      <p:sp>
        <p:nvSpPr>
          <p:cNvPr id="5" name="Shape 3"/>
          <p:cNvSpPr/>
          <p:nvPr/>
        </p:nvSpPr>
        <p:spPr>
          <a:xfrm>
            <a:off x="812780" y="4144268"/>
            <a:ext cx="1310250" cy="270173"/>
          </a:xfrm>
          <a:prstGeom prst="roundRect">
            <a:avLst>
              <a:gd name="adj" fmla="val 4231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9437" y="4201359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11927" y="4144268"/>
            <a:ext cx="940372" cy="270173"/>
          </a:xfrm>
          <a:prstGeom prst="roundRect">
            <a:avLst>
              <a:gd name="adj" fmla="val 4231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18585" y="4201359"/>
            <a:ext cx="1336642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FUNZIONI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1197" y="4144268"/>
            <a:ext cx="2477232" cy="270173"/>
          </a:xfrm>
          <a:prstGeom prst="roundRect">
            <a:avLst>
              <a:gd name="adj" fmla="val 4231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47855" y="4201359"/>
            <a:ext cx="2873502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PROGRAMMAZIONE MODULARE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Cos'è una Funzione?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funzione è un blocco di codice con un nome, che può essere chiamato da qualsiasi punto del programma.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1932087"/>
            <a:ext cx="5333867" cy="1493441"/>
          </a:xfrm>
          <a:prstGeom prst="roundRect">
            <a:avLst>
              <a:gd name="adj" fmla="val 765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110204"/>
            <a:ext cx="490723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tipo_ritorno nome_funzione(tipo param1, tipo param2)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istruzioni;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3625552"/>
            <a:ext cx="5333867" cy="1191022"/>
          </a:xfrm>
          <a:prstGeom prst="roundRect">
            <a:avLst>
              <a:gd name="adj" fmla="val 960"/>
            </a:avLst>
          </a:prstGeom>
          <a:solidFill>
            <a:srgbClr val="DCEFD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380" y="3882727"/>
            <a:ext cx="222244" cy="17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7420" y="3857010"/>
            <a:ext cx="457823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funzione = un compito. Il nome è un verbo in italiano che descrive cosa fa: stampa_menu, calcola_media, scambia.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1860848"/>
          <a:ext cx="5333867" cy="914400"/>
        </p:xfrm>
        <a:graphic>
          <a:graphicData uri="http://schemas.openxmlformats.org/drawingml/2006/table">
            <a:tbl>
              <a:tblPr/>
              <a:tblGrid>
                <a:gridCol w="1866853"/>
                <a:gridCol w="346701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Obiettivo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Che cosa significa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Suddividere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 problema complesso diventa una serie di compiti piccoli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Riutilizzare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lo stesso codice si scrive una volta e si chiama più volte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Isolare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ogni funzione ha una sola responsabilità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Definizione e Chiamata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434405"/>
            <a:ext cx="6045049" cy="3769122"/>
          </a:xfrm>
          <a:prstGeom prst="roundRect">
            <a:avLst>
              <a:gd name="adj" fmla="val 303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822900" y="1612523"/>
            <a:ext cx="5618419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stampa_separatore(void)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printf("--------------------\n");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main(void)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stampa_separatore();     /* chiamata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printf("Benvenuti\n");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stampa_separatore();     /* stessa funzione, riusata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959327" y="1243588"/>
            <a:ext cx="462278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Quando una funzione viene chiamata, l'esecuzione salta al suo corpo; al termine torna all'istruzione successiva alla chiamata.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59327" y="2085677"/>
          <a:ext cx="4622784" cy="914400"/>
        </p:xfrm>
        <a:graphic>
          <a:graphicData uri="http://schemas.openxmlformats.org/drawingml/2006/table">
            <a:tbl>
              <a:tblPr/>
              <a:tblGrid>
                <a:gridCol w="2080168"/>
                <a:gridCol w="2542615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Elemento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Esempio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tipo di ritorno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void, int, double, char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nome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stampa_separatore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parametri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(void) se non ce ne sono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959327" y="3820815"/>
            <a:ext cx="4622784" cy="1191022"/>
          </a:xfrm>
          <a:prstGeom prst="roundRect">
            <a:avLst>
              <a:gd name="adj" fmla="val 960"/>
            </a:avLst>
          </a:prstGeom>
          <a:solidFill>
            <a:srgbClr val="DCEFD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122" y="4077990"/>
            <a:ext cx="222244" cy="177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37162" y="4052272"/>
            <a:ext cx="386715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Errore tipico: dimenticare le parentesi. stampa_separatore; senza () non chiama la funzione.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Prototipo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434405"/>
            <a:ext cx="6045049" cy="3769122"/>
          </a:xfrm>
          <a:prstGeom prst="roundRect">
            <a:avLst>
              <a:gd name="adj" fmla="val 303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822900" y="1612523"/>
            <a:ext cx="5618419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stampa_titolo(void);        /* prototipo: termina con ;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main(void)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stampa_titolo();             /* il compilatore conosce già la firma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stampa_titolo(void)         /* definizione completa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printf("=== Report ===\n");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959327" y="2270502"/>
            <a:ext cx="462278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compilatore legge il file dall'alto in basso: una funzione chiamata prima di essere definita è sconosciuta. Il prototipo la dichiara in anticipo.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59327" y="3185616"/>
            <a:ext cx="4622784" cy="1191022"/>
          </a:xfrm>
          <a:prstGeom prst="roundRect">
            <a:avLst>
              <a:gd name="adj" fmla="val 960"/>
            </a:avLst>
          </a:prstGeom>
          <a:solidFill>
            <a:srgbClr val="DCEFD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122" y="3442791"/>
            <a:ext cx="222244" cy="17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37162" y="3417074"/>
            <a:ext cx="386715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i prototipi in cima al file, il main può stare subito dopo e si legge come un indice del programma.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Funzioni void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434405"/>
            <a:ext cx="5689458" cy="3769122"/>
          </a:xfrm>
          <a:prstGeom prst="roundRect">
            <a:avLst>
              <a:gd name="adj" fmla="val 303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822900" y="1612523"/>
            <a:ext cx="5262828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stampa_intestazione(void)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printf("TRATTORIA DA LUIGI\n");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printf("Via Roma 12, Milano\n");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stampa_menu_completo(void)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stampa_intestazione();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stampa_primi();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stampa_dolci();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03736" y="1243588"/>
            <a:ext cx="497837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funzioni void non restituiscono un valore: producono effetti, come stampare a schermo.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03736" y="1836837"/>
            <a:ext cx="4978375" cy="1039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funzione può chiamarne altre: il programma si costruisce a livelli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modificare una sezione si interviene in un solo punto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03736" y="3003649"/>
            <a:ext cx="4978375" cy="1191022"/>
          </a:xfrm>
          <a:prstGeom prst="roundRect">
            <a:avLst>
              <a:gd name="adj" fmla="val 960"/>
            </a:avLst>
          </a:prstGeom>
          <a:solidFill>
            <a:srgbClr val="DCEFD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1531" y="3260824"/>
            <a:ext cx="222244" cy="177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81571" y="3235107"/>
            <a:ext cx="422274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funzione void non si usa in un'espressione: x = stampa_intestazione(); è un errore.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Parametri per Valore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434405"/>
            <a:ext cx="5333867" cy="2631281"/>
          </a:xfrm>
          <a:prstGeom prst="roundRect">
            <a:avLst>
              <a:gd name="adj" fmla="val 434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822900" y="1612523"/>
            <a:ext cx="4907237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raddoppia(int n)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n * 2;               /* modifica solo la copia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5;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raddoppia(x);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printf("%d\n", x);           /* stampa 5 */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48244" y="1243588"/>
            <a:ext cx="533386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parametri sono variabili locali inizializzate con i valori passati nella chiamata. I tipi scalari (int, double, char) vengono passati per valore: la funzione riceve una copia.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2085677"/>
          <a:ext cx="5333867" cy="914400"/>
        </p:xfrm>
        <a:graphic>
          <a:graphicData uri="http://schemas.openxmlformats.org/drawingml/2006/table">
            <a:tbl>
              <a:tblPr/>
              <a:tblGrid>
                <a:gridCol w="2666933"/>
                <a:gridCol w="266693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Chiamante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x = 5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n = 5 (copia)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x resta 5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 = 10, poi scompare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48244" y="3375918"/>
            <a:ext cx="5333867" cy="942181"/>
          </a:xfrm>
          <a:prstGeom prst="roundRect">
            <a:avLst>
              <a:gd name="adj" fmla="val 1213"/>
            </a:avLst>
          </a:prstGeom>
          <a:solidFill>
            <a:srgbClr val="DCEFD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039" y="3633093"/>
            <a:ext cx="222244" cy="177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26079" y="3607376"/>
            <a:ext cx="457823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Modificare un parametro non cambia mai la variabile del chiamante.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Valore di Ritorno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434405"/>
            <a:ext cx="5689458" cy="2062361"/>
          </a:xfrm>
          <a:prstGeom prst="roundRect">
            <a:avLst>
              <a:gd name="adj" fmla="val 554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00" y="1612523"/>
            <a:ext cx="5262828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media(int a, int b, int c)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risultato;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risultato = (a + b + c) / 3.0;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risultato;            /* unica return, alla fine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3696791"/>
            <a:ext cx="5689458" cy="1191022"/>
          </a:xfrm>
          <a:prstGeom prst="roundRect">
            <a:avLst>
              <a:gd name="adj" fmla="val 960"/>
            </a:avLst>
          </a:prstGeom>
          <a:solidFill>
            <a:srgbClr val="DCEFD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380" y="3953966"/>
            <a:ext cx="222244" cy="177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7420" y="3928249"/>
            <a:ext cx="49338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Errore tipico: return multipli nei rami di un if. Si assegna il valore nei rami e si restituisce una volta sola.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03736" y="1243588"/>
            <a:ext cx="497837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valore restituito si può usare: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03736" y="1587996"/>
            <a:ext cx="4978375" cy="83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un'assegnazione: m = media(7, 8, 6);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una printf: printf("%.2f", media(7, 8, 6));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un'espressione: totale = media(7, 8, 6) * 2;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3736" y="2537401"/>
            <a:ext cx="497837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Regola del corso: una sola return per funzione. Il risultato si accumula in una variabile locale e si restituisce alla fine.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Parametri Multipli e Responsabilità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434405"/>
            <a:ext cx="6045049" cy="2915741"/>
          </a:xfrm>
          <a:prstGeom prst="roundRect">
            <a:avLst>
              <a:gd name="adj" fmla="val 392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00" y="1612523"/>
            <a:ext cx="5618419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area_trapezio(double base_maggiore, double base_minore, double altezza)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area;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area = (base_maggiore + base_minore) * altezza / 2.0;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area;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area_trapezio(8.0, 5.0, 4.0);   /* l'ordine conta */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959327" y="1234380"/>
            <a:ext cx="4622784" cy="1537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Gli argomenti si abbinano ai parametri per posizione, non per nome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Separazione delle responsabilità: le funzioni di calcolo restituiscono il risultato, non stampano; la stampa è compito del main o di funzioni dedicate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59327" y="2924274"/>
            <a:ext cx="4622784" cy="1191022"/>
          </a:xfrm>
          <a:prstGeom prst="roundRect">
            <a:avLst>
              <a:gd name="adj" fmla="val 960"/>
            </a:avLst>
          </a:prstGeom>
          <a:solidFill>
            <a:srgbClr val="DCEFD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122" y="3181449"/>
            <a:ext cx="222244" cy="17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37162" y="3155732"/>
            <a:ext cx="386715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Firme uniformi: funzioni che fanno operazioni simili hanno gli stessi parametri nello stesso ordine.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Indirizzi e Puntatori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533386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Ogni variabile occupa una cella di memoria con un indirizzo. Un puntatore è una variabile che contiene un indirizzo.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2180927"/>
            <a:ext cx="5333867" cy="1777901"/>
          </a:xfrm>
          <a:prstGeom prst="roundRect">
            <a:avLst>
              <a:gd name="adj" fmla="val 643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359045"/>
            <a:ext cx="4907237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eta = 25;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*p = &amp;eta;       /* p punta a eta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 = 30;             /* modifica eta tramite p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printf("%d\n", eta); /* stampa 30 */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1234380"/>
          <a:ext cx="5333867" cy="914400"/>
        </p:xfrm>
        <a:graphic>
          <a:graphicData uri="http://schemas.openxmlformats.org/drawingml/2006/table">
            <a:tbl>
              <a:tblPr/>
              <a:tblGrid>
                <a:gridCol w="1333467"/>
                <a:gridCol w="1866853"/>
                <a:gridCol w="2133547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Operatore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Nome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Significato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&amp;x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indirizzo-di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l'indirizzo di x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*p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dereferenziazione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il valore all'indirizzo contenuto in p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48244" y="2846487"/>
            <a:ext cx="5333867" cy="1191022"/>
          </a:xfrm>
          <a:prstGeom prst="roundRect">
            <a:avLst>
              <a:gd name="adj" fmla="val 960"/>
            </a:avLst>
          </a:prstGeom>
          <a:solidFill>
            <a:srgbClr val="DCEFD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039" y="3103662"/>
            <a:ext cx="222244" cy="177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26079" y="3077944"/>
            <a:ext cx="457823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questo capitolo i puntatori servono solo per il passaggio per riferimento. Il capitolo 05 li tratta in modo completo.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Passaggio per Riferimento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497827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modificare una variabile del chiamante, la funzione riceve il suo indirizzo.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1932087"/>
            <a:ext cx="4978275" cy="2631281"/>
          </a:xfrm>
          <a:prstGeom prst="roundRect">
            <a:avLst>
              <a:gd name="adj" fmla="val 434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110204"/>
            <a:ext cx="4551646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raddoppia(int *n)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*n = *n * 2;          /* modifica la variabile puntata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5;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raddoppia(&amp;x);            /* si passa l'indirizzo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printf("%d\n", x);        /* stampa 10 */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2553" y="1234380"/>
          <a:ext cx="5689557" cy="914400"/>
        </p:xfrm>
        <a:graphic>
          <a:graphicData uri="http://schemas.openxmlformats.org/drawingml/2006/table">
            <a:tbl>
              <a:tblPr/>
              <a:tblGrid>
                <a:gridCol w="1593016"/>
                <a:gridCol w="2048221"/>
                <a:gridCol w="2048320"/>
              </a:tblGrid>
              <a:tr h="397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Per valore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Per riferimento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chiamata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f(x)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f(&amp;x)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parametro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*n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accesso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*n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effetto su x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nessuno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x viene modificata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92553" y="3341390"/>
            <a:ext cx="5689557" cy="942181"/>
          </a:xfrm>
          <a:prstGeom prst="roundRect">
            <a:avLst>
              <a:gd name="adj" fmla="val 1213"/>
            </a:avLst>
          </a:prstGeom>
          <a:solidFill>
            <a:srgbClr val="DCEFD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0349" y="3598565"/>
            <a:ext cx="222244" cy="177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70389" y="3572847"/>
            <a:ext cx="49339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Errore tipico: chiamare raddoppia(x) invece di raddoppia(&amp;x). Il compilatore segnala il tipo sbagliato.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Parametri IN e 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568945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il passaggio per riferimento una funzione può "restituire" più risultati.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1932087"/>
            <a:ext cx="5689458" cy="2346821"/>
          </a:xfrm>
          <a:prstGeom prst="roundRect">
            <a:avLst>
              <a:gd name="adj" fmla="val 487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110204"/>
            <a:ext cx="5262828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dividi(int a, int b, int *quoziente, int *resto)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    /* IN     IN     OUT            OUT      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*quoziente = a / b;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*resto = a % b;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dividi(17, 5, &amp;q, &amp;r);    /* q = 3, r = 2 */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3736" y="1234380"/>
          <a:ext cx="4978375" cy="914400"/>
        </p:xfrm>
        <a:graphic>
          <a:graphicData uri="http://schemas.openxmlformats.org/drawingml/2006/table">
            <a:tbl>
              <a:tblPr/>
              <a:tblGrid>
                <a:gridCol w="995635"/>
                <a:gridCol w="2489138"/>
                <a:gridCol w="1493602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Uso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Passaggio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dato in ingresso, solo letto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per valore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OUT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risultato scritto dalla 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per riferimento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03736" y="3095327"/>
            <a:ext cx="4978375" cy="1191022"/>
          </a:xfrm>
          <a:prstGeom prst="roundRect">
            <a:avLst>
              <a:gd name="adj" fmla="val 960"/>
            </a:avLst>
          </a:prstGeom>
          <a:solidFill>
            <a:srgbClr val="DCEFD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1531" y="3352502"/>
            <a:ext cx="222244" cy="177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81571" y="3326785"/>
            <a:ext cx="422274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Esempio classico: scambia(&amp;a, &amp;b). Con il passaggio per valore lo scambio sarebbe impossibile.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Variabili Locali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variabile dichiarata in una funzione o in un blocco { } è locale: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585" y="1836837"/>
            <a:ext cx="5333867" cy="1084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è visibile solo in quel blocco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viene creata quando l'esecuzione entra nel blocco e distrutta all'uscita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non conserva il valore tra una chiamata e la successiva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48244" y="1434405"/>
            <a:ext cx="5333867" cy="2915741"/>
          </a:xfrm>
          <a:prstGeom prst="roundRect">
            <a:avLst>
              <a:gd name="adj" fmla="val 39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61559" y="1612523"/>
            <a:ext cx="4907237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funzione_a(void)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x = 10;      /* x di funzione_a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funzione_b(void)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x = 99;      /* un'altra x, indipendente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4550172"/>
            <a:ext cx="5333867" cy="942181"/>
          </a:xfrm>
          <a:prstGeom prst="roundRect">
            <a:avLst>
              <a:gd name="adj" fmla="val 1213"/>
            </a:avLst>
          </a:prstGeom>
          <a:solidFill>
            <a:srgbClr val="DCEFD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039" y="4807347"/>
            <a:ext cx="222244" cy="177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26079" y="4781629"/>
            <a:ext cx="457823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Stesso nome in funzioni diverse = variabili diverse, in celle di memoria diverse.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Variabili Globali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497827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variabile dichiarata fuori da ogni funzione è globale: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585" y="1836837"/>
            <a:ext cx="4978275" cy="83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è visibile in tutte le funzioni del file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esiste per tutta la durata del programma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non inizializzata vale 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872284"/>
            <a:ext cx="4978275" cy="2062361"/>
          </a:xfrm>
          <a:prstGeom prst="roundRect">
            <a:avLst>
              <a:gd name="adj" fmla="val 55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00" y="3050401"/>
            <a:ext cx="4551646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errori = 0;            /* globale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segnala_errore(void)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errori++;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2553" y="1732756"/>
          <a:ext cx="5689557" cy="914400"/>
        </p:xfrm>
        <a:graphic>
          <a:graphicData uri="http://schemas.openxmlformats.org/drawingml/2006/table">
            <a:tbl>
              <a:tblPr/>
              <a:tblGrid>
                <a:gridCol w="2844729"/>
                <a:gridCol w="2844828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Quando usarle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Quando evitarle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74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stato condiviso da più funzioni che deve persistere (contatori, min/max accumulati)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per evitare di passare parametri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892553" y="3445272"/>
            <a:ext cx="5689557" cy="1191022"/>
          </a:xfrm>
          <a:prstGeom prst="roundRect">
            <a:avLst>
              <a:gd name="adj" fmla="val 960"/>
            </a:avLst>
          </a:prstGeom>
          <a:solidFill>
            <a:srgbClr val="DCEFD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0349" y="3702447"/>
            <a:ext cx="222244" cy="177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70389" y="3676729"/>
            <a:ext cx="493392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Qualsiasi funzione può modificare una globale: il programma diventa più difficile da leggere e da verificare.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Shadowing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3588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variabile locale con lo stesso nome di una globale la oscura nel proprio scope.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585" y="1841996"/>
            <a:ext cx="4978275" cy="2346821"/>
          </a:xfrm>
          <a:prstGeom prst="roundRect">
            <a:avLst>
              <a:gd name="adj" fmla="val 487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00" y="2020114"/>
            <a:ext cx="4551646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valore = 100;          /* globale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funzione(void)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valore = 5;        /* locale: oscura la globale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valore++;              /* modifica la locale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                       /* la globale resta 100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92553" y="1841996"/>
            <a:ext cx="5689557" cy="2346821"/>
          </a:xfrm>
          <a:prstGeom prst="roundRect">
            <a:avLst>
              <a:gd name="adj" fmla="val 487"/>
            </a:avLst>
          </a:prstGeom>
          <a:solidFill>
            <a:srgbClr val="F2EDED"/>
          </a:solidFill>
          <a:ln/>
        </p:spPr>
      </p:sp>
      <p:sp>
        <p:nvSpPr>
          <p:cNvPr id="7" name="Text 5"/>
          <p:cNvSpPr/>
          <p:nvPr/>
        </p:nvSpPr>
        <p:spPr>
          <a:xfrm>
            <a:off x="6105868" y="2020114"/>
            <a:ext cx="5262927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globale;              visibile in tutto il file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f(void)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 locale;         visibile solo in f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int interna;    visibile solo nel blocco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92553" y="4388842"/>
            <a:ext cx="5689557" cy="1191022"/>
          </a:xfrm>
          <a:prstGeom prst="roundRect">
            <a:avLst>
              <a:gd name="adj" fmla="val 960"/>
            </a:avLst>
          </a:prstGeom>
          <a:solidFill>
            <a:srgbClr val="DCEFD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0349" y="4646017"/>
            <a:ext cx="222244" cy="177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70389" y="4620300"/>
            <a:ext cx="493392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shadowing è legale ma va evitato: si crede di modificare la globale e si modifica la copia locale. Usare nomi distinti.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34380"/>
            <a:ext cx="5410065" cy="1135856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4" name="Shape 2"/>
          <p:cNvSpPr/>
          <p:nvPr/>
        </p:nvSpPr>
        <p:spPr>
          <a:xfrm>
            <a:off x="787380" y="1361380"/>
            <a:ext cx="323346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5328" y="1441351"/>
            <a:ext cx="717036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7380" y="1754763"/>
            <a:ext cx="50544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Chiamare una funzione prima di definirla senza prototipo.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234380"/>
            <a:ext cx="5410065" cy="1135856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8" name="Shape 6"/>
          <p:cNvSpPr/>
          <p:nvPr/>
        </p:nvSpPr>
        <p:spPr>
          <a:xfrm>
            <a:off x="6349841" y="1361380"/>
            <a:ext cx="323346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57788" y="1441351"/>
            <a:ext cx="717036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841" y="1754763"/>
            <a:ext cx="50544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il valore di una funzione void o ignorare quello di una funzione che restituisce un risultato.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585" y="2522537"/>
            <a:ext cx="5410065" cy="1135856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12" name="Shape 10"/>
          <p:cNvSpPr/>
          <p:nvPr/>
        </p:nvSpPr>
        <p:spPr>
          <a:xfrm>
            <a:off x="787380" y="2649538"/>
            <a:ext cx="323346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5328" y="2729508"/>
            <a:ext cx="717036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7380" y="3042920"/>
            <a:ext cx="50544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Aspettarsi che modificare un parametro cambi la variabile del chiamante.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046" y="2522537"/>
            <a:ext cx="5410065" cy="1135856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16" name="Shape 14"/>
          <p:cNvSpPr/>
          <p:nvPr/>
        </p:nvSpPr>
        <p:spPr>
          <a:xfrm>
            <a:off x="6349841" y="2649538"/>
            <a:ext cx="323346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57788" y="2729508"/>
            <a:ext cx="717036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49841" y="3042920"/>
            <a:ext cx="50544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Passare x invece di &amp;x a una funzione che vuole un indirizzo.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9585" y="3810695"/>
            <a:ext cx="5410065" cy="1135856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20" name="Shape 18"/>
          <p:cNvSpPr/>
          <p:nvPr/>
        </p:nvSpPr>
        <p:spPr>
          <a:xfrm>
            <a:off x="787380" y="3937695"/>
            <a:ext cx="323346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5328" y="4017665"/>
            <a:ext cx="717036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7380" y="4331077"/>
            <a:ext cx="523226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Più return nella stessa funzione.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046" y="3810695"/>
            <a:ext cx="5410065" cy="1135856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24" name="Shape 22"/>
          <p:cNvSpPr/>
          <p:nvPr/>
        </p:nvSpPr>
        <p:spPr>
          <a:xfrm>
            <a:off x="6349841" y="3937695"/>
            <a:ext cx="323346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57788" y="4017665"/>
            <a:ext cx="717036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49841" y="4331077"/>
            <a:ext cx="50544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Variabile locale con lo stesso nome di una globale (shadowing).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241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234380"/>
          <a:ext cx="10972526" cy="914400"/>
        </p:xfrm>
        <a:graphic>
          <a:graphicData uri="http://schemas.openxmlformats.org/drawingml/2006/table">
            <a:tbl>
              <a:tblPr/>
              <a:tblGrid>
                <a:gridCol w="3291698"/>
                <a:gridCol w="3291698"/>
                <a:gridCol w="4389129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Suddividere il programma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funzioni void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una funzione = un compito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Chiamare prima di definire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prototipo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termina con 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Fornire dati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parametri per valore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funzione riceve una copia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Restituire un risultato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return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una sola, alla fine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Modificare il chiamante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parametro int *p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chiamata con &amp;x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Più risultati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parametri OUT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 per valore, OUT per riferimento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Dati temporanei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variabili locali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vivono solo nel blocco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Stato condiviso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variabili globali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 cautela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Nomi uguali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evitare lo shadowing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nomi distinti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Definizione e Chiamata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03244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sulle prime funzioni.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895277"/>
            <a:ext cx="3454314" cy="2108994"/>
          </a:xfrm>
          <a:prstGeom prst="roundRect">
            <a:avLst>
              <a:gd name="adj" fmla="val 542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098477"/>
            <a:ext cx="3098722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010-prima-funzione.c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definire e chiamare una funzione.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funzioni void senza parametri (benvenuto, separatore, arrivederci) chiamate dal main.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8691" y="1895277"/>
            <a:ext cx="3454314" cy="2108994"/>
          </a:xfrm>
          <a:prstGeom prst="roundRect">
            <a:avLst>
              <a:gd name="adj" fmla="val 542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4546486" y="2098477"/>
            <a:ext cx="3098722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020-prototipo.c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chiamare una funzione definita più in basso.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prototipi in cima al file, main prima delle definizioni.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7797" y="1895277"/>
            <a:ext cx="3454314" cy="2108994"/>
          </a:xfrm>
          <a:prstGeom prst="roundRect">
            <a:avLst>
              <a:gd name="adj" fmla="val 542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8305592" y="2098477"/>
            <a:ext cx="3098722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030-funzioni-void.c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organizzare un documento complesso.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funzioni void composte che chiamano altre funzioni.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Definizione e Chiamata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890216"/>
            <a:ext cx="5333867" cy="1268512"/>
          </a:xfrm>
          <a:prstGeom prst="roundRect">
            <a:avLst>
              <a:gd name="adj" fmla="val 901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106661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Menu ristorante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38179" y="2467054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funzione per ogni sezione del menu; per cambiare i primi si modifica solo stampa_primi().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1890216"/>
            <a:ext cx="5333867" cy="1268512"/>
          </a:xfrm>
          <a:prstGeom prst="roundRect">
            <a:avLst>
              <a:gd name="adj" fmla="val 90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476838" y="2106661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Ricevuta di cassa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76838" y="2467054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Intestazione, prodotti, riepilogo IVA e piede gestiti da funzioni separate.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3463528"/>
            <a:ext cx="10972526" cy="1019671"/>
          </a:xfrm>
          <a:prstGeom prst="roundRect">
            <a:avLst>
              <a:gd name="adj" fmla="val 1121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3679973"/>
            <a:ext cx="105153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Disegno di forme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8179" y="4040366"/>
            <a:ext cx="1074393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Rettangolo, triangolo e cornice in ASCII art, una funzione per forma.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Parametri e Return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03244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ingresso e uscita dei dati.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895277"/>
            <a:ext cx="3454314" cy="2357834"/>
          </a:xfrm>
          <a:prstGeom prst="roundRect">
            <a:avLst>
              <a:gd name="adj" fmla="val 485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098477"/>
            <a:ext cx="3098722" cy="1951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010-parametri-per-valore.c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capire che cosa riceve una funzione.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copia del parametro, variabile del chiamante invariata, conversione di temperatura.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8691" y="1895277"/>
            <a:ext cx="3454314" cy="2357834"/>
          </a:xfrm>
          <a:prstGeom prst="roundRect">
            <a:avLst>
              <a:gd name="adj" fmla="val 485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4546486" y="2098477"/>
            <a:ext cx="3098722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020-valore-di-ritorno.c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restituire un risultato.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return con int, double e char (somma, media, valore assoluto, maiuscolo).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7797" y="1895277"/>
            <a:ext cx="3454314" cy="2357834"/>
          </a:xfrm>
          <a:prstGeom prst="roundRect">
            <a:avLst>
              <a:gd name="adj" fmla="val 485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8305592" y="2098477"/>
            <a:ext cx="3098722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030-parametri-multipli.c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funzioni con più dati in ingresso.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2, 3 e 4 parametri; ordine degli argomenti; area del trapezio, massimo tra tre.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Parametri e Return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890216"/>
            <a:ext cx="5333867" cy="1268512"/>
          </a:xfrm>
          <a:prstGeom prst="roundRect">
            <a:avLst>
              <a:gd name="adj" fmla="val 901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106661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Calcolatrice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38179" y="2467054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funzione per operazione; nessuna funzione di calcolo stampa; divisione per zero gestita.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1890216"/>
            <a:ext cx="5333867" cy="1268512"/>
          </a:xfrm>
          <a:prstGeom prst="roundRect">
            <a:avLst>
              <a:gd name="adj" fmla="val 90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476838" y="2106661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Conversione di unità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76838" y="2467054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Menu con 10 conversioni di lunghezza, massa e temperatura, una funzione ciascuna.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3463528"/>
            <a:ext cx="10972526" cy="1019671"/>
          </a:xfrm>
          <a:prstGeom prst="roundRect">
            <a:avLst>
              <a:gd name="adj" fmla="val 1121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3679973"/>
            <a:ext cx="105153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Analisi voti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8179" y="4040366"/>
            <a:ext cx="1074393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Cinque voti come parametri: media, minimo, massimo, promozione e giudizio.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Passaggio per Riferimento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03244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indirizzi e puntatori.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895277"/>
            <a:ext cx="3454314" cy="2357834"/>
          </a:xfrm>
          <a:prstGeom prst="roundRect">
            <a:avLst>
              <a:gd name="adj" fmla="val 485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098477"/>
            <a:ext cx="3098722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010-introduzione-ai-puntatori.c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che cos'è un indirizzo.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operatori &amp; e *, modifica di una variabile tramite puntatore.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8691" y="1895277"/>
            <a:ext cx="3454314" cy="2357834"/>
          </a:xfrm>
          <a:prstGeom prst="roundRect">
            <a:avLst>
              <a:gd name="adj" fmla="val 485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4546486" y="2098477"/>
            <a:ext cx="3098722" cy="1951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020-modifica-tramite-puntatore.c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modificare la variabile del chiamante.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raddoppia per valore e per riferimento a confronto; incrementa, azzera.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7797" y="1895277"/>
            <a:ext cx="3454314" cy="2357834"/>
          </a:xfrm>
          <a:prstGeom prst="roundRect">
            <a:avLst>
              <a:gd name="adj" fmla="val 485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8305592" y="2098477"/>
            <a:ext cx="3098722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030-parametri-misti.c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restituire più risultati.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parametri IN e OUT; dividi, minimo e massimo, Celsius in Fahrenheit e Kelvin.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il Passaggio per Riferimento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890216"/>
            <a:ext cx="5333867" cy="1268512"/>
          </a:xfrm>
          <a:prstGeom prst="roundRect">
            <a:avLst>
              <a:gd name="adj" fmla="val 901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106661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Scambio di valori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38179" y="2467054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scambia(&amp;a, &amp;b) con variabile temporanea; ordinamento di tre interi.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1890216"/>
            <a:ext cx="5333867" cy="1268512"/>
          </a:xfrm>
          <a:prstGeom prst="roundRect">
            <a:avLst>
              <a:gd name="adj" fmla="val 90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476838" y="2106661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Minimo e massimo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76838" y="2467054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Cinque misurazioni: minimo e massimo in una sola chiamata, media ed escursione.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3463528"/>
            <a:ext cx="10972526" cy="1019671"/>
          </a:xfrm>
          <a:prstGeom prst="roundRect">
            <a:avLst>
              <a:gd name="adj" fmla="val 1121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3679973"/>
            <a:ext cx="105153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Divisione intera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8179" y="4040366"/>
            <a:ext cx="1074393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Secondi in ore, minuti e secondi; centesimi in euro e centesimi.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Scope e Visibilità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03244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sulla vita e sulla visibilità delle variabili.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895277"/>
            <a:ext cx="3454314" cy="2108994"/>
          </a:xfrm>
          <a:prstGeom prst="roundRect">
            <a:avLst>
              <a:gd name="adj" fmla="val 542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098477"/>
            <a:ext cx="3098722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010-variabili-locali.c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dove esiste una variabile.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stesso nome in funzioni diverse, blocchi annidati.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8691" y="1895277"/>
            <a:ext cx="3454314" cy="2108994"/>
          </a:xfrm>
          <a:prstGeom prst="roundRect">
            <a:avLst>
              <a:gd name="adj" fmla="val 542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4546486" y="2098477"/>
            <a:ext cx="3098722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020-variabili-globali.c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condividere uno stato tra funzioni.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globale modificata da aggiungi, sottrai, azzera; inizializzazione a 0.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7797" y="1895277"/>
            <a:ext cx="3454314" cy="2108994"/>
          </a:xfrm>
          <a:prstGeom prst="roundRect">
            <a:avLst>
              <a:gd name="adj" fmla="val 542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8305592" y="2098477"/>
            <a:ext cx="3098722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030-shadowing.c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nomi uguali in scope diversi.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una locale oscura la globale; effetti e come evitarlo.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206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Scope e Visibilità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443236"/>
            <a:ext cx="5333867" cy="1268512"/>
          </a:xfrm>
          <a:prstGeom prst="roundRect">
            <a:avLst>
              <a:gd name="adj" fmla="val 901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1659680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Contatore di chiamate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38179" y="2020074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Contatori globali per diagnosticare quante volte viene chiamata ogni funzione.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1443236"/>
            <a:ext cx="5333867" cy="1268512"/>
          </a:xfrm>
          <a:prstGeom prst="roundRect">
            <a:avLst>
              <a:gd name="adj" fmla="val 90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476838" y="1659680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Temperatura giornaliera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76838" y="2020074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Stazione meteo: minimo e massimo globali aggiornati a ogni rilevazione.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3016548"/>
            <a:ext cx="10972526" cy="1019671"/>
          </a:xfrm>
          <a:prstGeom prst="roundRect">
            <a:avLst>
              <a:gd name="adj" fmla="val 1121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3232992"/>
            <a:ext cx="105153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Validazione input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8179" y="3593386"/>
            <a:ext cx="1074393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funzione per campo e un contatore globale di errori decide l'esito del modulo.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2026-10-11T14:14:30Z</dcterms:created>
  <dcterms:modified xsi:type="dcterms:W3CDTF">2026-10-11T14:14:30Z</dcterms:modified>
</cp:coreProperties>
</file>