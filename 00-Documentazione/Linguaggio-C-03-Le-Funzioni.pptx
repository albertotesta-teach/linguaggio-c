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tru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1695" cy="6858000"/>
  <p:notesSz cx="6858000" cy="12191695"/>
  <p:embeddedFontLst>
    <p:embeddedFont>
      <p:font typeface="Verdana"/>
      <p:regular r:id="rId201314"/>
    </p:embeddedFont>
    <p:embeddedFont>
      <p:font typeface="Verdana Bold"/>
      <p:regular r:id="rId20131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201314" Target="fonts/201314.fntdata" Type="http://schemas.openxmlformats.org/officeDocument/2006/relationships/font"/><Relationship Id="rId201315" Target="fonts/201315.fntdata" Type="http://schemas.openxmlformats.org/officeDocument/2006/relationships/font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2371791"/>
            <a:ext cx="6095848" cy="6146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Le Funzioni in C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09585" y="3178790"/>
            <a:ext cx="6095848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6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Definizione e chiamata, parametri e valore di ritorno, passaggio per riferimento, scope e visibilità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09585" y="4042668"/>
            <a:ext cx="6095848" cy="473373"/>
          </a:xfrm>
          <a:prstGeom prst="roundRect">
            <a:avLst>
              <a:gd name="adj" fmla="val 12877"/>
            </a:avLst>
          </a:prstGeom>
          <a:solidFill>
            <a:srgbClr val="1B4D20"/>
          </a:solidFill>
          <a:ln/>
        </p:spPr>
      </p:sp>
      <p:sp>
        <p:nvSpPr>
          <p:cNvPr id="5" name="Shape 3"/>
          <p:cNvSpPr/>
          <p:nvPr/>
        </p:nvSpPr>
        <p:spPr>
          <a:xfrm>
            <a:off x="812780" y="4144268"/>
            <a:ext cx="1310250" cy="270173"/>
          </a:xfrm>
          <a:prstGeom prst="roundRect">
            <a:avLst>
              <a:gd name="adj" fmla="val 4231"/>
            </a:avLst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9437" y="4201359"/>
            <a:ext cx="1706520" cy="1636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LINGUAGGIO C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211927" y="4144268"/>
            <a:ext cx="940372" cy="270173"/>
          </a:xfrm>
          <a:prstGeom prst="roundRect">
            <a:avLst>
              <a:gd name="adj" fmla="val 4231"/>
            </a:avLst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318585" y="4201359"/>
            <a:ext cx="1336642" cy="1636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FUNZIONI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41197" y="4144268"/>
            <a:ext cx="2477232" cy="270173"/>
          </a:xfrm>
          <a:prstGeom prst="roundRect">
            <a:avLst>
              <a:gd name="adj" fmla="val 4231"/>
            </a:avLst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47855" y="4201359"/>
            <a:ext cx="2873502" cy="1636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PROGRAMMAZIONE MODULARE</a:t>
            </a:r>
            <a:endParaRPr lang="en-US" sz="11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017" y="0"/>
            <a:ext cx="4876678" cy="6858000"/>
          </a:xfrm>
          <a:prstGeom prst="rect">
            <a:avLst/>
          </a:prstGeom>
        </p:spPr>
      </p:pic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32411"/>
            <a:ext cx="10972526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Cos'è una Funzione?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09585" y="1243588"/>
            <a:ext cx="5333867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Una funzione è un blocco di codice con un nome, che può essere chiamato da qualsiasi punto del programma.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09585" y="1932087"/>
            <a:ext cx="5333867" cy="1493441"/>
          </a:xfrm>
          <a:prstGeom prst="roundRect">
            <a:avLst>
              <a:gd name="adj" fmla="val 765"/>
            </a:avLst>
          </a:prstGeom>
          <a:solidFill>
            <a:srgbClr val="F2EDED"/>
          </a:solidFill>
          <a:ln/>
        </p:spPr>
      </p:sp>
      <p:sp>
        <p:nvSpPr>
          <p:cNvPr id="5" name="Text 3"/>
          <p:cNvSpPr/>
          <p:nvPr/>
        </p:nvSpPr>
        <p:spPr>
          <a:xfrm>
            <a:off x="822900" y="2110204"/>
            <a:ext cx="4907237" cy="1137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tipo_ritorno nome_funzione(tipo param1, tipo param2)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istruzioni;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09585" y="3625552"/>
            <a:ext cx="5333867" cy="1191022"/>
          </a:xfrm>
          <a:prstGeom prst="roundRect">
            <a:avLst>
              <a:gd name="adj" fmla="val 960"/>
            </a:avLst>
          </a:prstGeom>
          <a:solidFill>
            <a:srgbClr val="DCEFDC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380" y="3882727"/>
            <a:ext cx="222244" cy="1778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87420" y="3857010"/>
            <a:ext cx="4578235" cy="7465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Una funzione = un compito. Il nome è un verbo in italiano che descrive cosa fa: stampa_menu, calcola_media, scambia.</a:t>
            </a:r>
            <a:endParaRPr lang="en-US" sz="1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8244" y="1860848"/>
          <a:ext cx="5333867" cy="914400"/>
        </p:xfrm>
        <a:graphic>
          <a:graphicData uri="http://schemas.openxmlformats.org/drawingml/2006/table">
            <a:tbl>
              <a:tblPr/>
              <a:tblGrid>
                <a:gridCol w="1866853"/>
                <a:gridCol w="3467013"/>
              </a:tblGrid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Obiettivo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Che cosa significa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60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Suddividere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un problema complesso diventa una serie di compiti piccoli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60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Riutilizzare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lo stesso codice si scrive una volta e si chiama più volte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397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Isolare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ogni funzione ha una sola responsabilità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1502936" y="6466086"/>
            <a:ext cx="688759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32411"/>
            <a:ext cx="10972526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Definizione e Chiamata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09585" y="1434405"/>
            <a:ext cx="6045049" cy="3769122"/>
          </a:xfrm>
          <a:prstGeom prst="roundRect">
            <a:avLst>
              <a:gd name="adj" fmla="val 303"/>
            </a:avLst>
          </a:prstGeom>
          <a:solidFill>
            <a:srgbClr val="F2EDED"/>
          </a:solidFill>
          <a:ln/>
        </p:spPr>
      </p:sp>
      <p:sp>
        <p:nvSpPr>
          <p:cNvPr id="4" name="Text 2"/>
          <p:cNvSpPr/>
          <p:nvPr/>
        </p:nvSpPr>
        <p:spPr>
          <a:xfrm>
            <a:off x="822900" y="1612523"/>
            <a:ext cx="5618419" cy="34135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stampa_separatore(void)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printf("--------------------\n");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main(void)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stampa_separatore();     /* chiamata */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printf("Benvenuti\n");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stampa_separatore();     /* stessa funzione, riusata */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0;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959327" y="1243588"/>
            <a:ext cx="4622784" cy="7465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Quando una funzione viene chiamata, l'esecuzione salta al suo corpo; al termine torna all'istruzione successiva alla chiamata.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59327" y="2085677"/>
          <a:ext cx="4622784" cy="914400"/>
        </p:xfrm>
        <a:graphic>
          <a:graphicData uri="http://schemas.openxmlformats.org/drawingml/2006/table">
            <a:tbl>
              <a:tblPr/>
              <a:tblGrid>
                <a:gridCol w="2080168"/>
                <a:gridCol w="2542615"/>
              </a:tblGrid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Elemento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Esempio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tipo di ritorno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void, int, double, char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nome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stampa_separatore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parametri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(void) se non ce ne sono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959327" y="3820815"/>
            <a:ext cx="4622784" cy="1191022"/>
          </a:xfrm>
          <a:prstGeom prst="roundRect">
            <a:avLst>
              <a:gd name="adj" fmla="val 960"/>
            </a:avLst>
          </a:prstGeom>
          <a:solidFill>
            <a:srgbClr val="DCEFDC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7122" y="4077990"/>
            <a:ext cx="222244" cy="1778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537162" y="4052272"/>
            <a:ext cx="3867152" cy="7465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Errore tipico: dimenticare le parentesi. stampa_separatore; senza () non chiama la funzione.</a:t>
            </a:r>
            <a:endParaRPr lang="en-US" sz="14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1502936" y="6466086"/>
            <a:ext cx="688759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32411"/>
            <a:ext cx="10972526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Il Prototipo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09585" y="1434405"/>
            <a:ext cx="6045049" cy="3769122"/>
          </a:xfrm>
          <a:prstGeom prst="roundRect">
            <a:avLst>
              <a:gd name="adj" fmla="val 303"/>
            </a:avLst>
          </a:prstGeom>
          <a:solidFill>
            <a:srgbClr val="F2EDED"/>
          </a:solidFill>
          <a:ln/>
        </p:spPr>
      </p:sp>
      <p:sp>
        <p:nvSpPr>
          <p:cNvPr id="4" name="Text 2"/>
          <p:cNvSpPr/>
          <p:nvPr/>
        </p:nvSpPr>
        <p:spPr>
          <a:xfrm>
            <a:off x="822900" y="1612523"/>
            <a:ext cx="5618419" cy="34135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stampa_titolo(void);        /* prototipo: termina con ; */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main(void)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stampa_titolo();             /* il compilatore conosce già la firma */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0;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stampa_titolo(void)         /* definizione completa */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printf("=== Report ===\n");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959327" y="2270502"/>
            <a:ext cx="4622784" cy="7465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Il compilatore legge il file dall'alto in basso: una funzione chiamata prima di essere definita è sconosciuta. Il prototipo la dichiara in anticipo.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959327" y="3185616"/>
            <a:ext cx="4622784" cy="1191022"/>
          </a:xfrm>
          <a:prstGeom prst="roundRect">
            <a:avLst>
              <a:gd name="adj" fmla="val 960"/>
            </a:avLst>
          </a:prstGeom>
          <a:solidFill>
            <a:srgbClr val="DCEFDC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7122" y="3442791"/>
            <a:ext cx="222244" cy="1778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537162" y="3417074"/>
            <a:ext cx="3867152" cy="7465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 i prototipi in cima al file, il main può stare subito dopo e si legge come un indice del programma.</a:t>
            </a:r>
            <a:endParaRPr lang="en-US" sz="14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502936" y="6466086"/>
            <a:ext cx="688759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1054786"/>
            <a:ext cx="10972526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Funzioni void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09585" y="1856780"/>
            <a:ext cx="5689458" cy="3769122"/>
          </a:xfrm>
          <a:prstGeom prst="roundRect">
            <a:avLst>
              <a:gd name="adj" fmla="val 303"/>
            </a:avLst>
          </a:prstGeom>
          <a:solidFill>
            <a:srgbClr val="F2EDED"/>
          </a:solidFill>
          <a:ln/>
        </p:spPr>
      </p:sp>
      <p:sp>
        <p:nvSpPr>
          <p:cNvPr id="4" name="Text 2"/>
          <p:cNvSpPr/>
          <p:nvPr/>
        </p:nvSpPr>
        <p:spPr>
          <a:xfrm>
            <a:off x="822900" y="2034897"/>
            <a:ext cx="5262828" cy="34135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stampa_intestazione(void)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printf("TRATTORIA DA LUIGI\n");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printf("Via Roma 12, Milano\n");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stampa_menu_completo(void)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stampa_intestazione();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stampa_primi();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stampa_dolci();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603736" y="1665962"/>
            <a:ext cx="4978375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Le funzioni void non restituiscono un valore: producono effetti, come stampare a schermo.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603736" y="2259211"/>
            <a:ext cx="4978375" cy="10398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Una funzione può chiamarne altre: il programma si costruisce a livelli</a:t>
            </a:r>
            <a:endParaRPr lang="en-US" sz="1400" dirty="0"/>
          </a:p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 modificare una sezione si interviene in un solo punto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603736" y="3426023"/>
            <a:ext cx="4978375" cy="1191022"/>
          </a:xfrm>
          <a:prstGeom prst="roundRect">
            <a:avLst>
              <a:gd name="adj" fmla="val 960"/>
            </a:avLst>
          </a:prstGeom>
          <a:solidFill>
            <a:srgbClr val="DCEFDC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81531" y="3683198"/>
            <a:ext cx="222244" cy="1778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181571" y="3657481"/>
            <a:ext cx="4222744" cy="7465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Una funzione void non si usa in un'espressione: x = stampa_intestazione(); è un errore.</a:t>
            </a:r>
            <a:endParaRPr lang="en-US" sz="14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502936" y="6466086"/>
            <a:ext cx="688759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32411"/>
            <a:ext cx="10972526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Parametri per Valore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09585" y="1434405"/>
            <a:ext cx="5333867" cy="2631281"/>
          </a:xfrm>
          <a:prstGeom prst="roundRect">
            <a:avLst>
              <a:gd name="adj" fmla="val 434"/>
            </a:avLst>
          </a:prstGeom>
          <a:solidFill>
            <a:srgbClr val="F2EDED"/>
          </a:solidFill>
          <a:ln/>
        </p:spPr>
      </p:sp>
      <p:sp>
        <p:nvSpPr>
          <p:cNvPr id="4" name="Text 2"/>
          <p:cNvSpPr/>
          <p:nvPr/>
        </p:nvSpPr>
        <p:spPr>
          <a:xfrm>
            <a:off x="822900" y="1612523"/>
            <a:ext cx="4907237" cy="2275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raddoppia(int n)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 = n * 2;               /* modifica solo la copia */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x = 5;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raddoppia(x);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printf("%d\n", x);           /* stampa 5 */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248244" y="1243588"/>
            <a:ext cx="5333867" cy="7465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 parametri sono variabili locali inizializzate con i valori passati nella chiamata. I tipi scalari (int, double, char) vengono passati per valore: la funzione riceve una copia.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8244" y="2085677"/>
          <a:ext cx="5333867" cy="914400"/>
        </p:xfrm>
        <a:graphic>
          <a:graphicData uri="http://schemas.openxmlformats.org/drawingml/2006/table">
            <a:tbl>
              <a:tblPr/>
              <a:tblGrid>
                <a:gridCol w="2666933"/>
                <a:gridCol w="2666933"/>
              </a:tblGrid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Chiamante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Funzione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int x = 5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int n = 5 (copia)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x resta 5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n = 10, poi scompare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248244" y="3375918"/>
            <a:ext cx="5333867" cy="942181"/>
          </a:xfrm>
          <a:prstGeom prst="roundRect">
            <a:avLst>
              <a:gd name="adj" fmla="val 1213"/>
            </a:avLst>
          </a:prstGeom>
          <a:solidFill>
            <a:srgbClr val="DCEFDC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26039" y="3633093"/>
            <a:ext cx="222244" cy="1778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26079" y="3607376"/>
            <a:ext cx="4578235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Modificare un parametro non cambia mai la variabile del chiamante.</a:t>
            </a:r>
            <a:endParaRPr lang="en-US" sz="14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1502936" y="6466086"/>
            <a:ext cx="688759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32411"/>
            <a:ext cx="10972526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Il Valore di Ritorno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09585" y="1434405"/>
            <a:ext cx="5689458" cy="2062361"/>
          </a:xfrm>
          <a:prstGeom prst="roundRect">
            <a:avLst>
              <a:gd name="adj" fmla="val 554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822900" y="1612523"/>
            <a:ext cx="5262828" cy="170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 media(int a, int b, int c)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double risultato;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risultato = (a + b + c) / 3.0;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risultato;            /* unica return, alla fine */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09585" y="3696791"/>
            <a:ext cx="5689458" cy="1191022"/>
          </a:xfrm>
          <a:prstGeom prst="roundRect">
            <a:avLst>
              <a:gd name="adj" fmla="val 960"/>
            </a:avLst>
          </a:prstGeom>
          <a:solidFill>
            <a:srgbClr val="DCEFD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380" y="3953966"/>
            <a:ext cx="222244" cy="177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87420" y="3928249"/>
            <a:ext cx="4933827" cy="7465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Errore tipico: return multipli nei rami di un if. Si assegna il valore nei rami e si restituisce una volta sola.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603736" y="1243588"/>
            <a:ext cx="4978375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Il valore restituito si può usare: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603736" y="1587996"/>
            <a:ext cx="4978375" cy="8354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 un'assegnazione: m = media(7, 8, 6);</a:t>
            </a:r>
            <a:endParaRPr lang="en-US" sz="1400" dirty="0"/>
          </a:p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 una printf: printf("%.2f", media(7, 8, 6));</a:t>
            </a:r>
            <a:endParaRPr lang="en-US" sz="1400" dirty="0"/>
          </a:p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 un'espressione: totale = media(7, 8, 6) * 2;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603736" y="2537401"/>
            <a:ext cx="4978375" cy="7465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Regola del corso: una sola return per funzione. Il risultato si accumula in una variabile locale e si restituisce alla fine.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502936" y="6466086"/>
            <a:ext cx="688759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1481525"/>
            <a:ext cx="10972526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Parametri Multipli e Responsabilità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09585" y="2283520"/>
            <a:ext cx="6045049" cy="2915741"/>
          </a:xfrm>
          <a:prstGeom prst="roundRect">
            <a:avLst>
              <a:gd name="adj" fmla="val 392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822900" y="2461637"/>
            <a:ext cx="5618419" cy="25601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 area_trapezio(double base_maggiore, double base_minore, double altezza)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double area;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area = (base_maggiore + base_minore) * altezza / 2.0;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area;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area_trapezio(8.0, 5.0, 4.0);   /* l'ordine conta */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959327" y="2083495"/>
            <a:ext cx="4622784" cy="15374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Gli argomenti si abbinano ai parametri per posizione, non per nome</a:t>
            </a:r>
            <a:endParaRPr lang="en-US" sz="1400" dirty="0"/>
          </a:p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Separazione delle responsabilità: le funzioni di calcolo restituiscono il risultato, non stampano; la stampa è compito del main o di funzioni dedicate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959327" y="3773388"/>
            <a:ext cx="4622784" cy="1191022"/>
          </a:xfrm>
          <a:prstGeom prst="roundRect">
            <a:avLst>
              <a:gd name="adj" fmla="val 960"/>
            </a:avLst>
          </a:prstGeom>
          <a:solidFill>
            <a:srgbClr val="DCEFDC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7122" y="4030563"/>
            <a:ext cx="222244" cy="1778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537162" y="4004846"/>
            <a:ext cx="3867152" cy="7465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Firme uniformi: funzioni che fanno operazioni simili hanno gli stessi parametri nello stesso ordine.</a:t>
            </a:r>
            <a:endParaRPr lang="en-US" sz="14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502936" y="6466086"/>
            <a:ext cx="688759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1677185"/>
            <a:ext cx="10972526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Indirizzi e Puntatori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09585" y="2288361"/>
            <a:ext cx="5333867" cy="7465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Ogni variabile occupa una cella di memoria con un indirizzo. Un puntatore è una variabile che contiene un indirizzo.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09585" y="3225701"/>
            <a:ext cx="5333867" cy="1777901"/>
          </a:xfrm>
          <a:prstGeom prst="roundRect">
            <a:avLst>
              <a:gd name="adj" fmla="val 643"/>
            </a:avLst>
          </a:prstGeom>
          <a:solidFill>
            <a:srgbClr val="F2EDED"/>
          </a:solidFill>
          <a:ln/>
        </p:spPr>
      </p:sp>
      <p:sp>
        <p:nvSpPr>
          <p:cNvPr id="5" name="Text 3"/>
          <p:cNvSpPr/>
          <p:nvPr/>
        </p:nvSpPr>
        <p:spPr>
          <a:xfrm>
            <a:off x="822900" y="3403818"/>
            <a:ext cx="4907237" cy="14223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eta = 25;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*p = &amp;eta;       /* p punta a eta */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*p = 30;             /* modifica eta tramite p */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printf("%d\n", eta); /* stampa 30 */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8244" y="2279154"/>
          <a:ext cx="5333867" cy="914400"/>
        </p:xfrm>
        <a:graphic>
          <a:graphicData uri="http://schemas.openxmlformats.org/drawingml/2006/table">
            <a:tbl>
              <a:tblPr/>
              <a:tblGrid>
                <a:gridCol w="1333467"/>
                <a:gridCol w="1866853"/>
                <a:gridCol w="2133547"/>
              </a:tblGrid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Operatore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Nome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Significato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&amp;x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indirizzo-di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l'indirizzo di x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397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*p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dereferenziazione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il valore all'indirizzo contenuto in p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248244" y="3891260"/>
            <a:ext cx="5333867" cy="1191022"/>
          </a:xfrm>
          <a:prstGeom prst="roundRect">
            <a:avLst>
              <a:gd name="adj" fmla="val 960"/>
            </a:avLst>
          </a:prstGeom>
          <a:solidFill>
            <a:srgbClr val="DCEFDC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26039" y="4148435"/>
            <a:ext cx="222244" cy="1778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26079" y="4122718"/>
            <a:ext cx="4578235" cy="7465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 questo capitolo i puntatori servono solo per il passaggio per riferimento. Il capitolo 05 li tratta in modo completo.</a:t>
            </a:r>
            <a:endParaRPr lang="en-US" sz="14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1502936" y="6466086"/>
            <a:ext cx="688759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32411"/>
            <a:ext cx="10972526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Passaggio per Riferimento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09585" y="1243588"/>
            <a:ext cx="4978275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 modificare una variabile del chiamante, la funzione riceve il suo indirizzo.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09585" y="1932087"/>
            <a:ext cx="4978275" cy="2631281"/>
          </a:xfrm>
          <a:prstGeom prst="roundRect">
            <a:avLst>
              <a:gd name="adj" fmla="val 434"/>
            </a:avLst>
          </a:prstGeom>
          <a:solidFill>
            <a:srgbClr val="F2EDED"/>
          </a:solidFill>
          <a:ln/>
        </p:spPr>
      </p:sp>
      <p:sp>
        <p:nvSpPr>
          <p:cNvPr id="5" name="Text 3"/>
          <p:cNvSpPr/>
          <p:nvPr/>
        </p:nvSpPr>
        <p:spPr>
          <a:xfrm>
            <a:off x="822900" y="2110204"/>
            <a:ext cx="4551646" cy="2275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raddoppia(int *n)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*n = *n * 2;          /* modifica la variabile puntata */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x = 5;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raddoppia(&amp;x);            /* si passa l'indirizzo */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printf("%d\n", x);        /* stampa 10 */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2553" y="1234380"/>
          <a:ext cx="5689557" cy="914400"/>
        </p:xfrm>
        <a:graphic>
          <a:graphicData uri="http://schemas.openxmlformats.org/drawingml/2006/table">
            <a:tbl>
              <a:tblPr/>
              <a:tblGrid>
                <a:gridCol w="1593016"/>
                <a:gridCol w="2048221"/>
                <a:gridCol w="2048320"/>
              </a:tblGrid>
              <a:tr h="39726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Per valore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Per riferimento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chiamata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f(x)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f(&amp;x)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parametro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int n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int *n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accesso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n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*n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effetto su x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nessuno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x viene modificata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892553" y="3341390"/>
            <a:ext cx="5689557" cy="942181"/>
          </a:xfrm>
          <a:prstGeom prst="roundRect">
            <a:avLst>
              <a:gd name="adj" fmla="val 1213"/>
            </a:avLst>
          </a:prstGeom>
          <a:solidFill>
            <a:srgbClr val="DCEFDC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70349" y="3598565"/>
            <a:ext cx="222244" cy="1778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70389" y="3572847"/>
            <a:ext cx="4933926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Errore tipico: chiamare raddoppia(x) invece di raddoppia(&amp;x). Il compilatore segnala il tipo sbagliato.</a:t>
            </a:r>
            <a:endParaRPr lang="en-US" sz="14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1517145"/>
            <a:ext cx="10972526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Parametri IN e OUT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09585" y="2128322"/>
            <a:ext cx="5689458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 il passaggio per riferimento una funzione può "restituire" più risultati.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09585" y="2816820"/>
            <a:ext cx="5689458" cy="2346821"/>
          </a:xfrm>
          <a:prstGeom prst="roundRect">
            <a:avLst>
              <a:gd name="adj" fmla="val 487"/>
            </a:avLst>
          </a:prstGeom>
          <a:solidFill>
            <a:srgbClr val="F2EDED"/>
          </a:solidFill>
          <a:ln/>
        </p:spPr>
      </p:sp>
      <p:sp>
        <p:nvSpPr>
          <p:cNvPr id="5" name="Text 3"/>
          <p:cNvSpPr/>
          <p:nvPr/>
        </p:nvSpPr>
        <p:spPr>
          <a:xfrm>
            <a:off x="822900" y="2994938"/>
            <a:ext cx="5262828" cy="19912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dividi(int a, int b, int *quoziente, int *resto)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     /* IN     IN     OUT            OUT       */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*quoziente = a / b;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*resto = a % b;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dividi(17, 5, &amp;q, &amp;r);    /* q = 3, r = 2 */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3736" y="2119114"/>
          <a:ext cx="4978375" cy="914400"/>
        </p:xfrm>
        <a:graphic>
          <a:graphicData uri="http://schemas.openxmlformats.org/drawingml/2006/table">
            <a:tbl>
              <a:tblPr/>
              <a:tblGrid>
                <a:gridCol w="995635"/>
                <a:gridCol w="2489138"/>
                <a:gridCol w="1493602"/>
              </a:tblGrid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Tipo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Uso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Passaggio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60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IN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dato in ingresso, solo letto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per valore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397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OUT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risultato scritto dalla funzione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per riferimento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603736" y="3980061"/>
            <a:ext cx="4978375" cy="1191022"/>
          </a:xfrm>
          <a:prstGeom prst="roundRect">
            <a:avLst>
              <a:gd name="adj" fmla="val 960"/>
            </a:avLst>
          </a:prstGeom>
          <a:solidFill>
            <a:srgbClr val="DCEFDC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81531" y="4237236"/>
            <a:ext cx="222244" cy="1778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181571" y="4211519"/>
            <a:ext cx="4222744" cy="7465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Esempio classico: scambia(&amp;a, &amp;b). Con il passaggio per valore lo scambio sarebbe impossibile.</a:t>
            </a:r>
            <a:endParaRPr lang="en-US" sz="14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32411"/>
            <a:ext cx="10972526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Variabili Locali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09585" y="1243588"/>
            <a:ext cx="5333867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Una variabile dichiarata in una funzione o in un blocco { } è locale: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585" y="1836837"/>
            <a:ext cx="5333867" cy="10842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è visibile solo in quel blocco</a:t>
            </a:r>
            <a:endParaRPr lang="en-US" sz="1400" dirty="0"/>
          </a:p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viene creata quando l'esecuzione entra nel blocco e distrutta all'uscita</a:t>
            </a:r>
            <a:endParaRPr lang="en-US" sz="1400" dirty="0"/>
          </a:p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non conserva il valore tra una chiamata e la successiva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248244" y="1434405"/>
            <a:ext cx="5333867" cy="2915741"/>
          </a:xfrm>
          <a:prstGeom prst="roundRect">
            <a:avLst>
              <a:gd name="adj" fmla="val 392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6461559" y="1612523"/>
            <a:ext cx="4907237" cy="25601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funzione_a(void)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 x = 10;      /* x di funzione_a */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funzione_b(void)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 x = 99;      /* un'altra x, indipendente */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48244" y="4550172"/>
            <a:ext cx="5333867" cy="942181"/>
          </a:xfrm>
          <a:prstGeom prst="roundRect">
            <a:avLst>
              <a:gd name="adj" fmla="val 1213"/>
            </a:avLst>
          </a:prstGeom>
          <a:solidFill>
            <a:srgbClr val="DCEFDC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26039" y="4807347"/>
            <a:ext cx="222244" cy="1778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826079" y="4781629"/>
            <a:ext cx="4578235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Stesso nome in funzioni diverse = variabili diverse, in celle di memoria diverse.</a:t>
            </a:r>
            <a:endParaRPr lang="en-US" sz="14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32411"/>
            <a:ext cx="10972526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Variabili Globali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09585" y="1243588"/>
            <a:ext cx="4978275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Una variabile dichiarata fuori da ogni funzione è globale: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09585" y="1836837"/>
            <a:ext cx="4978275" cy="8354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è visibile in tutte le funzioni del file</a:t>
            </a:r>
            <a:endParaRPr lang="en-US" sz="1400" dirty="0"/>
          </a:p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esiste per tutta la durata del programma</a:t>
            </a:r>
            <a:endParaRPr lang="en-US" sz="1400" dirty="0"/>
          </a:p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 non inizializzata vale 0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09585" y="2872284"/>
            <a:ext cx="4978275" cy="2062361"/>
          </a:xfrm>
          <a:prstGeom prst="roundRect">
            <a:avLst>
              <a:gd name="adj" fmla="val 554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822900" y="3050401"/>
            <a:ext cx="4551646" cy="170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errori = 0;            /* globale */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segnala_errore(void)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errori++;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2553" y="1732756"/>
          <a:ext cx="5689557" cy="914400"/>
        </p:xfrm>
        <a:graphic>
          <a:graphicData uri="http://schemas.openxmlformats.org/drawingml/2006/table">
            <a:tbl>
              <a:tblPr/>
              <a:tblGrid>
                <a:gridCol w="2844729"/>
                <a:gridCol w="2844828"/>
              </a:tblGrid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Quando usarle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Quando evitarle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74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stato condiviso da più funzioni che deve persistere (contatori, min/max accumulati)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per evitare di passare parametri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892553" y="3445272"/>
            <a:ext cx="5689557" cy="1191022"/>
          </a:xfrm>
          <a:prstGeom prst="roundRect">
            <a:avLst>
              <a:gd name="adj" fmla="val 960"/>
            </a:avLst>
          </a:prstGeom>
          <a:solidFill>
            <a:srgbClr val="DCEFDC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70349" y="3702447"/>
            <a:ext cx="222244" cy="1778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470389" y="3676729"/>
            <a:ext cx="4933926" cy="7465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Qualsiasi funzione può modificare una globale: il programma diventa più difficile da leggere e da verificare.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32411"/>
            <a:ext cx="10972526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Shadowing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09585" y="1243588"/>
            <a:ext cx="1158211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Una variabile locale con lo stesso nome di una globale la oscura nel proprio scope.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09585" y="1841996"/>
            <a:ext cx="4978275" cy="2346821"/>
          </a:xfrm>
          <a:prstGeom prst="roundRect">
            <a:avLst>
              <a:gd name="adj" fmla="val 487"/>
            </a:avLst>
          </a:prstGeom>
          <a:solidFill>
            <a:srgbClr val="F2EDED"/>
          </a:solidFill>
          <a:ln/>
        </p:spPr>
      </p:sp>
      <p:sp>
        <p:nvSpPr>
          <p:cNvPr id="5" name="Text 3"/>
          <p:cNvSpPr/>
          <p:nvPr/>
        </p:nvSpPr>
        <p:spPr>
          <a:xfrm>
            <a:off x="822900" y="2020114"/>
            <a:ext cx="4551646" cy="19912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valore = 100;          /* globale */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funzione(void)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 valore = 5;        /* locale: oscura la globale */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valore++;              /* modifica la locale */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                          /* la globale resta 100 */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892553" y="1841996"/>
            <a:ext cx="5689557" cy="2346821"/>
          </a:xfrm>
          <a:prstGeom prst="roundRect">
            <a:avLst>
              <a:gd name="adj" fmla="val 487"/>
            </a:avLst>
          </a:prstGeom>
          <a:solidFill>
            <a:srgbClr val="F2EDED"/>
          </a:solidFill>
          <a:ln/>
        </p:spPr>
      </p:sp>
      <p:sp>
        <p:nvSpPr>
          <p:cNvPr id="7" name="Text 5"/>
          <p:cNvSpPr/>
          <p:nvPr/>
        </p:nvSpPr>
        <p:spPr>
          <a:xfrm>
            <a:off x="6105868" y="2020114"/>
            <a:ext cx="5262927" cy="19912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globale;              visibile in tutto il file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void f(void) {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int locale;         visibile solo in f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{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int interna;    visibile solo nel blocco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}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892553" y="4388842"/>
            <a:ext cx="5689557" cy="1191022"/>
          </a:xfrm>
          <a:prstGeom prst="roundRect">
            <a:avLst>
              <a:gd name="adj" fmla="val 960"/>
            </a:avLst>
          </a:prstGeom>
          <a:solidFill>
            <a:srgbClr val="DCEFDC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70349" y="4646017"/>
            <a:ext cx="222244" cy="1778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470389" y="4620300"/>
            <a:ext cx="4933926" cy="7465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Lo shadowing è legale ma va evitato: si crede di modificare la globale e si modifica la copia locale. Usare nomi distinti.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32411"/>
            <a:ext cx="10972526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Errori Comuni da Evitare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09585" y="1234380"/>
            <a:ext cx="5410065" cy="1135856"/>
          </a:xfrm>
          <a:prstGeom prst="rect">
            <a:avLst/>
          </a:prstGeom>
          <a:solidFill>
            <a:srgbClr val="DCEFDC"/>
          </a:solidFill>
          <a:ln/>
        </p:spPr>
      </p:sp>
      <p:sp>
        <p:nvSpPr>
          <p:cNvPr id="4" name="Shape 2"/>
          <p:cNvSpPr/>
          <p:nvPr/>
        </p:nvSpPr>
        <p:spPr>
          <a:xfrm>
            <a:off x="787380" y="1361380"/>
            <a:ext cx="323346" cy="311150"/>
          </a:xfrm>
          <a:prstGeom prst="roundRect">
            <a:avLst>
              <a:gd name="adj" fmla="val 3673"/>
            </a:avLst>
          </a:prstGeom>
          <a:noFill/>
          <a:ln w="19050">
            <a:solidFill>
              <a:srgbClr val="C1D6C3"/>
            </a:solidFill>
            <a:prstDash val="solid"/>
          </a:ln>
          <a:effectLst>
            <a:outerShdw sx="100000" sy="100000" kx="0" ky="0" algn="bl" rotWithShape="0" blurRad="127" dist="22860" dir="2700000">
              <a:srgbClr val="c1d6c3">
                <a:alpha val="10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95328" y="1441351"/>
            <a:ext cx="717036" cy="1511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87380" y="1754763"/>
            <a:ext cx="5054474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Chiamare una funzione prima di definirla senza prototipo.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72046" y="1234380"/>
            <a:ext cx="5410065" cy="1135856"/>
          </a:xfrm>
          <a:prstGeom prst="rect">
            <a:avLst/>
          </a:prstGeom>
          <a:solidFill>
            <a:srgbClr val="DCEFDC"/>
          </a:solidFill>
          <a:ln/>
        </p:spPr>
      </p:sp>
      <p:sp>
        <p:nvSpPr>
          <p:cNvPr id="8" name="Shape 6"/>
          <p:cNvSpPr/>
          <p:nvPr/>
        </p:nvSpPr>
        <p:spPr>
          <a:xfrm>
            <a:off x="6349841" y="1361380"/>
            <a:ext cx="323346" cy="311150"/>
          </a:xfrm>
          <a:prstGeom prst="roundRect">
            <a:avLst>
              <a:gd name="adj" fmla="val 3673"/>
            </a:avLst>
          </a:prstGeom>
          <a:noFill/>
          <a:ln w="19050">
            <a:solidFill>
              <a:srgbClr val="C1D6C3"/>
            </a:solidFill>
            <a:prstDash val="solid"/>
          </a:ln>
          <a:effectLst>
            <a:outerShdw sx="100000" sy="100000" kx="0" ky="0" algn="bl" rotWithShape="0" blurRad="127" dist="22860" dir="2700000">
              <a:srgbClr val="c1d6c3">
                <a:alpha val="10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57788" y="1441351"/>
            <a:ext cx="717036" cy="1511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49841" y="1754763"/>
            <a:ext cx="5054474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Usare il valore di una funzione void o ignorare quello di una funzione che restituisce un risultato.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09585" y="2522537"/>
            <a:ext cx="5410065" cy="1135856"/>
          </a:xfrm>
          <a:prstGeom prst="rect">
            <a:avLst/>
          </a:prstGeom>
          <a:solidFill>
            <a:srgbClr val="DCEFDC"/>
          </a:solidFill>
          <a:ln/>
        </p:spPr>
      </p:sp>
      <p:sp>
        <p:nvSpPr>
          <p:cNvPr id="12" name="Shape 10"/>
          <p:cNvSpPr/>
          <p:nvPr/>
        </p:nvSpPr>
        <p:spPr>
          <a:xfrm>
            <a:off x="787380" y="2649538"/>
            <a:ext cx="323346" cy="311150"/>
          </a:xfrm>
          <a:prstGeom prst="roundRect">
            <a:avLst>
              <a:gd name="adj" fmla="val 3673"/>
            </a:avLst>
          </a:prstGeom>
          <a:noFill/>
          <a:ln w="19050">
            <a:solidFill>
              <a:srgbClr val="C1D6C3"/>
            </a:solidFill>
            <a:prstDash val="solid"/>
          </a:ln>
          <a:effectLst>
            <a:outerShdw sx="100000" sy="100000" kx="0" ky="0" algn="bl" rotWithShape="0" blurRad="127" dist="22860" dir="2700000">
              <a:srgbClr val="c1d6c3">
                <a:alpha val="10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95328" y="2729508"/>
            <a:ext cx="717036" cy="1511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87380" y="3042920"/>
            <a:ext cx="5054474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Aspettarsi che modificare un parametro cambi la variabile del chiamante.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172046" y="2522537"/>
            <a:ext cx="5410065" cy="1135856"/>
          </a:xfrm>
          <a:prstGeom prst="rect">
            <a:avLst/>
          </a:prstGeom>
          <a:solidFill>
            <a:srgbClr val="DCEFDC"/>
          </a:solidFill>
          <a:ln/>
        </p:spPr>
      </p:sp>
      <p:sp>
        <p:nvSpPr>
          <p:cNvPr id="16" name="Shape 14"/>
          <p:cNvSpPr/>
          <p:nvPr/>
        </p:nvSpPr>
        <p:spPr>
          <a:xfrm>
            <a:off x="6349841" y="2649538"/>
            <a:ext cx="323346" cy="311150"/>
          </a:xfrm>
          <a:prstGeom prst="roundRect">
            <a:avLst>
              <a:gd name="adj" fmla="val 3673"/>
            </a:avLst>
          </a:prstGeom>
          <a:noFill/>
          <a:ln w="19050">
            <a:solidFill>
              <a:srgbClr val="C1D6C3"/>
            </a:solidFill>
            <a:prstDash val="solid"/>
          </a:ln>
          <a:effectLst>
            <a:outerShdw sx="100000" sy="100000" kx="0" ky="0" algn="bl" rotWithShape="0" blurRad="127" dist="22860" dir="2700000">
              <a:srgbClr val="c1d6c3">
                <a:alpha val="10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57788" y="2729508"/>
            <a:ext cx="717036" cy="1511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49841" y="3042920"/>
            <a:ext cx="5054474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Passare x invece di &amp;x a una funzione che vuole un indirizzo.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09585" y="3810695"/>
            <a:ext cx="5410065" cy="1135856"/>
          </a:xfrm>
          <a:prstGeom prst="rect">
            <a:avLst/>
          </a:prstGeom>
          <a:solidFill>
            <a:srgbClr val="DCEFDC"/>
          </a:solidFill>
          <a:ln/>
        </p:spPr>
      </p:sp>
      <p:sp>
        <p:nvSpPr>
          <p:cNvPr id="20" name="Shape 18"/>
          <p:cNvSpPr/>
          <p:nvPr/>
        </p:nvSpPr>
        <p:spPr>
          <a:xfrm>
            <a:off x="787380" y="3937695"/>
            <a:ext cx="323346" cy="311150"/>
          </a:xfrm>
          <a:prstGeom prst="roundRect">
            <a:avLst>
              <a:gd name="adj" fmla="val 3673"/>
            </a:avLst>
          </a:prstGeom>
          <a:noFill/>
          <a:ln w="19050">
            <a:solidFill>
              <a:srgbClr val="C1D6C3"/>
            </a:solidFill>
            <a:prstDash val="solid"/>
          </a:ln>
          <a:effectLst>
            <a:outerShdw sx="100000" sy="100000" kx="0" ky="0" algn="bl" rotWithShape="0" blurRad="127" dist="22860" dir="2700000">
              <a:srgbClr val="c1d6c3">
                <a:alpha val="10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95328" y="4017665"/>
            <a:ext cx="717036" cy="1511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5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87380" y="4331077"/>
            <a:ext cx="5232269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Più return nella stessa funzione.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172046" y="3810695"/>
            <a:ext cx="5410065" cy="1135856"/>
          </a:xfrm>
          <a:prstGeom prst="rect">
            <a:avLst/>
          </a:prstGeom>
          <a:solidFill>
            <a:srgbClr val="DCEFDC"/>
          </a:solidFill>
          <a:ln/>
        </p:spPr>
      </p:sp>
      <p:sp>
        <p:nvSpPr>
          <p:cNvPr id="24" name="Shape 22"/>
          <p:cNvSpPr/>
          <p:nvPr/>
        </p:nvSpPr>
        <p:spPr>
          <a:xfrm>
            <a:off x="6349841" y="3937695"/>
            <a:ext cx="323346" cy="311150"/>
          </a:xfrm>
          <a:prstGeom prst="roundRect">
            <a:avLst>
              <a:gd name="adj" fmla="val 3673"/>
            </a:avLst>
          </a:prstGeom>
          <a:noFill/>
          <a:ln w="19050">
            <a:solidFill>
              <a:srgbClr val="C1D6C3"/>
            </a:solidFill>
            <a:prstDash val="solid"/>
          </a:ln>
          <a:effectLst>
            <a:outerShdw sx="100000" sy="100000" kx="0" ky="0" algn="bl" rotWithShape="0" blurRad="127" dist="22860" dir="2700000">
              <a:srgbClr val="c1d6c3">
                <a:alpha val="10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457788" y="4017665"/>
            <a:ext cx="717036" cy="1511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6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349841" y="4331077"/>
            <a:ext cx="5054474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Variabile locale con lo stesso nome di una globale (shadowing).</a:t>
            </a:r>
            <a:endParaRPr lang="en-US" sz="14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32411"/>
            <a:ext cx="10972526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Riepilogo Concetti</a:t>
            </a:r>
            <a:endParaRPr lang="en-US" sz="3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585" y="1234380"/>
          <a:ext cx="10972526" cy="914400"/>
        </p:xfrm>
        <a:graphic>
          <a:graphicData uri="http://schemas.openxmlformats.org/drawingml/2006/table">
            <a:tbl>
              <a:tblPr/>
              <a:tblGrid>
                <a:gridCol w="3291698"/>
                <a:gridCol w="3291698"/>
                <a:gridCol w="4389129"/>
              </a:tblGrid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Operazione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Tecnica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Note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Suddividere il programma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funzioni void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una funzione = un compito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Chiamare prima di definire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prototipo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termina con ;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Fornire dati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parametri per valore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la funzione riceve una copia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Restituire un risultato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return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una sola, alla fine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Modificare il chiamante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parametro int *p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chiamata con &amp;x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Più risultati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parametri OUT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IN per valore, OUT per riferimento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Dati temporanei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variabili locali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vivono solo nel blocco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Stato condiviso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variabili globali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con cautela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Nomi uguali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evitare lo shadowing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nomi distinti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15315"/>
            <a:ext cx="11582110" cy="18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50" spc="63" kern="100" dirty="0">
                <a:solidFill>
                  <a:srgbClr val="256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SEZIONE 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585" y="892067"/>
            <a:ext cx="10972526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Esempi Pratici: Definizione e Chiamata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09585" y="1503244"/>
            <a:ext cx="1158211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Concetti base — tre file sulle prime funzioni.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09585" y="1895277"/>
            <a:ext cx="3454314" cy="2108994"/>
          </a:xfrm>
          <a:prstGeom prst="roundRect">
            <a:avLst>
              <a:gd name="adj" fmla="val 542"/>
            </a:avLst>
          </a:prstGeom>
          <a:solidFill>
            <a:srgbClr val="DBF0DD"/>
          </a:solidFill>
          <a:ln/>
        </p:spPr>
      </p:sp>
      <p:sp>
        <p:nvSpPr>
          <p:cNvPr id="6" name="Text 4"/>
          <p:cNvSpPr/>
          <p:nvPr/>
        </p:nvSpPr>
        <p:spPr>
          <a:xfrm>
            <a:off x="787380" y="2098477"/>
            <a:ext cx="3098722" cy="1702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1 – 010-prima-funzione.c</a:t>
            </a:r>
            <a:endParaRPr lang="en-US" sz="1400" dirty="0"/>
          </a:p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Problema:</a:t>
            </a:r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definire e chiamare una funzione.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Tecnica:</a:t>
            </a:r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funzioni void senza parametri (benvenuto, separatore, arrivederci) chiamate dal main.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68691" y="1895277"/>
            <a:ext cx="3454314" cy="2108994"/>
          </a:xfrm>
          <a:prstGeom prst="roundRect">
            <a:avLst>
              <a:gd name="adj" fmla="val 542"/>
            </a:avLst>
          </a:prstGeom>
          <a:solidFill>
            <a:srgbClr val="DBF0DD"/>
          </a:solidFill>
          <a:ln/>
        </p:spPr>
      </p:sp>
      <p:sp>
        <p:nvSpPr>
          <p:cNvPr id="8" name="Text 6"/>
          <p:cNvSpPr/>
          <p:nvPr/>
        </p:nvSpPr>
        <p:spPr>
          <a:xfrm>
            <a:off x="4546486" y="2098477"/>
            <a:ext cx="3098722" cy="14537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2 – 020-prototipo.c</a:t>
            </a:r>
            <a:endParaRPr lang="en-US" sz="1400" dirty="0"/>
          </a:p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Problema:</a:t>
            </a:r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chiamare una funzione definita più in basso.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Tecnica:</a:t>
            </a:r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prototipi in cima al file, main prima delle definizioni.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27797" y="1895277"/>
            <a:ext cx="3454314" cy="2108994"/>
          </a:xfrm>
          <a:prstGeom prst="roundRect">
            <a:avLst>
              <a:gd name="adj" fmla="val 542"/>
            </a:avLst>
          </a:prstGeom>
          <a:solidFill>
            <a:srgbClr val="DBF0DD"/>
          </a:solidFill>
          <a:ln/>
        </p:spPr>
      </p:sp>
      <p:sp>
        <p:nvSpPr>
          <p:cNvPr id="10" name="Text 8"/>
          <p:cNvSpPr/>
          <p:nvPr/>
        </p:nvSpPr>
        <p:spPr>
          <a:xfrm>
            <a:off x="8305592" y="2098477"/>
            <a:ext cx="3098722" cy="14537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3 – 030-funzioni-void.c</a:t>
            </a:r>
            <a:endParaRPr lang="en-US" sz="1400" dirty="0"/>
          </a:p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Problema:</a:t>
            </a:r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organizzare un documento complesso.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Tecnica:</a:t>
            </a:r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funzioni void composte che chiamano altre funzioni.</a:t>
            </a:r>
            <a:endParaRPr lang="en-US" sz="14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15315"/>
            <a:ext cx="11582110" cy="18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50" spc="63" kern="100" dirty="0">
                <a:solidFill>
                  <a:srgbClr val="256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SEZIONE 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585" y="892067"/>
            <a:ext cx="10972526" cy="893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Esempi Pratici: Problemi su Definizione e Chiamata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09585" y="1890216"/>
            <a:ext cx="5333867" cy="1268512"/>
          </a:xfrm>
          <a:prstGeom prst="roundRect">
            <a:avLst>
              <a:gd name="adj" fmla="val 901"/>
            </a:avLst>
          </a:prstGeom>
          <a:solidFill>
            <a:srgbClr val="DBF0DD"/>
          </a:solidFill>
          <a:ln/>
        </p:spPr>
      </p:sp>
      <p:sp>
        <p:nvSpPr>
          <p:cNvPr id="5" name="Text 3"/>
          <p:cNvSpPr/>
          <p:nvPr/>
        </p:nvSpPr>
        <p:spPr>
          <a:xfrm>
            <a:off x="838179" y="2106661"/>
            <a:ext cx="4876678" cy="2374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040 – Menu ristorante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38179" y="2467054"/>
            <a:ext cx="4876678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Una funzione per ogni sezione del menu; per cambiare i primi si modifica solo stampa_primi().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48244" y="1890216"/>
            <a:ext cx="5333867" cy="1268512"/>
          </a:xfrm>
          <a:prstGeom prst="roundRect">
            <a:avLst>
              <a:gd name="adj" fmla="val 901"/>
            </a:avLst>
          </a:prstGeom>
          <a:solidFill>
            <a:srgbClr val="DBF0DD"/>
          </a:solidFill>
          <a:ln/>
        </p:spPr>
      </p:sp>
      <p:sp>
        <p:nvSpPr>
          <p:cNvPr id="8" name="Text 6"/>
          <p:cNvSpPr/>
          <p:nvPr/>
        </p:nvSpPr>
        <p:spPr>
          <a:xfrm>
            <a:off x="6476838" y="2106661"/>
            <a:ext cx="4876678" cy="2374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050 – Ricevuta di cassa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76838" y="2467054"/>
            <a:ext cx="4876678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Intestazione, prodotti, riepilogo IVA e piede gestiti da funzioni separate.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09585" y="3463528"/>
            <a:ext cx="10972526" cy="1019671"/>
          </a:xfrm>
          <a:prstGeom prst="roundRect">
            <a:avLst>
              <a:gd name="adj" fmla="val 1121"/>
            </a:avLst>
          </a:prstGeom>
          <a:solidFill>
            <a:srgbClr val="DBF0DD"/>
          </a:solidFill>
          <a:ln/>
        </p:spPr>
      </p:sp>
      <p:sp>
        <p:nvSpPr>
          <p:cNvPr id="11" name="Text 9"/>
          <p:cNvSpPr/>
          <p:nvPr/>
        </p:nvSpPr>
        <p:spPr>
          <a:xfrm>
            <a:off x="838179" y="3679973"/>
            <a:ext cx="10515337" cy="2374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060 – Disegno di forme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38179" y="4040366"/>
            <a:ext cx="10743931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Rettangolo, triangolo e cornice in ASCII art, una funzione per forma.</a:t>
            </a:r>
            <a:endParaRPr lang="en-US" sz="14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15315"/>
            <a:ext cx="11582110" cy="18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50" spc="63" kern="100" dirty="0">
                <a:solidFill>
                  <a:srgbClr val="256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SEZIONE 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585" y="892067"/>
            <a:ext cx="10972526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Esempi Pratici: Parametri e Return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09585" y="1503244"/>
            <a:ext cx="1158211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Concetti base — tre file su ingresso e uscita dei dati.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09585" y="1895277"/>
            <a:ext cx="3454314" cy="2357834"/>
          </a:xfrm>
          <a:prstGeom prst="roundRect">
            <a:avLst>
              <a:gd name="adj" fmla="val 485"/>
            </a:avLst>
          </a:prstGeom>
          <a:solidFill>
            <a:srgbClr val="DBF0DD"/>
          </a:solidFill>
          <a:ln/>
        </p:spPr>
      </p:sp>
      <p:sp>
        <p:nvSpPr>
          <p:cNvPr id="6" name="Text 4"/>
          <p:cNvSpPr/>
          <p:nvPr/>
        </p:nvSpPr>
        <p:spPr>
          <a:xfrm>
            <a:off x="787380" y="2098477"/>
            <a:ext cx="3098722" cy="19514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1 – 010-parametri-per-valore.c</a:t>
            </a:r>
            <a:endParaRPr lang="en-US" sz="1400" dirty="0"/>
          </a:p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Problema:</a:t>
            </a:r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capire che cosa riceve una funzione.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Tecnica:</a:t>
            </a:r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copia del parametro, variabile del chiamante invariata, conversione di temperatura.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68691" y="1895277"/>
            <a:ext cx="3454314" cy="2357834"/>
          </a:xfrm>
          <a:prstGeom prst="roundRect">
            <a:avLst>
              <a:gd name="adj" fmla="val 485"/>
            </a:avLst>
          </a:prstGeom>
          <a:solidFill>
            <a:srgbClr val="DBF0DD"/>
          </a:solidFill>
          <a:ln/>
        </p:spPr>
      </p:sp>
      <p:sp>
        <p:nvSpPr>
          <p:cNvPr id="8" name="Text 6"/>
          <p:cNvSpPr/>
          <p:nvPr/>
        </p:nvSpPr>
        <p:spPr>
          <a:xfrm>
            <a:off x="4546486" y="2098477"/>
            <a:ext cx="3098722" cy="14537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2 – 020-valore-di-ritorno.c</a:t>
            </a:r>
            <a:endParaRPr lang="en-US" sz="1400" dirty="0"/>
          </a:p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Problema:</a:t>
            </a:r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restituire un risultato.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Tecnica:</a:t>
            </a:r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return con int, double e char (somma, media, valore assoluto, maiuscolo).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27797" y="1895277"/>
            <a:ext cx="3454314" cy="2357834"/>
          </a:xfrm>
          <a:prstGeom prst="roundRect">
            <a:avLst>
              <a:gd name="adj" fmla="val 485"/>
            </a:avLst>
          </a:prstGeom>
          <a:solidFill>
            <a:srgbClr val="DBF0DD"/>
          </a:solidFill>
          <a:ln/>
        </p:spPr>
      </p:sp>
      <p:sp>
        <p:nvSpPr>
          <p:cNvPr id="10" name="Text 8"/>
          <p:cNvSpPr/>
          <p:nvPr/>
        </p:nvSpPr>
        <p:spPr>
          <a:xfrm>
            <a:off x="8305592" y="2098477"/>
            <a:ext cx="3098722" cy="1702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3 – 030-parametri-multipli.c</a:t>
            </a:r>
            <a:endParaRPr lang="en-US" sz="1400" dirty="0"/>
          </a:p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Problema:</a:t>
            </a:r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funzioni con più dati in ingresso.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Tecnica:</a:t>
            </a:r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2, 3 e 4 parametri; ordine degli argomenti; area del trapezio, massimo tra tre.</a:t>
            </a:r>
            <a:endParaRPr lang="en-US" sz="14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15315"/>
            <a:ext cx="11582110" cy="18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50" spc="63" kern="100" dirty="0">
                <a:solidFill>
                  <a:srgbClr val="256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SEZIONE 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585" y="892067"/>
            <a:ext cx="10972526" cy="893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Esempi Pratici: Problemi con Parametri e Return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09585" y="1890216"/>
            <a:ext cx="5333867" cy="1268512"/>
          </a:xfrm>
          <a:prstGeom prst="roundRect">
            <a:avLst>
              <a:gd name="adj" fmla="val 901"/>
            </a:avLst>
          </a:prstGeom>
          <a:solidFill>
            <a:srgbClr val="DBF0DD"/>
          </a:solidFill>
          <a:ln/>
        </p:spPr>
      </p:sp>
      <p:sp>
        <p:nvSpPr>
          <p:cNvPr id="5" name="Text 3"/>
          <p:cNvSpPr/>
          <p:nvPr/>
        </p:nvSpPr>
        <p:spPr>
          <a:xfrm>
            <a:off x="838179" y="2106661"/>
            <a:ext cx="4876678" cy="2374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040 – Calcolatrice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38179" y="2467054"/>
            <a:ext cx="4876678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Una funzione per operazione; nessuna funzione di calcolo stampa; divisione per zero gestita.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48244" y="1890216"/>
            <a:ext cx="5333867" cy="1268512"/>
          </a:xfrm>
          <a:prstGeom prst="roundRect">
            <a:avLst>
              <a:gd name="adj" fmla="val 901"/>
            </a:avLst>
          </a:prstGeom>
          <a:solidFill>
            <a:srgbClr val="DBF0DD"/>
          </a:solidFill>
          <a:ln/>
        </p:spPr>
      </p:sp>
      <p:sp>
        <p:nvSpPr>
          <p:cNvPr id="8" name="Text 6"/>
          <p:cNvSpPr/>
          <p:nvPr/>
        </p:nvSpPr>
        <p:spPr>
          <a:xfrm>
            <a:off x="6476838" y="2106661"/>
            <a:ext cx="4876678" cy="2374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050 – Conversione di unità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76838" y="2467054"/>
            <a:ext cx="4876678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Menu con 10 conversioni di lunghezza, massa e temperatura, una funzione ciascuna.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09585" y="3463528"/>
            <a:ext cx="10972526" cy="1019671"/>
          </a:xfrm>
          <a:prstGeom prst="roundRect">
            <a:avLst>
              <a:gd name="adj" fmla="val 1121"/>
            </a:avLst>
          </a:prstGeom>
          <a:solidFill>
            <a:srgbClr val="DBF0DD"/>
          </a:solidFill>
          <a:ln/>
        </p:spPr>
      </p:sp>
      <p:sp>
        <p:nvSpPr>
          <p:cNvPr id="11" name="Text 9"/>
          <p:cNvSpPr/>
          <p:nvPr/>
        </p:nvSpPr>
        <p:spPr>
          <a:xfrm>
            <a:off x="838179" y="3679973"/>
            <a:ext cx="10515337" cy="2374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060 – Analisi voti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38179" y="4040366"/>
            <a:ext cx="10743931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Cinque voti come parametri: media, minimo, massimo, promozione e giudizio.</a:t>
            </a:r>
            <a:endParaRPr lang="en-US" sz="14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15315"/>
            <a:ext cx="11582110" cy="18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50" spc="63" kern="100" dirty="0">
                <a:solidFill>
                  <a:srgbClr val="256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SEZIONE 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585" y="892067"/>
            <a:ext cx="10972526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Esempi Pratici: Passaggio per Riferimento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09585" y="1503244"/>
            <a:ext cx="1158211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Concetti base — tre file su indirizzi e puntatori.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09585" y="1895277"/>
            <a:ext cx="3454314" cy="2357834"/>
          </a:xfrm>
          <a:prstGeom prst="roundRect">
            <a:avLst>
              <a:gd name="adj" fmla="val 485"/>
            </a:avLst>
          </a:prstGeom>
          <a:solidFill>
            <a:srgbClr val="DBF0DD"/>
          </a:solidFill>
          <a:ln/>
        </p:spPr>
      </p:sp>
      <p:sp>
        <p:nvSpPr>
          <p:cNvPr id="6" name="Text 4"/>
          <p:cNvSpPr/>
          <p:nvPr/>
        </p:nvSpPr>
        <p:spPr>
          <a:xfrm>
            <a:off x="787380" y="2098477"/>
            <a:ext cx="3098722" cy="17025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1 – 010-introduzione-ai-puntatori.c</a:t>
            </a:r>
            <a:endParaRPr lang="en-US" sz="1400" dirty="0"/>
          </a:p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Problema:</a:t>
            </a:r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che cos'è un indirizzo.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Tecnica:</a:t>
            </a:r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operatori &amp; e *, modifica di una variabile tramite puntatore.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68691" y="1895277"/>
            <a:ext cx="3454314" cy="2357834"/>
          </a:xfrm>
          <a:prstGeom prst="roundRect">
            <a:avLst>
              <a:gd name="adj" fmla="val 485"/>
            </a:avLst>
          </a:prstGeom>
          <a:solidFill>
            <a:srgbClr val="DBF0DD"/>
          </a:solidFill>
          <a:ln/>
        </p:spPr>
      </p:sp>
      <p:sp>
        <p:nvSpPr>
          <p:cNvPr id="8" name="Text 6"/>
          <p:cNvSpPr/>
          <p:nvPr/>
        </p:nvSpPr>
        <p:spPr>
          <a:xfrm>
            <a:off x="4546486" y="2098477"/>
            <a:ext cx="3098722" cy="19514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2 – 020-modifica-tramite-puntatore.c</a:t>
            </a:r>
            <a:endParaRPr lang="en-US" sz="1400" dirty="0"/>
          </a:p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Problema:</a:t>
            </a:r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modificare la variabile del chiamante.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Tecnica:</a:t>
            </a:r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raddoppia per valore e per riferimento a confronto; incrementa, azzera.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27797" y="1895277"/>
            <a:ext cx="3454314" cy="2357834"/>
          </a:xfrm>
          <a:prstGeom prst="roundRect">
            <a:avLst>
              <a:gd name="adj" fmla="val 485"/>
            </a:avLst>
          </a:prstGeom>
          <a:solidFill>
            <a:srgbClr val="DBF0DD"/>
          </a:solidFill>
          <a:ln/>
        </p:spPr>
      </p:sp>
      <p:sp>
        <p:nvSpPr>
          <p:cNvPr id="10" name="Text 8"/>
          <p:cNvSpPr/>
          <p:nvPr/>
        </p:nvSpPr>
        <p:spPr>
          <a:xfrm>
            <a:off x="8305592" y="2098477"/>
            <a:ext cx="3098722" cy="14537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3 – 030-parametri-misti.c</a:t>
            </a:r>
            <a:endParaRPr lang="en-US" sz="1400" dirty="0"/>
          </a:p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Problema:</a:t>
            </a:r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restituire più risultati.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Tecnica:</a:t>
            </a:r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parametri IN e OUT; dividi, minimo e massimo, Celsius in Fahrenheit e Kelvin.</a:t>
            </a:r>
            <a:endParaRPr lang="en-US" sz="14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15315"/>
            <a:ext cx="11582110" cy="18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50" spc="63" kern="100" dirty="0">
                <a:solidFill>
                  <a:srgbClr val="256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SEZIONE 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585" y="892067"/>
            <a:ext cx="10972526" cy="893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Esempi Pratici: Problemi con il Passaggio per Riferimento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09585" y="1890216"/>
            <a:ext cx="5333867" cy="1268512"/>
          </a:xfrm>
          <a:prstGeom prst="roundRect">
            <a:avLst>
              <a:gd name="adj" fmla="val 901"/>
            </a:avLst>
          </a:prstGeom>
          <a:solidFill>
            <a:srgbClr val="DBF0DD"/>
          </a:solidFill>
          <a:ln/>
        </p:spPr>
      </p:sp>
      <p:sp>
        <p:nvSpPr>
          <p:cNvPr id="5" name="Text 3"/>
          <p:cNvSpPr/>
          <p:nvPr/>
        </p:nvSpPr>
        <p:spPr>
          <a:xfrm>
            <a:off x="838179" y="2106661"/>
            <a:ext cx="4876678" cy="2374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040 – Scambio di valori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38179" y="2467054"/>
            <a:ext cx="4876678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scambia(&amp;a, &amp;b) con variabile temporanea; ordinamento di tre interi.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48244" y="1890216"/>
            <a:ext cx="5333867" cy="1268512"/>
          </a:xfrm>
          <a:prstGeom prst="roundRect">
            <a:avLst>
              <a:gd name="adj" fmla="val 901"/>
            </a:avLst>
          </a:prstGeom>
          <a:solidFill>
            <a:srgbClr val="DBF0DD"/>
          </a:solidFill>
          <a:ln/>
        </p:spPr>
      </p:sp>
      <p:sp>
        <p:nvSpPr>
          <p:cNvPr id="8" name="Text 6"/>
          <p:cNvSpPr/>
          <p:nvPr/>
        </p:nvSpPr>
        <p:spPr>
          <a:xfrm>
            <a:off x="6476838" y="2106661"/>
            <a:ext cx="4876678" cy="2374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050 – Minimo e massimo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76838" y="2467054"/>
            <a:ext cx="4876678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Cinque misurazioni: minimo e massimo in una sola chiamata, media ed escursione.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09585" y="3463528"/>
            <a:ext cx="10972526" cy="1019671"/>
          </a:xfrm>
          <a:prstGeom prst="roundRect">
            <a:avLst>
              <a:gd name="adj" fmla="val 1121"/>
            </a:avLst>
          </a:prstGeom>
          <a:solidFill>
            <a:srgbClr val="DBF0DD"/>
          </a:solidFill>
          <a:ln/>
        </p:spPr>
      </p:sp>
      <p:sp>
        <p:nvSpPr>
          <p:cNvPr id="11" name="Text 9"/>
          <p:cNvSpPr/>
          <p:nvPr/>
        </p:nvSpPr>
        <p:spPr>
          <a:xfrm>
            <a:off x="838179" y="3679973"/>
            <a:ext cx="10515337" cy="2374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060 – Divisione intera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38179" y="4040366"/>
            <a:ext cx="10743931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Secondi in ore, minuti e secondi; centesimi in euro e centesimi.</a:t>
            </a:r>
            <a:endParaRPr lang="en-US" sz="14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1737380"/>
            <a:ext cx="11582110" cy="18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50" spc="63" kern="100" dirty="0">
                <a:solidFill>
                  <a:srgbClr val="256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SEZIONE 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585" y="2014132"/>
            <a:ext cx="10972526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Esempi Pratici: Scope e Visibilità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09585" y="2625308"/>
            <a:ext cx="1158211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Concetti base — tre file sulla vita e sulla visibilità delle variabili.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09585" y="3017341"/>
            <a:ext cx="3454314" cy="2108994"/>
          </a:xfrm>
          <a:prstGeom prst="roundRect">
            <a:avLst>
              <a:gd name="adj" fmla="val 542"/>
            </a:avLst>
          </a:prstGeom>
          <a:solidFill>
            <a:srgbClr val="DBF0DD"/>
          </a:solidFill>
          <a:ln/>
        </p:spPr>
      </p:sp>
      <p:sp>
        <p:nvSpPr>
          <p:cNvPr id="6" name="Text 4"/>
          <p:cNvSpPr/>
          <p:nvPr/>
        </p:nvSpPr>
        <p:spPr>
          <a:xfrm>
            <a:off x="787380" y="3220541"/>
            <a:ext cx="3098722" cy="14537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1 – 010-variabili-locali.c</a:t>
            </a:r>
            <a:endParaRPr lang="en-US" sz="1400" dirty="0"/>
          </a:p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Problema:</a:t>
            </a:r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dove esiste una variabile.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Tecnica:</a:t>
            </a:r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stesso nome in funzioni diverse, blocchi annidati.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68691" y="3017341"/>
            <a:ext cx="3454314" cy="2108994"/>
          </a:xfrm>
          <a:prstGeom prst="roundRect">
            <a:avLst>
              <a:gd name="adj" fmla="val 542"/>
            </a:avLst>
          </a:prstGeom>
          <a:solidFill>
            <a:srgbClr val="DBF0DD"/>
          </a:solidFill>
          <a:ln/>
        </p:spPr>
      </p:sp>
      <p:sp>
        <p:nvSpPr>
          <p:cNvPr id="8" name="Text 6"/>
          <p:cNvSpPr/>
          <p:nvPr/>
        </p:nvSpPr>
        <p:spPr>
          <a:xfrm>
            <a:off x="4546486" y="3220541"/>
            <a:ext cx="3098722" cy="1702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2 – 020-variabili-globali.c</a:t>
            </a:r>
            <a:endParaRPr lang="en-US" sz="1400" dirty="0"/>
          </a:p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Problema:</a:t>
            </a:r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condividere uno stato tra funzioni.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Tecnica:</a:t>
            </a:r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globale modificata da aggiungi, sottrai, azzera; inizializzazione a 0.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27797" y="3017341"/>
            <a:ext cx="3454314" cy="2108994"/>
          </a:xfrm>
          <a:prstGeom prst="roundRect">
            <a:avLst>
              <a:gd name="adj" fmla="val 542"/>
            </a:avLst>
          </a:prstGeom>
          <a:solidFill>
            <a:srgbClr val="DBF0DD"/>
          </a:solidFill>
          <a:ln/>
        </p:spPr>
      </p:sp>
      <p:sp>
        <p:nvSpPr>
          <p:cNvPr id="10" name="Text 8"/>
          <p:cNvSpPr/>
          <p:nvPr/>
        </p:nvSpPr>
        <p:spPr>
          <a:xfrm>
            <a:off x="8305592" y="3220541"/>
            <a:ext cx="3098722" cy="14537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3 – 030-shadowing.c</a:t>
            </a:r>
            <a:endParaRPr lang="en-US" sz="1400" dirty="0"/>
          </a:p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Problema:</a:t>
            </a:r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nomi uguali in scope diversi.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Tecnica:</a:t>
            </a:r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una locale oscura la globale; effetti e come evitarlo.</a:t>
            </a:r>
            <a:endParaRPr lang="en-US" sz="14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15315"/>
            <a:ext cx="11582110" cy="18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50" spc="63" kern="100" dirty="0">
                <a:solidFill>
                  <a:srgbClr val="256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SEZIONE 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585" y="892067"/>
            <a:ext cx="10972526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Esempi Pratici: Problemi su Scope e Visibilità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09585" y="1443236"/>
            <a:ext cx="5333867" cy="1268512"/>
          </a:xfrm>
          <a:prstGeom prst="roundRect">
            <a:avLst>
              <a:gd name="adj" fmla="val 901"/>
            </a:avLst>
          </a:prstGeom>
          <a:solidFill>
            <a:srgbClr val="DBF0DD"/>
          </a:solidFill>
          <a:ln/>
        </p:spPr>
      </p:sp>
      <p:sp>
        <p:nvSpPr>
          <p:cNvPr id="5" name="Text 3"/>
          <p:cNvSpPr/>
          <p:nvPr/>
        </p:nvSpPr>
        <p:spPr>
          <a:xfrm>
            <a:off x="838179" y="1659680"/>
            <a:ext cx="4876678" cy="2374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040 – Contatore di chiamate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38179" y="2020074"/>
            <a:ext cx="4876678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Contatori globali per diagnosticare quante volte viene chiamata ogni funzione.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48244" y="1443236"/>
            <a:ext cx="5333867" cy="1268512"/>
          </a:xfrm>
          <a:prstGeom prst="roundRect">
            <a:avLst>
              <a:gd name="adj" fmla="val 901"/>
            </a:avLst>
          </a:prstGeom>
          <a:solidFill>
            <a:srgbClr val="DBF0DD"/>
          </a:solidFill>
          <a:ln/>
        </p:spPr>
      </p:sp>
      <p:sp>
        <p:nvSpPr>
          <p:cNvPr id="8" name="Text 6"/>
          <p:cNvSpPr/>
          <p:nvPr/>
        </p:nvSpPr>
        <p:spPr>
          <a:xfrm>
            <a:off x="6476838" y="1659680"/>
            <a:ext cx="4876678" cy="2374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050 – Temperatura giornaliera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76838" y="2020074"/>
            <a:ext cx="4876678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Stazione meteo: minimo e massimo globali aggiornati a ogni rilevazione.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09585" y="3016548"/>
            <a:ext cx="10972526" cy="1019671"/>
          </a:xfrm>
          <a:prstGeom prst="roundRect">
            <a:avLst>
              <a:gd name="adj" fmla="val 1121"/>
            </a:avLst>
          </a:prstGeom>
          <a:solidFill>
            <a:srgbClr val="DBF0DD"/>
          </a:solidFill>
          <a:ln/>
        </p:spPr>
      </p:sp>
      <p:sp>
        <p:nvSpPr>
          <p:cNvPr id="11" name="Text 9"/>
          <p:cNvSpPr/>
          <p:nvPr/>
        </p:nvSpPr>
        <p:spPr>
          <a:xfrm>
            <a:off x="838179" y="3232992"/>
            <a:ext cx="10515337" cy="2374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060 – Validazione input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38179" y="3593386"/>
            <a:ext cx="10743931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Una funzione per campo e un contatore globale di errori decide l'esito del modulo.</a:t>
            </a:r>
            <a:endParaRPr lang="en-US" sz="14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2026-10-11T10:01:54Z</dcterms:created>
  <dcterms:modified xsi:type="dcterms:W3CDTF">2026-10-11T10:01:54Z</dcterms:modified>
</cp:coreProperties>
</file>