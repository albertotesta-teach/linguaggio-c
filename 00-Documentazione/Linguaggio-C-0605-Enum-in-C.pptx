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1695" cy="6858000"/>
  <p:notesSz cx="6858000" cy="12191695"/>
  <p:embeddedFontLst>
    <p:embeddedFont>
      <p:font typeface="Verdana"/>
      <p:regular r:id="rId201314"/>
    </p:embeddedFont>
    <p:embeddedFont>
      <p:font typeface="Verdana Bold"/>
      <p:regular r:id="rId2013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34632"/>
            <a:ext cx="6502237" cy="614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4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Enum in C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06390" y="1107103"/>
            <a:ext cx="6908627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Dichiarazione e valori, enum e switch, enum nelle struct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6390" y="1635720"/>
            <a:ext cx="6502237" cy="473373"/>
          </a:xfrm>
          <a:prstGeom prst="roundRect">
            <a:avLst>
              <a:gd name="adj" fmla="val 12877"/>
            </a:avLst>
          </a:prstGeom>
          <a:solidFill>
            <a:srgbClr val="1B4D24"/>
          </a:solidFill>
          <a:ln/>
        </p:spPr>
      </p:sp>
      <p:sp>
        <p:nvSpPr>
          <p:cNvPr id="5" name="Shape 3"/>
          <p:cNvSpPr/>
          <p:nvPr/>
        </p:nvSpPr>
        <p:spPr>
          <a:xfrm>
            <a:off x="584185" y="1737320"/>
            <a:ext cx="1310250" cy="270173"/>
          </a:xfrm>
          <a:prstGeom prst="roundRect">
            <a:avLst>
              <a:gd name="adj" fmla="val 4231"/>
            </a:avLst>
          </a:prstGeom>
          <a:solidFill>
            <a:srgbClr val="DBF0DD"/>
          </a:solidFill>
          <a:ln/>
        </p:spPr>
      </p:sp>
      <p:sp>
        <p:nvSpPr>
          <p:cNvPr id="6" name="Text 4"/>
          <p:cNvSpPr/>
          <p:nvPr/>
        </p:nvSpPr>
        <p:spPr>
          <a:xfrm>
            <a:off x="690843" y="1794411"/>
            <a:ext cx="1706520" cy="163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LINGUAGGIO C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983333" y="1737320"/>
            <a:ext cx="1801371" cy="270173"/>
          </a:xfrm>
          <a:prstGeom prst="roundRect">
            <a:avLst>
              <a:gd name="adj" fmla="val 4231"/>
            </a:avLst>
          </a:prstGeom>
          <a:solidFill>
            <a:srgbClr val="DBF0DD"/>
          </a:solidFill>
          <a:ln/>
        </p:spPr>
      </p:sp>
      <p:sp>
        <p:nvSpPr>
          <p:cNvPr id="8" name="Text 6"/>
          <p:cNvSpPr/>
          <p:nvPr/>
        </p:nvSpPr>
        <p:spPr>
          <a:xfrm>
            <a:off x="2089991" y="1794411"/>
            <a:ext cx="2197640" cy="163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STRUTTURE E UNIONI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873602" y="1737320"/>
            <a:ext cx="633198" cy="270173"/>
          </a:xfrm>
          <a:prstGeom prst="roundRect">
            <a:avLst>
              <a:gd name="adj" fmla="val 4231"/>
            </a:avLst>
          </a:prstGeom>
          <a:solidFill>
            <a:srgbClr val="DBF0DD"/>
          </a:solidFill>
          <a:ln/>
        </p:spPr>
      </p:sp>
      <p:sp>
        <p:nvSpPr>
          <p:cNvPr id="10" name="Text 8"/>
          <p:cNvSpPr/>
          <p:nvPr/>
        </p:nvSpPr>
        <p:spPr>
          <a:xfrm>
            <a:off x="3980259" y="1794411"/>
            <a:ext cx="1029468" cy="163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ENUM</a:t>
            </a:r>
            <a:endParaRPr lang="en-US" sz="11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017" y="304800"/>
            <a:ext cx="4470288" cy="6248400"/>
          </a:xfrm>
          <a:prstGeom prst="rect">
            <a:avLst/>
          </a:prstGeom>
        </p:spPr>
      </p:pic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27611"/>
            <a:ext cx="6908627" cy="893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Un Tipo con Costanti con Nome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06390" y="1385769"/>
            <a:ext cx="6908627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Un enum elenca i valori possibili di un tipo, dando un nome a ognuno. Le costanti sono interi: la prima vale 0, ognuna vale uno in più della precedente.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06390" y="2323108"/>
            <a:ext cx="6908627" cy="3200202"/>
          </a:xfrm>
          <a:prstGeom prst="roundRect">
            <a:avLst>
              <a:gd name="adj" fmla="val 357"/>
            </a:avLst>
          </a:prstGeom>
          <a:solidFill>
            <a:srgbClr val="F2EDED"/>
          </a:solidFill>
          <a:ln/>
        </p:spPr>
      </p:sp>
      <p:sp>
        <p:nvSpPr>
          <p:cNvPr id="5" name="Text 3"/>
          <p:cNvSpPr/>
          <p:nvPr/>
        </p:nvSpPr>
        <p:spPr>
          <a:xfrm>
            <a:off x="619705" y="2501225"/>
            <a:ext cx="6481997" cy="28446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typedef enum 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LUNEDI, MARTEDI, MERCOLEDI, GIOVEDI,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VENERDI, SABATO, DOMENICA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Giorno;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Giorno oggi = VENERDI;          /* vale 4 */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(oggi == SABATO || oggi == DOMENICA) 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printf("fine settimana\n");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06390" y="5723334"/>
            <a:ext cx="6908627" cy="645120"/>
          </a:xfrm>
          <a:custGeom>
            <a:avLst/>
            <a:gdLst/>
            <a:ahLst/>
            <a:cxnLst/>
            <a:rect l="l" t="t" r="r" b="b"/>
            <a:pathLst>
              <a:path w="6908627" h="645120">
                <a:moveTo>
                  <a:pt x="0" y="0"/>
                </a:moveTo>
                <a:lnTo>
                  <a:pt x="6857828" y="0"/>
                </a:lnTo>
                <a:arcTo hR="50800" wR="50799" stAng="16200000" swAng="5400000"/>
                <a:lnTo>
                  <a:pt x="6908627" y="594320"/>
                </a:lnTo>
                <a:arcTo hR="50800" wR="50799" stAng="0" swAng="5400000"/>
                <a:lnTo>
                  <a:pt x="0" y="645120"/>
                </a:lnTo>
                <a:lnTo>
                  <a:pt x="0" y="0"/>
                </a:lnTo>
                <a:close/>
              </a:path>
            </a:pathLst>
          </a:custGeom>
          <a:solidFill>
            <a:srgbClr val="DCEFDC"/>
          </a:solidFill>
          <a:ln/>
        </p:spPr>
      </p:sp>
      <p:sp>
        <p:nvSpPr>
          <p:cNvPr id="7" name="Shape 5"/>
          <p:cNvSpPr/>
          <p:nvPr/>
        </p:nvSpPr>
        <p:spPr>
          <a:xfrm>
            <a:off x="406390" y="5723334"/>
            <a:ext cx="50799" cy="645120"/>
          </a:xfrm>
          <a:prstGeom prst="rect">
            <a:avLst/>
          </a:prstGeom>
          <a:solidFill>
            <a:srgbClr val="256B2B"/>
          </a:solidFill>
          <a:ln/>
        </p:spPr>
      </p:sp>
      <p:sp>
        <p:nvSpPr>
          <p:cNvPr id="8" name="Text 6"/>
          <p:cNvSpPr/>
          <p:nvPr/>
        </p:nvSpPr>
        <p:spPr>
          <a:xfrm>
            <a:off x="634984" y="5858589"/>
            <a:ext cx="6502237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Convenzione del corso: il tipo ha l'iniziale maiuscola come le struct, le costanti sono tutte maiuscole.</a:t>
            </a:r>
            <a:endParaRPr lang="en-US" sz="11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1407" y="304800"/>
            <a:ext cx="4267093" cy="2265561"/>
          </a:xfrm>
          <a:prstGeom prst="rect">
            <a:avLst/>
          </a:prstGeom>
        </p:spPr>
      </p:pic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502936" y="6466086"/>
            <a:ext cx="68875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27611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#define o enum?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06390" y="1129605"/>
            <a:ext cx="5906146" cy="3484662"/>
          </a:xfrm>
          <a:prstGeom prst="roundRect">
            <a:avLst>
              <a:gd name="adj" fmla="val 328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619705" y="1307723"/>
            <a:ext cx="5479516" cy="31290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LUNEDI   0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MARTEDI  1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MERCOLEDI 2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oggi = 4;               /* quale giorno? */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typedef enum { LUNEDI, MARTEDI, ... } Giorno;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Giorno oggi = VENERDI;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stampa_orario(Giorno g);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oggi = 42;                  /* compila lo stesso */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7229" y="929580"/>
          <a:ext cx="5168076" cy="914400"/>
        </p:xfrm>
        <a:graphic>
          <a:graphicData uri="http://schemas.openxmlformats.org/drawingml/2006/table">
            <a:tbl>
              <a:tblPr/>
              <a:tblGrid>
                <a:gridCol w="2583989"/>
                <a:gridCol w="2584088"/>
              </a:tblGrid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#define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enum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costanti sparse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un tipo con un nome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60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valori scritti a mano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valori assegnati dal compilatore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60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il debugger mostra 4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il debugger mostra VENERDI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974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nessun legame nei prototipi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il prototipo dice quali valori si aspetta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617229" y="3808512"/>
            <a:ext cx="5168076" cy="645120"/>
          </a:xfrm>
          <a:custGeom>
            <a:avLst/>
            <a:gdLst/>
            <a:ahLst/>
            <a:cxnLst/>
            <a:rect l="l" t="t" r="r" b="b"/>
            <a:pathLst>
              <a:path w="5168076" h="645120">
                <a:moveTo>
                  <a:pt x="0" y="0"/>
                </a:moveTo>
                <a:lnTo>
                  <a:pt x="5117277" y="0"/>
                </a:lnTo>
                <a:arcTo hR="50800" wR="50799" stAng="16200000" swAng="5400000"/>
                <a:lnTo>
                  <a:pt x="5168076" y="594320"/>
                </a:lnTo>
                <a:arcTo hR="50800" wR="50799" stAng="0" swAng="5400000"/>
                <a:lnTo>
                  <a:pt x="0" y="645120"/>
                </a:lnTo>
                <a:lnTo>
                  <a:pt x="0" y="0"/>
                </a:lnTo>
                <a:close/>
              </a:path>
            </a:pathLst>
          </a:custGeom>
          <a:solidFill>
            <a:srgbClr val="DCEFDC"/>
          </a:solidFill>
          <a:ln/>
        </p:spPr>
      </p:sp>
      <p:sp>
        <p:nvSpPr>
          <p:cNvPr id="7" name="Shape 4"/>
          <p:cNvSpPr/>
          <p:nvPr/>
        </p:nvSpPr>
        <p:spPr>
          <a:xfrm>
            <a:off x="6617229" y="3808512"/>
            <a:ext cx="50799" cy="645120"/>
          </a:xfrm>
          <a:prstGeom prst="rect">
            <a:avLst/>
          </a:prstGeom>
          <a:solidFill>
            <a:srgbClr val="256B2B"/>
          </a:solidFill>
          <a:ln/>
        </p:spPr>
      </p:sp>
      <p:sp>
        <p:nvSpPr>
          <p:cNvPr id="8" name="Text 5"/>
          <p:cNvSpPr/>
          <p:nvPr/>
        </p:nvSpPr>
        <p:spPr>
          <a:xfrm>
            <a:off x="6845823" y="3943767"/>
            <a:ext cx="4761686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Un enum non è un controllo: un numero letto da tastiera va verificato prima di assegnarlo a una variabile enum.</a:t>
            </a:r>
            <a:endParaRPr lang="en-US" sz="11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502936" y="6466086"/>
            <a:ext cx="68875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27611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Valori Espliciti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06390" y="1129605"/>
            <a:ext cx="5906146" cy="3769122"/>
          </a:xfrm>
          <a:prstGeom prst="roundRect">
            <a:avLst>
              <a:gd name="adj" fmla="val 303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619705" y="1307723"/>
            <a:ext cx="5479516" cy="3413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typedef enum 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GENNAIO = 1, FEBBRAIO, MARZO, ..., DICEMBRE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Mese;                                  /* da 1 a 12 */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typedef enum 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BASSA = 1, MEDIA, ALTA, URGENTE = 10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Priorita;                              /* 1, 2, 3, 10 */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typedef enum 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OK = 200, NON_TROVATO = 404,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ERRORE_SERVER = 500, SUCCESSO = OK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Risposta;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617229" y="938788"/>
            <a:ext cx="5168076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Con = si sceglie il valore di una costante; le successive continuano a contare da lì. Due costanti possono avere lo stesso valore (SUCCESSO è un sinonimo di OK).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617229" y="1828502"/>
            <a:ext cx="5168076" cy="840680"/>
          </a:xfrm>
          <a:custGeom>
            <a:avLst/>
            <a:gdLst/>
            <a:ahLst/>
            <a:cxnLst/>
            <a:rect l="l" t="t" r="r" b="b"/>
            <a:pathLst>
              <a:path w="5168076" h="840680">
                <a:moveTo>
                  <a:pt x="0" y="0"/>
                </a:moveTo>
                <a:lnTo>
                  <a:pt x="5117277" y="0"/>
                </a:lnTo>
                <a:arcTo hR="50800" wR="50799" stAng="16200000" swAng="5400000"/>
                <a:lnTo>
                  <a:pt x="5168076" y="789881"/>
                </a:lnTo>
                <a:arcTo hR="50800" wR="50799" stAng="0" swAng="5400000"/>
                <a:lnTo>
                  <a:pt x="0" y="840680"/>
                </a:lnTo>
                <a:lnTo>
                  <a:pt x="0" y="0"/>
                </a:lnTo>
                <a:close/>
              </a:path>
            </a:pathLst>
          </a:custGeom>
          <a:solidFill>
            <a:srgbClr val="DCEFDC"/>
          </a:solidFill>
          <a:ln/>
        </p:spPr>
      </p:sp>
      <p:sp>
        <p:nvSpPr>
          <p:cNvPr id="7" name="Shape 5"/>
          <p:cNvSpPr/>
          <p:nvPr/>
        </p:nvSpPr>
        <p:spPr>
          <a:xfrm>
            <a:off x="6617229" y="1828502"/>
            <a:ext cx="50799" cy="840680"/>
          </a:xfrm>
          <a:prstGeom prst="rect">
            <a:avLst/>
          </a:prstGeom>
          <a:solidFill>
            <a:srgbClr val="256B2B"/>
          </a:solidFill>
          <a:ln/>
        </p:spPr>
      </p:sp>
      <p:sp>
        <p:nvSpPr>
          <p:cNvPr id="8" name="Text 6"/>
          <p:cNvSpPr/>
          <p:nvPr/>
        </p:nvSpPr>
        <p:spPr>
          <a:xfrm>
            <a:off x="6845823" y="1963757"/>
            <a:ext cx="4761686" cy="586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Con i valori scelti a mano il numero ha un significato anche fuori dal programma: GENNAIO = 1 coincide con il mese scritto in una data, NON_TROVATO = 404 con il codice ricevuto dal browser.</a:t>
            </a:r>
            <a:endParaRPr lang="en-US" sz="11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502936" y="6466086"/>
            <a:ext cx="68875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27611"/>
            <a:ext cx="6908627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Enum come Indice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06390" y="938788"/>
            <a:ext cx="6908627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Le costanti partono da 0 e salgono di uno: sono gli indici di un array. Una costante finale conta le altre.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06390" y="1627287"/>
            <a:ext cx="6908627" cy="2915741"/>
          </a:xfrm>
          <a:prstGeom prst="roundRect">
            <a:avLst>
              <a:gd name="adj" fmla="val 392"/>
            </a:avLst>
          </a:prstGeom>
          <a:solidFill>
            <a:srgbClr val="F2EDED"/>
          </a:solidFill>
          <a:ln/>
        </p:spPr>
      </p:sp>
      <p:sp>
        <p:nvSpPr>
          <p:cNvPr id="5" name="Text 3"/>
          <p:cNvSpPr/>
          <p:nvPr/>
        </p:nvSpPr>
        <p:spPr>
          <a:xfrm>
            <a:off x="619705" y="1805404"/>
            <a:ext cx="6481997" cy="2560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typedef enum { VERDE, GIALLO, ROSSO, NUM_COLORI } Colore;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durata[NUM_COLORI] = {[VERDE] = 40, [GIALLO] = 5, [ROSSO] = 45};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char *nomi[NUM_COLORI] = {[VERDE] = "VERDE",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[GIALLO] = "GIALLO",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[ROSSO] = "ROSSO"};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printf("%s per %d s\n", nomi[colore], durata[colore]);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colore = (colore + 1) % NUM_COLORI;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06390" y="4743053"/>
            <a:ext cx="6908627" cy="645120"/>
          </a:xfrm>
          <a:custGeom>
            <a:avLst/>
            <a:gdLst/>
            <a:ahLst/>
            <a:cxnLst/>
            <a:rect l="l" t="t" r="r" b="b"/>
            <a:pathLst>
              <a:path w="6908627" h="645120">
                <a:moveTo>
                  <a:pt x="0" y="0"/>
                </a:moveTo>
                <a:lnTo>
                  <a:pt x="6857828" y="0"/>
                </a:lnTo>
                <a:arcTo hR="50800" wR="50799" stAng="16200000" swAng="5400000"/>
                <a:lnTo>
                  <a:pt x="6908627" y="594320"/>
                </a:lnTo>
                <a:arcTo hR="50800" wR="50799" stAng="0" swAng="5400000"/>
                <a:lnTo>
                  <a:pt x="0" y="645120"/>
                </a:lnTo>
                <a:lnTo>
                  <a:pt x="0" y="0"/>
                </a:lnTo>
                <a:close/>
              </a:path>
            </a:pathLst>
          </a:custGeom>
          <a:solidFill>
            <a:srgbClr val="DCEFDC"/>
          </a:solidFill>
          <a:ln/>
        </p:spPr>
      </p:sp>
      <p:sp>
        <p:nvSpPr>
          <p:cNvPr id="7" name="Shape 5"/>
          <p:cNvSpPr/>
          <p:nvPr/>
        </p:nvSpPr>
        <p:spPr>
          <a:xfrm>
            <a:off x="406390" y="4743053"/>
            <a:ext cx="50799" cy="645120"/>
          </a:xfrm>
          <a:prstGeom prst="rect">
            <a:avLst/>
          </a:prstGeom>
          <a:solidFill>
            <a:srgbClr val="256B2B"/>
          </a:solidFill>
          <a:ln/>
        </p:spPr>
      </p:sp>
      <p:sp>
        <p:nvSpPr>
          <p:cNvPr id="8" name="Text 6"/>
          <p:cNvSpPr/>
          <p:nvPr/>
        </p:nvSpPr>
        <p:spPr>
          <a:xfrm>
            <a:off x="634984" y="4878308"/>
            <a:ext cx="6502237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Aggiungendo un colore prima di NUM_COLORI, gli array si ridimensionano da soli. Con [VERDE] = ... ogni valore sta accanto alla sua costante.</a:t>
            </a:r>
            <a:endParaRPr lang="en-US" sz="11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1407" y="304800"/>
            <a:ext cx="4267093" cy="2532559"/>
          </a:xfrm>
          <a:prstGeom prst="rect">
            <a:avLst/>
          </a:prstGeom>
        </p:spPr>
      </p:pic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502936" y="6466086"/>
            <a:ext cx="68875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27611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switch su un Enum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06390" y="1129605"/>
            <a:ext cx="5906146" cy="5191423"/>
          </a:xfrm>
          <a:prstGeom prst="roundRect">
            <a:avLst>
              <a:gd name="adj" fmla="val 220"/>
            </a:avLst>
          </a:prstGeom>
          <a:solidFill>
            <a:srgbClr val="F2EDED"/>
          </a:solidFill>
          <a:ln/>
        </p:spPr>
      </p:sp>
      <p:sp>
        <p:nvSpPr>
          <p:cNvPr id="4" name="Text 2"/>
          <p:cNvSpPr/>
          <p:nvPr/>
        </p:nvSpPr>
        <p:spPr>
          <a:xfrm>
            <a:off x="619705" y="1307723"/>
            <a:ext cx="5479516" cy="48358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area(Forma f, double misura)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double risultato = 0;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switch (f) 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case CERCHIO: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risultato = PI_GRECO * misura * misura;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break;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case QUADRATO: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risultato = misura * misura;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break;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case TRIANGOLO: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risultato = sqrt(3.0) / 4 * misura * misura;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break;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risultato;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617229" y="938788"/>
            <a:ext cx="5168076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Un enum elenca tutti i valori possibili, quindi lo switch ha un case per ognuno. Con -Wall il compilatore controlla: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617229" y="1627287"/>
            <a:ext cx="5168076" cy="924520"/>
          </a:xfrm>
          <a:prstGeom prst="roundRect">
            <a:avLst>
              <a:gd name="adj" fmla="val 1236"/>
            </a:avLst>
          </a:prstGeom>
          <a:solidFill>
            <a:srgbClr val="F2EDED"/>
          </a:solidFill>
          <a:ln/>
        </p:spPr>
      </p:sp>
      <p:sp>
        <p:nvSpPr>
          <p:cNvPr id="7" name="Text 5"/>
          <p:cNvSpPr/>
          <p:nvPr/>
        </p:nvSpPr>
        <p:spPr>
          <a:xfrm>
            <a:off x="6830544" y="1805404"/>
            <a:ext cx="4741446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warning: enumeration value 'TRIANGOLO'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not handled in switch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617229" y="2878832"/>
            <a:ext cx="5168076" cy="840680"/>
          </a:xfrm>
          <a:custGeom>
            <a:avLst/>
            <a:gdLst/>
            <a:ahLst/>
            <a:cxnLst/>
            <a:rect l="l" t="t" r="r" b="b"/>
            <a:pathLst>
              <a:path w="5168076" h="840680">
                <a:moveTo>
                  <a:pt x="0" y="0"/>
                </a:moveTo>
                <a:lnTo>
                  <a:pt x="5117277" y="0"/>
                </a:lnTo>
                <a:arcTo hR="50800" wR="50799" stAng="16200000" swAng="5400000"/>
                <a:lnTo>
                  <a:pt x="5168076" y="789881"/>
                </a:lnTo>
                <a:arcTo hR="50800" wR="50799" stAng="0" swAng="5400000"/>
                <a:lnTo>
                  <a:pt x="0" y="840680"/>
                </a:lnTo>
                <a:lnTo>
                  <a:pt x="0" y="0"/>
                </a:lnTo>
                <a:close/>
              </a:path>
            </a:pathLst>
          </a:custGeom>
          <a:solidFill>
            <a:srgbClr val="DCEFDC"/>
          </a:solidFill>
          <a:ln/>
        </p:spPr>
      </p:sp>
      <p:sp>
        <p:nvSpPr>
          <p:cNvPr id="9" name="Shape 7"/>
          <p:cNvSpPr/>
          <p:nvPr/>
        </p:nvSpPr>
        <p:spPr>
          <a:xfrm>
            <a:off x="6617229" y="2878832"/>
            <a:ext cx="50799" cy="840680"/>
          </a:xfrm>
          <a:prstGeom prst="rect">
            <a:avLst/>
          </a:prstGeom>
          <a:solidFill>
            <a:srgbClr val="256B2B"/>
          </a:solidFill>
          <a:ln/>
        </p:spPr>
      </p:sp>
      <p:sp>
        <p:nvSpPr>
          <p:cNvPr id="10" name="Text 8"/>
          <p:cNvSpPr/>
          <p:nvPr/>
        </p:nvSpPr>
        <p:spPr>
          <a:xfrm>
            <a:off x="6845823" y="3014087"/>
            <a:ext cx="4761686" cy="586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Sugli enum niente default: quando si aggiunge una costante, il compilatore indica tutti gli switch da aggiornare. La costante NUM_... ha il suo case vuoto.</a:t>
            </a:r>
            <a:endParaRPr lang="en-US" sz="11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1502936" y="6466086"/>
            <a:ext cx="68875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25907"/>
            <a:ext cx="11378915" cy="432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1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Funzioni con Enum e Conversione da Testo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406390" y="1096863"/>
            <a:ext cx="5906146" cy="5569545"/>
          </a:xfrm>
          <a:prstGeom prst="roundRect">
            <a:avLst>
              <a:gd name="adj" fmla="val 205"/>
            </a:avLst>
          </a:prstGeom>
          <a:solidFill>
            <a:srgbClr val="F2EDED"/>
          </a:solidFill>
          <a:ln/>
        </p:spPr>
      </p:sp>
      <p:sp>
        <p:nvSpPr>
          <p:cNvPr id="4" name="Text 2"/>
          <p:cNvSpPr/>
          <p:nvPr/>
        </p:nvSpPr>
        <p:spPr>
          <a:xfrm>
            <a:off x="612660" y="1268809"/>
            <a:ext cx="5493605" cy="52256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typedef enum {</a:t>
            </a:r>
            <a:endParaRPr lang="en-US" sz="13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ITALIANO, MATEMATICA, INGLESE, INFORMATICA,</a:t>
            </a:r>
            <a:endParaRPr lang="en-US" sz="13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NUM_MATERIE,</a:t>
            </a:r>
            <a:endParaRPr lang="en-US" sz="13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MATERIA_NON_VALIDA</a:t>
            </a:r>
            <a:endParaRPr lang="en-US" sz="13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Materia;</a:t>
            </a:r>
            <a:endParaRPr lang="en-US" sz="1350" dirty="0"/>
          </a:p>
          <a:p>
            <a:pPr algn="l" indent="0" marL="0">
              <a:lnSpc>
                <a:spcPct val="133000"/>
              </a:lnSpc>
              <a:buNone/>
            </a:pPr>
            <a:endParaRPr lang="en-US" sz="13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Materia da_testo(const char *parola)</a:t>
            </a:r>
            <a:endParaRPr lang="en-US" sz="13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Materia trovata = MATERIA_NON_VALIDA;</a:t>
            </a:r>
            <a:endParaRPr lang="en-US" sz="13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Materia m = ITALIANO;</a:t>
            </a:r>
            <a:endParaRPr lang="en-US" sz="1350" dirty="0"/>
          </a:p>
          <a:p>
            <a:pPr algn="l" indent="0" marL="0">
              <a:lnSpc>
                <a:spcPct val="133000"/>
              </a:lnSpc>
              <a:buNone/>
            </a:pPr>
            <a:endParaRPr lang="en-US" sz="13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(m &lt; NUM_MATERIE &amp;&amp; trovata == MATERIA_NON_VALIDA) {</a:t>
            </a:r>
            <a:endParaRPr lang="en-US" sz="13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(strcmp(a_testo(m), parola) == 0) {</a:t>
            </a:r>
            <a:endParaRPr lang="en-US" sz="13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trovata = m;</a:t>
            </a:r>
            <a:endParaRPr lang="en-US" sz="13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13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m++;</a:t>
            </a:r>
            <a:endParaRPr lang="en-US" sz="13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3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trovata;</a:t>
            </a:r>
            <a:endParaRPr lang="en-US" sz="13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7229" y="903486"/>
          <a:ext cx="5168076" cy="914400"/>
        </p:xfrm>
        <a:graphic>
          <a:graphicData uri="http://schemas.openxmlformats.org/drawingml/2006/table">
            <a:tbl>
              <a:tblPr/>
              <a:tblGrid>
                <a:gridCol w="2583989"/>
                <a:gridCol w="2584088"/>
              </a:tblGrid>
              <a:tr h="38059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Funzione</a:t>
                      </a:r>
                      <a:endParaRPr lang="en-US" sz="13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28981" marR="128981" marT="68790" marB="6879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Al posto di</a:t>
                      </a:r>
                      <a:endParaRPr lang="en-US" sz="13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28981" marR="128981" marT="68790" marB="6879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7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Esito valuta(double media, int insuff.)</a:t>
                      </a:r>
                      <a:endParaRPr lang="en-US" sz="13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28981" marR="128981" marT="68790" marB="6879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int che vale 0, 1 o 2</a:t>
                      </a:r>
                      <a:endParaRPr lang="en-US" sz="13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28981" marR="128981" marT="68790" marB="6879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7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const char *a_testo(Materia m)</a:t>
                      </a:r>
                      <a:endParaRPr lang="en-US" sz="13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28981" marR="128981" marT="68790" marB="6879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uno switch ripetuto</a:t>
                      </a:r>
                      <a:endParaRPr lang="en-US" sz="13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28981" marR="128981" marT="68790" marB="6879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09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Materia da_testo(const char *parola)</a:t>
                      </a:r>
                      <a:endParaRPr lang="en-US" sz="13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28981" marR="128981" marT="68790" marB="6879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strcmp sparsi nel codice</a:t>
                      </a:r>
                      <a:endParaRPr lang="en-US" sz="13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28981" marR="128981" marT="68790" marB="6879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617229" y="3282156"/>
            <a:ext cx="5168076" cy="626070"/>
          </a:xfrm>
          <a:custGeom>
            <a:avLst/>
            <a:gdLst/>
            <a:ahLst/>
            <a:cxnLst/>
            <a:rect l="l" t="t" r="r" b="b"/>
            <a:pathLst>
              <a:path w="5168076" h="626070">
                <a:moveTo>
                  <a:pt x="0" y="0"/>
                </a:moveTo>
                <a:lnTo>
                  <a:pt x="5117277" y="0"/>
                </a:lnTo>
                <a:arcTo hR="50800" wR="50799" stAng="16200000" swAng="5400000"/>
                <a:lnTo>
                  <a:pt x="5168076" y="575270"/>
                </a:lnTo>
                <a:arcTo hR="50800" wR="50799" stAng="0" swAng="5400000"/>
                <a:lnTo>
                  <a:pt x="0" y="626070"/>
                </a:lnTo>
                <a:lnTo>
                  <a:pt x="0" y="0"/>
                </a:lnTo>
                <a:close/>
              </a:path>
            </a:pathLst>
          </a:custGeom>
          <a:solidFill>
            <a:srgbClr val="DCEFDC"/>
          </a:solidFill>
          <a:ln/>
        </p:spPr>
      </p:sp>
      <p:sp>
        <p:nvSpPr>
          <p:cNvPr id="7" name="Shape 4"/>
          <p:cNvSpPr/>
          <p:nvPr/>
        </p:nvSpPr>
        <p:spPr>
          <a:xfrm>
            <a:off x="6617229" y="3282156"/>
            <a:ext cx="50799" cy="626070"/>
          </a:xfrm>
          <a:prstGeom prst="rect">
            <a:avLst/>
          </a:prstGeom>
          <a:solidFill>
            <a:srgbClr val="256B2B"/>
          </a:solidFill>
          <a:ln/>
        </p:spPr>
      </p:sp>
      <p:sp>
        <p:nvSpPr>
          <p:cNvPr id="8" name="Text 5"/>
          <p:cNvSpPr/>
          <p:nvPr/>
        </p:nvSpPr>
        <p:spPr>
          <a:xfrm>
            <a:off x="6845823" y="3415024"/>
            <a:ext cx="4761686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Il valore per le parole sconosciute sta dopo NUM_MATERIE: non diventa mai un indice valido della tabella dei nomi.</a:t>
            </a:r>
            <a:endParaRPr lang="en-US" sz="10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502936" y="6466086"/>
            <a:ext cx="68875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27611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Un Campo Enum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06390" y="1129605"/>
            <a:ext cx="5906146" cy="3769122"/>
          </a:xfrm>
          <a:prstGeom prst="roundRect">
            <a:avLst>
              <a:gd name="adj" fmla="val 303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619705" y="1307723"/>
            <a:ext cx="5479516" cy="3413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typedef enum 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DISPONIBILE, IN_PRESTITO, IN_RIPARAZIONE, NUM_STATI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Stato;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typedef struct 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char titolo[28];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Stato stato;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Libro;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 = 0; i &lt; n; i++) 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conteggi[libri[i].stato]++;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617229" y="938788"/>
            <a:ext cx="5168076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Lo stato di un oggetto è spesso uno tra pochi valori: è il caso tipico di un campo enum. Lo stato è anche un indice per contare i libri di ogni stato in un solo ciclo.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617229" y="1828502"/>
            <a:ext cx="5168076" cy="645120"/>
          </a:xfrm>
          <a:custGeom>
            <a:avLst/>
            <a:gdLst/>
            <a:ahLst/>
            <a:cxnLst/>
            <a:rect l="l" t="t" r="r" b="b"/>
            <a:pathLst>
              <a:path w="5168076" h="645120">
                <a:moveTo>
                  <a:pt x="0" y="0"/>
                </a:moveTo>
                <a:lnTo>
                  <a:pt x="5117277" y="0"/>
                </a:lnTo>
                <a:arcTo hR="50800" wR="50799" stAng="16200000" swAng="5400000"/>
                <a:lnTo>
                  <a:pt x="5168076" y="594320"/>
                </a:lnTo>
                <a:arcTo hR="50800" wR="50799" stAng="0" swAng="5400000"/>
                <a:lnTo>
                  <a:pt x="0" y="645120"/>
                </a:lnTo>
                <a:lnTo>
                  <a:pt x="0" y="0"/>
                </a:lnTo>
                <a:close/>
              </a:path>
            </a:pathLst>
          </a:custGeom>
          <a:solidFill>
            <a:srgbClr val="DCEFDC"/>
          </a:solidFill>
          <a:ln/>
        </p:spPr>
      </p:sp>
      <p:sp>
        <p:nvSpPr>
          <p:cNvPr id="7" name="Shape 5"/>
          <p:cNvSpPr/>
          <p:nvPr/>
        </p:nvSpPr>
        <p:spPr>
          <a:xfrm>
            <a:off x="6617229" y="1828502"/>
            <a:ext cx="50799" cy="645120"/>
          </a:xfrm>
          <a:prstGeom prst="rect">
            <a:avLst/>
          </a:prstGeom>
          <a:solidFill>
            <a:srgbClr val="256B2B"/>
          </a:solidFill>
          <a:ln/>
        </p:spPr>
      </p:sp>
      <p:sp>
        <p:nvSpPr>
          <p:cNvPr id="8" name="Text 6"/>
          <p:cNvSpPr/>
          <p:nvPr/>
        </p:nvSpPr>
        <p:spPr>
          <a:xfrm>
            <a:off x="6845823" y="1963757"/>
            <a:ext cx="4761686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Due campi int (prestato, in_riparazione) possono contraddirsi; un solo campo enum ammette un solo stato alla volta.</a:t>
            </a:r>
            <a:endParaRPr lang="en-US" sz="11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502936" y="6466086"/>
            <a:ext cx="68875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27611"/>
            <a:ext cx="6908627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Macchine a Stati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06390" y="938788"/>
            <a:ext cx="6908627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Una macchina a stati è in un solo stato alla volta; ogni evento la fa passare in un nuovo stato o la lascia dov'è. Stati ed eventi sono due enum.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06390" y="1627287"/>
            <a:ext cx="6908627" cy="2346821"/>
          </a:xfrm>
          <a:prstGeom prst="roundRect">
            <a:avLst>
              <a:gd name="adj" fmla="val 487"/>
            </a:avLst>
          </a:prstGeom>
          <a:solidFill>
            <a:srgbClr val="F2EDED"/>
          </a:solidFill>
          <a:ln/>
        </p:spPr>
      </p:sp>
      <p:sp>
        <p:nvSpPr>
          <p:cNvPr id="5" name="Text 3"/>
          <p:cNvSpPr/>
          <p:nvPr/>
        </p:nvSpPr>
        <p:spPr>
          <a:xfrm>
            <a:off x="619705" y="1805404"/>
            <a:ext cx="6481997" cy="1991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typedef enum 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CHIUSA, IN_APERTURA, APERTA, IN_CHIUSURA, NUM_STATI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Stato;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typedef enum 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PERSONA, FINE_CORSA, TEMPO_SCADUTO, NUM_EVENTI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Evento;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06390" y="4174133"/>
            <a:ext cx="6908627" cy="840680"/>
          </a:xfrm>
          <a:custGeom>
            <a:avLst/>
            <a:gdLst/>
            <a:ahLst/>
            <a:cxnLst/>
            <a:rect l="l" t="t" r="r" b="b"/>
            <a:pathLst>
              <a:path w="6908627" h="840680">
                <a:moveTo>
                  <a:pt x="0" y="0"/>
                </a:moveTo>
                <a:lnTo>
                  <a:pt x="6857828" y="0"/>
                </a:lnTo>
                <a:arcTo hR="50800" wR="50799" stAng="16200000" swAng="5400000"/>
                <a:lnTo>
                  <a:pt x="6908627" y="789881"/>
                </a:lnTo>
                <a:arcTo hR="50800" wR="50799" stAng="0" swAng="5400000"/>
                <a:lnTo>
                  <a:pt x="0" y="840680"/>
                </a:lnTo>
                <a:lnTo>
                  <a:pt x="0" y="0"/>
                </a:lnTo>
                <a:close/>
              </a:path>
            </a:pathLst>
          </a:custGeom>
          <a:solidFill>
            <a:srgbClr val="DCEFDC"/>
          </a:solidFill>
          <a:ln/>
        </p:spPr>
      </p:sp>
      <p:sp>
        <p:nvSpPr>
          <p:cNvPr id="7" name="Shape 5"/>
          <p:cNvSpPr/>
          <p:nvPr/>
        </p:nvSpPr>
        <p:spPr>
          <a:xfrm>
            <a:off x="406390" y="4174133"/>
            <a:ext cx="50799" cy="840680"/>
          </a:xfrm>
          <a:prstGeom prst="rect">
            <a:avLst/>
          </a:prstGeom>
          <a:solidFill>
            <a:srgbClr val="256B2B"/>
          </a:solidFill>
          <a:ln/>
        </p:spPr>
      </p:sp>
      <p:sp>
        <p:nvSpPr>
          <p:cNvPr id="8" name="Text 6"/>
          <p:cNvSpPr/>
          <p:nvPr/>
        </p:nvSpPr>
        <p:spPr>
          <a:xfrm>
            <a:off x="634984" y="4309388"/>
            <a:ext cx="6502237" cy="586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Le regole si scrivono con una tabella delle transizioni, oppure con uno switch sullo stato quando ogni passo fa anche altro: l'ascensore si sposta di un piano, l'automa conta una parola.</a:t>
            </a:r>
            <a:endParaRPr lang="en-US" sz="11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1407" y="304800"/>
            <a:ext cx="4267093" cy="3242766"/>
          </a:xfrm>
          <a:prstGeom prst="rect">
            <a:avLst/>
          </a:prstGeom>
        </p:spPr>
      </p:pic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502936" y="6466086"/>
            <a:ext cx="68875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27611"/>
            <a:ext cx="6908627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La Tabella delle Transizioni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06390" y="938788"/>
            <a:ext cx="6908627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La riga è lo stato attuale, la colonna l'evento, la cella il nuovo stato. Tutta la logica è nei dati: il ciclo che fa funzionare la porta è una riga sola.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06390" y="1627287"/>
            <a:ext cx="6908627" cy="2631281"/>
          </a:xfrm>
          <a:prstGeom prst="roundRect">
            <a:avLst>
              <a:gd name="adj" fmla="val 434"/>
            </a:avLst>
          </a:prstGeom>
          <a:solidFill>
            <a:srgbClr val="F2EDED"/>
          </a:solidFill>
          <a:ln/>
        </p:spPr>
      </p:sp>
      <p:sp>
        <p:nvSpPr>
          <p:cNvPr id="5" name="Text 3"/>
          <p:cNvSpPr/>
          <p:nvPr/>
        </p:nvSpPr>
        <p:spPr>
          <a:xfrm>
            <a:off x="619705" y="1805404"/>
            <a:ext cx="6481997" cy="2275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Stato transizioni[NUM_STATI][NUM_EVENTI] = 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[CHIUSA] =      {IN_APERTURA, CHIUSA, CHIUSA},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[IN_APERTURA] = {IN_APERTURA, APERTA, IN_APERTURA},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[APERTA] =      {APERTA,      APERTA, IN_CHIUSURA},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[IN_CHIUSURA] = {IN_APERTURA, CHIUSA, IN_CHIUSURA}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stato = transizioni[stato][evento];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06390" y="4458593"/>
            <a:ext cx="6908627" cy="645120"/>
          </a:xfrm>
          <a:custGeom>
            <a:avLst/>
            <a:gdLst/>
            <a:ahLst/>
            <a:cxnLst/>
            <a:rect l="l" t="t" r="r" b="b"/>
            <a:pathLst>
              <a:path w="6908627" h="645120">
                <a:moveTo>
                  <a:pt x="0" y="0"/>
                </a:moveTo>
                <a:lnTo>
                  <a:pt x="6857828" y="0"/>
                </a:lnTo>
                <a:arcTo hR="50800" wR="50799" stAng="16200000" swAng="5400000"/>
                <a:lnTo>
                  <a:pt x="6908627" y="594320"/>
                </a:lnTo>
                <a:arcTo hR="50800" wR="50799" stAng="0" swAng="5400000"/>
                <a:lnTo>
                  <a:pt x="0" y="645120"/>
                </a:lnTo>
                <a:lnTo>
                  <a:pt x="0" y="0"/>
                </a:lnTo>
                <a:close/>
              </a:path>
            </a:pathLst>
          </a:custGeom>
          <a:solidFill>
            <a:srgbClr val="DCEFDC"/>
          </a:solidFill>
          <a:ln/>
        </p:spPr>
      </p:sp>
      <p:sp>
        <p:nvSpPr>
          <p:cNvPr id="7" name="Shape 5"/>
          <p:cNvSpPr/>
          <p:nvPr/>
        </p:nvSpPr>
        <p:spPr>
          <a:xfrm>
            <a:off x="406390" y="4458593"/>
            <a:ext cx="50799" cy="645120"/>
          </a:xfrm>
          <a:prstGeom prst="rect">
            <a:avLst/>
          </a:prstGeom>
          <a:solidFill>
            <a:srgbClr val="256B2B"/>
          </a:solidFill>
          <a:ln/>
        </p:spPr>
      </p:sp>
      <p:sp>
        <p:nvSpPr>
          <p:cNvPr id="8" name="Text 6"/>
          <p:cNvSpPr/>
          <p:nvPr/>
        </p:nvSpPr>
        <p:spPr>
          <a:xfrm>
            <a:off x="634984" y="4593848"/>
            <a:ext cx="6502237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Per cambiare il comportamento si cambia una cella, non il codice. Con la stessa idea, nei ticket una tabella permesso[da][a] dice quali cambi di stato sono ammessi.</a:t>
            </a:r>
            <a:endParaRPr lang="en-US" sz="11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1407" y="304800"/>
            <a:ext cx="4267093" cy="2433935"/>
          </a:xfrm>
          <a:prstGeom prst="rect">
            <a:avLst/>
          </a:prstGeom>
        </p:spPr>
      </p:pic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27611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Errori Comuni da Evitare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06390" y="929580"/>
            <a:ext cx="5613260" cy="855960"/>
          </a:xfrm>
          <a:prstGeom prst="roundRect">
            <a:avLst>
              <a:gd name="adj" fmla="val 7122"/>
            </a:avLst>
          </a:prstGeom>
          <a:solidFill>
            <a:srgbClr val="DCEFDC"/>
          </a:solidFill>
          <a:ln/>
        </p:spPr>
      </p:sp>
      <p:sp>
        <p:nvSpPr>
          <p:cNvPr id="4" name="Text 2"/>
          <p:cNvSpPr/>
          <p:nvPr/>
        </p:nvSpPr>
        <p:spPr>
          <a:xfrm>
            <a:off x="584185" y="1072311"/>
            <a:ext cx="5257668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84185" y="1471236"/>
            <a:ext cx="5435464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Aspettarsi che un enum controlli i valori: oggi = 42 compila.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172046" y="929580"/>
            <a:ext cx="5613260" cy="855960"/>
          </a:xfrm>
          <a:prstGeom prst="roundRect">
            <a:avLst>
              <a:gd name="adj" fmla="val 7122"/>
            </a:avLst>
          </a:prstGeom>
          <a:solidFill>
            <a:srgbClr val="DCEFDC"/>
          </a:solidFill>
          <a:ln/>
        </p:spPr>
      </p:sp>
      <p:sp>
        <p:nvSpPr>
          <p:cNvPr id="7" name="Text 5"/>
          <p:cNvSpPr/>
          <p:nvPr/>
        </p:nvSpPr>
        <p:spPr>
          <a:xfrm>
            <a:off x="6349841" y="1072311"/>
            <a:ext cx="5257668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349841" y="1471236"/>
            <a:ext cx="5435464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Indicizzare una tabella con un enum che parte da 1 (DICEMBRE vale 12).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06390" y="1937941"/>
            <a:ext cx="5613260" cy="855960"/>
          </a:xfrm>
          <a:prstGeom prst="roundRect">
            <a:avLst>
              <a:gd name="adj" fmla="val 7122"/>
            </a:avLst>
          </a:prstGeom>
          <a:solidFill>
            <a:srgbClr val="DCEFDC"/>
          </a:solidFill>
          <a:ln/>
        </p:spPr>
      </p:sp>
      <p:sp>
        <p:nvSpPr>
          <p:cNvPr id="10" name="Text 8"/>
          <p:cNvSpPr/>
          <p:nvPr/>
        </p:nvSpPr>
        <p:spPr>
          <a:xfrm>
            <a:off x="584185" y="2080672"/>
            <a:ext cx="5257668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84185" y="2479596"/>
            <a:ext cx="5435464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Scrivere a mano la dimensione degli array invece di NUM_....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72046" y="1937941"/>
            <a:ext cx="5613260" cy="855960"/>
          </a:xfrm>
          <a:prstGeom prst="roundRect">
            <a:avLst>
              <a:gd name="adj" fmla="val 7122"/>
            </a:avLst>
          </a:prstGeom>
          <a:solidFill>
            <a:srgbClr val="DCEFDC"/>
          </a:solidFill>
          <a:ln/>
        </p:spPr>
      </p:sp>
      <p:sp>
        <p:nvSpPr>
          <p:cNvPr id="13" name="Text 11"/>
          <p:cNvSpPr/>
          <p:nvPr/>
        </p:nvSpPr>
        <p:spPr>
          <a:xfrm>
            <a:off x="6349841" y="2080672"/>
            <a:ext cx="5257668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4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349841" y="2479596"/>
            <a:ext cx="5435464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Usare la costante di conteggio come se fosse un valore.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06390" y="2946301"/>
            <a:ext cx="5613260" cy="855960"/>
          </a:xfrm>
          <a:prstGeom prst="roundRect">
            <a:avLst>
              <a:gd name="adj" fmla="val 7122"/>
            </a:avLst>
          </a:prstGeom>
          <a:solidFill>
            <a:srgbClr val="DCEFDC"/>
          </a:solidFill>
          <a:ln/>
        </p:spPr>
      </p:sp>
      <p:sp>
        <p:nvSpPr>
          <p:cNvPr id="16" name="Text 14"/>
          <p:cNvSpPr/>
          <p:nvPr/>
        </p:nvSpPr>
        <p:spPr>
          <a:xfrm>
            <a:off x="584185" y="3089032"/>
            <a:ext cx="5257668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5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84185" y="3487956"/>
            <a:ext cx="5435464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Stampare il nome con %s invece di nomi[valore].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72046" y="2946301"/>
            <a:ext cx="5613260" cy="855960"/>
          </a:xfrm>
          <a:prstGeom prst="roundRect">
            <a:avLst>
              <a:gd name="adj" fmla="val 7122"/>
            </a:avLst>
          </a:prstGeom>
          <a:solidFill>
            <a:srgbClr val="DCEFDC"/>
          </a:solidFill>
          <a:ln/>
        </p:spPr>
      </p:sp>
      <p:sp>
        <p:nvSpPr>
          <p:cNvPr id="19" name="Text 17"/>
          <p:cNvSpPr/>
          <p:nvPr/>
        </p:nvSpPr>
        <p:spPr>
          <a:xfrm>
            <a:off x="6349841" y="3089032"/>
            <a:ext cx="5257668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6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349841" y="3487956"/>
            <a:ext cx="5435464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Mettere default in uno switch su enum e perdere l'avviso del compilatore.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06390" y="3954661"/>
            <a:ext cx="5613260" cy="1051520"/>
          </a:xfrm>
          <a:prstGeom prst="roundRect">
            <a:avLst>
              <a:gd name="adj" fmla="val 5797"/>
            </a:avLst>
          </a:prstGeom>
          <a:solidFill>
            <a:srgbClr val="DCEFDC"/>
          </a:solidFill>
          <a:ln/>
        </p:spPr>
      </p:sp>
      <p:sp>
        <p:nvSpPr>
          <p:cNvPr id="22" name="Text 20"/>
          <p:cNvSpPr/>
          <p:nvPr/>
        </p:nvSpPr>
        <p:spPr>
          <a:xfrm>
            <a:off x="584185" y="4097392"/>
            <a:ext cx="5257668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7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84185" y="4496316"/>
            <a:ext cx="5435464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Usare MATERIA_NON_VALIDA come indice di un array.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72046" y="3954661"/>
            <a:ext cx="5613260" cy="1051520"/>
          </a:xfrm>
          <a:prstGeom prst="roundRect">
            <a:avLst>
              <a:gd name="adj" fmla="val 5797"/>
            </a:avLst>
          </a:prstGeom>
          <a:solidFill>
            <a:srgbClr val="DCEFDC"/>
          </a:solidFill>
          <a:ln/>
        </p:spPr>
      </p:sp>
      <p:sp>
        <p:nvSpPr>
          <p:cNvPr id="25" name="Text 23"/>
          <p:cNvSpPr/>
          <p:nvPr/>
        </p:nvSpPr>
        <p:spPr>
          <a:xfrm>
            <a:off x="6349841" y="4097392"/>
            <a:ext cx="5257668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8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349841" y="4496316"/>
            <a:ext cx="5257668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Assegnare a un campo una costante di un altro enum (-Wenum-conversion).</a:t>
            </a:r>
            <a:endParaRPr lang="en-US" sz="1100" dirty="0"/>
          </a:p>
        </p:txBody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27611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Riepilogo Concetti</a:t>
            </a:r>
            <a:endParaRPr lang="en-US" sz="3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06390" y="929580"/>
          <a:ext cx="11378916" cy="914400"/>
        </p:xfrm>
        <a:graphic>
          <a:graphicData uri="http://schemas.openxmlformats.org/drawingml/2006/table">
            <a:tbl>
              <a:tblPr/>
              <a:tblGrid>
                <a:gridCol w="2958431"/>
                <a:gridCol w="5006651"/>
                <a:gridCol w="3413833"/>
              </a:tblGrid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Situazione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Tecnica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Note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Valori con un nome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typedef enum { A, B, C } Tipo;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da 0, di uno in uno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Valori scelti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GENNAIO = 1, URGENTE = 10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le successive continuano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Contare i valori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costante finale NUM_...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dimensione degli array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Nomi da stampare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nomi[valore], [VERDE] = "..."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una tabella sola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Valore successivo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(v + 1) % NUM_...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ciclo chiuso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Scegliere il caso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switch con tutti i case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niente default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Risultato di una funzione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Esito valuta(...)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niente numeri magici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Da testo a enum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ricerca nella tabella dei nomi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valore NON_VALIDO dopo NUM_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Stato di un oggetto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campo enum nella struct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un solo stato alla volta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Regole tra stati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transizioni[stato][evento]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la logica nei dati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10515"/>
            <a:ext cx="11785305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b="1" spc="63" kern="100" dirty="0">
                <a:solidFill>
                  <a:srgbClr val="256B2B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SEZIONE 1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06390" y="587267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Esempi Pratici: Dichiarazione e Valori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06390" y="1198444"/>
            <a:ext cx="11785305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Concetti base — tre file su costanti, valori e indici.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06390" y="1596827"/>
            <a:ext cx="3589744" cy="2703612"/>
          </a:xfrm>
          <a:prstGeom prst="roundRect">
            <a:avLst>
              <a:gd name="adj" fmla="val 423"/>
            </a:avLst>
          </a:prstGeom>
          <a:solidFill>
            <a:srgbClr val="DBF0DD"/>
          </a:solidFill>
          <a:ln/>
        </p:spPr>
      </p:sp>
      <p:sp>
        <p:nvSpPr>
          <p:cNvPr id="6" name="Text 4"/>
          <p:cNvSpPr/>
          <p:nvPr/>
        </p:nvSpPr>
        <p:spPr>
          <a:xfrm>
            <a:off x="584185" y="1787871"/>
            <a:ext cx="3234153" cy="474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1 – 010-costanti-con-nome.c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84185" y="2376488"/>
            <a:ext cx="3234153" cy="699095"/>
          </a:xfrm>
          <a:prstGeom prst="roundRect">
            <a:avLst>
              <a:gd name="adj" fmla="val 8720"/>
            </a:avLst>
          </a:prstGeom>
          <a:solidFill>
            <a:srgbClr val="F2EDED"/>
          </a:solidFill>
          <a:ln/>
        </p:spPr>
      </p:sp>
      <p:sp>
        <p:nvSpPr>
          <p:cNvPr id="8" name="Text 6"/>
          <p:cNvSpPr/>
          <p:nvPr/>
        </p:nvSpPr>
        <p:spPr>
          <a:xfrm>
            <a:off x="711182" y="2478088"/>
            <a:ext cx="2980159" cy="495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 giorni della settimana e il fine settimana.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84185" y="3227983"/>
            <a:ext cx="3234153" cy="699095"/>
          </a:xfrm>
          <a:prstGeom prst="roundRect">
            <a:avLst>
              <a:gd name="adj" fmla="val 8720"/>
            </a:avLst>
          </a:prstGeom>
          <a:solidFill>
            <a:srgbClr val="F2EDED"/>
          </a:solidFill>
          <a:ln/>
        </p:spPr>
      </p:sp>
      <p:sp>
        <p:nvSpPr>
          <p:cNvPr id="10" name="Text 8"/>
          <p:cNvSpPr/>
          <p:nvPr/>
        </p:nvSpPr>
        <p:spPr>
          <a:xfrm>
            <a:off x="711182" y="3329583"/>
            <a:ext cx="2980159" cy="495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Giorno, valori da 0, confronti e sizeof.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00926" y="1596827"/>
            <a:ext cx="3589744" cy="2703612"/>
          </a:xfrm>
          <a:prstGeom prst="roundRect">
            <a:avLst>
              <a:gd name="adj" fmla="val 423"/>
            </a:avLst>
          </a:prstGeom>
          <a:solidFill>
            <a:srgbClr val="DBF0DD"/>
          </a:solidFill>
          <a:ln/>
        </p:spPr>
      </p:sp>
      <p:sp>
        <p:nvSpPr>
          <p:cNvPr id="12" name="Text 10"/>
          <p:cNvSpPr/>
          <p:nvPr/>
        </p:nvSpPr>
        <p:spPr>
          <a:xfrm>
            <a:off x="4478722" y="1787871"/>
            <a:ext cx="3234153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2 – 020-valori-espliciti.c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4478722" y="2139057"/>
            <a:ext cx="3234153" cy="894655"/>
          </a:xfrm>
          <a:prstGeom prst="roundRect">
            <a:avLst>
              <a:gd name="adj" fmla="val 6814"/>
            </a:avLst>
          </a:prstGeom>
          <a:solidFill>
            <a:srgbClr val="F2EDED"/>
          </a:solidFill>
          <a:ln/>
        </p:spPr>
      </p:sp>
      <p:sp>
        <p:nvSpPr>
          <p:cNvPr id="14" name="Text 12"/>
          <p:cNvSpPr/>
          <p:nvPr/>
        </p:nvSpPr>
        <p:spPr>
          <a:xfrm>
            <a:off x="4605718" y="2240657"/>
            <a:ext cx="2980159" cy="691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mesi, priorità dei guasti e codici del server web.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478722" y="3186113"/>
            <a:ext cx="3234153" cy="699095"/>
          </a:xfrm>
          <a:prstGeom prst="roundRect">
            <a:avLst>
              <a:gd name="adj" fmla="val 8720"/>
            </a:avLst>
          </a:prstGeom>
          <a:solidFill>
            <a:srgbClr val="F2EDED"/>
          </a:solidFill>
          <a:ln/>
        </p:spPr>
      </p:sp>
      <p:sp>
        <p:nvSpPr>
          <p:cNvPr id="16" name="Text 14"/>
          <p:cNvSpPr/>
          <p:nvPr/>
        </p:nvSpPr>
        <p:spPr>
          <a:xfrm>
            <a:off x="4605718" y="3287713"/>
            <a:ext cx="2980159" cy="495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valori con =, salti e sinonimi.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195462" y="1596827"/>
            <a:ext cx="3589744" cy="2703612"/>
          </a:xfrm>
          <a:prstGeom prst="roundRect">
            <a:avLst>
              <a:gd name="adj" fmla="val 423"/>
            </a:avLst>
          </a:prstGeom>
          <a:solidFill>
            <a:srgbClr val="DBF0DD"/>
          </a:solidFill>
          <a:ln/>
        </p:spPr>
      </p:sp>
      <p:sp>
        <p:nvSpPr>
          <p:cNvPr id="18" name="Text 16"/>
          <p:cNvSpPr/>
          <p:nvPr/>
        </p:nvSpPr>
        <p:spPr>
          <a:xfrm>
            <a:off x="8373258" y="1787871"/>
            <a:ext cx="3234153" cy="474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3 – 030-enum-come-indice.c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8373258" y="2376488"/>
            <a:ext cx="3234153" cy="699095"/>
          </a:xfrm>
          <a:prstGeom prst="roundRect">
            <a:avLst>
              <a:gd name="adj" fmla="val 8720"/>
            </a:avLst>
          </a:prstGeom>
          <a:solidFill>
            <a:srgbClr val="F2EDED"/>
          </a:solidFill>
          <a:ln/>
        </p:spPr>
      </p:sp>
      <p:sp>
        <p:nvSpPr>
          <p:cNvPr id="20" name="Text 18"/>
          <p:cNvSpPr/>
          <p:nvPr/>
        </p:nvSpPr>
        <p:spPr>
          <a:xfrm>
            <a:off x="8500255" y="2478088"/>
            <a:ext cx="2980159" cy="495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le ore di lezione della 3B.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373258" y="3227983"/>
            <a:ext cx="3234153" cy="894655"/>
          </a:xfrm>
          <a:prstGeom prst="roundRect">
            <a:avLst>
              <a:gd name="adj" fmla="val 6814"/>
            </a:avLst>
          </a:prstGeom>
          <a:solidFill>
            <a:srgbClr val="F2EDED"/>
          </a:solidFill>
          <a:ln/>
        </p:spPr>
      </p:sp>
      <p:sp>
        <p:nvSpPr>
          <p:cNvPr id="22" name="Text 20"/>
          <p:cNvSpPr/>
          <p:nvPr/>
        </p:nvSpPr>
        <p:spPr>
          <a:xfrm>
            <a:off x="8500255" y="3329583"/>
            <a:ext cx="2980159" cy="691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NUM_GIORNI, array di ore e tabella dei nomi.</a:t>
            </a:r>
            <a:endParaRPr lang="en-US" sz="110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10515"/>
            <a:ext cx="11785305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b="1" spc="63" kern="100" dirty="0">
                <a:solidFill>
                  <a:srgbClr val="256B2B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SEZIONE 1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06390" y="587267"/>
            <a:ext cx="11378915" cy="893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Esempi Pratici: Problemi su Dichiarazione e Valori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06390" y="1636216"/>
            <a:ext cx="5613260" cy="813991"/>
          </a:xfrm>
          <a:prstGeom prst="roundRect">
            <a:avLst>
              <a:gd name="adj" fmla="val 1404"/>
            </a:avLst>
          </a:prstGeom>
          <a:solidFill>
            <a:srgbClr val="DBF0DD"/>
          </a:solidFill>
          <a:ln/>
        </p:spPr>
      </p:sp>
      <p:sp>
        <p:nvSpPr>
          <p:cNvPr id="5" name="Text 3"/>
          <p:cNvSpPr/>
          <p:nvPr/>
        </p:nvSpPr>
        <p:spPr>
          <a:xfrm>
            <a:off x="584185" y="1776461"/>
            <a:ext cx="5257668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040 – Semaforo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84185" y="2135902"/>
            <a:ext cx="5435464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Il colore dopo t secondi con (colore + 1) % NUM_COLORI.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72046" y="1636216"/>
            <a:ext cx="5613260" cy="813991"/>
          </a:xfrm>
          <a:prstGeom prst="roundRect">
            <a:avLst>
              <a:gd name="adj" fmla="val 1404"/>
            </a:avLst>
          </a:prstGeom>
          <a:solidFill>
            <a:srgbClr val="DBF0DD"/>
          </a:solidFill>
          <a:ln/>
        </p:spPr>
      </p:sp>
      <p:sp>
        <p:nvSpPr>
          <p:cNvPr id="8" name="Text 6"/>
          <p:cNvSpPr/>
          <p:nvPr/>
        </p:nvSpPr>
        <p:spPr>
          <a:xfrm>
            <a:off x="6349841" y="1776461"/>
            <a:ext cx="5257668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050 – Giorni di lezione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349841" y="2135902"/>
            <a:ext cx="5435464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Ore per giorno, giorno più lungo e giorni liberi.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06390" y="2602508"/>
            <a:ext cx="5613260" cy="813991"/>
          </a:xfrm>
          <a:prstGeom prst="roundRect">
            <a:avLst>
              <a:gd name="adj" fmla="val 1404"/>
            </a:avLst>
          </a:prstGeom>
          <a:solidFill>
            <a:srgbClr val="DBF0DD"/>
          </a:solidFill>
          <a:ln/>
        </p:spPr>
      </p:sp>
      <p:sp>
        <p:nvSpPr>
          <p:cNvPr id="11" name="Text 9"/>
          <p:cNvSpPr/>
          <p:nvPr/>
        </p:nvSpPr>
        <p:spPr>
          <a:xfrm>
            <a:off x="584185" y="2742752"/>
            <a:ext cx="5257668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060 – Taglie in magazzino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84185" y="3102193"/>
            <a:ext cx="5435464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Scorte di magliette per taglia, sigla cercata nella tabella.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72046" y="2602508"/>
            <a:ext cx="5613260" cy="813991"/>
          </a:xfrm>
          <a:prstGeom prst="roundRect">
            <a:avLst>
              <a:gd name="adj" fmla="val 1404"/>
            </a:avLst>
          </a:prstGeom>
          <a:solidFill>
            <a:srgbClr val="DBF0DD"/>
          </a:solidFill>
          <a:ln/>
        </p:spPr>
      </p:sp>
      <p:sp>
        <p:nvSpPr>
          <p:cNvPr id="14" name="Text 12"/>
          <p:cNvSpPr/>
          <p:nvPr/>
        </p:nvSpPr>
        <p:spPr>
          <a:xfrm>
            <a:off x="6349841" y="2742752"/>
            <a:ext cx="5257668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070 – Mesi e stagioni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349841" y="3102193"/>
            <a:ext cx="5435464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Mese da GENNAIO = 1: giorni del mese e stagione.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06390" y="3568799"/>
            <a:ext cx="11378915" cy="813991"/>
          </a:xfrm>
          <a:prstGeom prst="roundRect">
            <a:avLst>
              <a:gd name="adj" fmla="val 1404"/>
            </a:avLst>
          </a:prstGeom>
          <a:solidFill>
            <a:srgbClr val="DBF0DD"/>
          </a:solidFill>
          <a:ln/>
        </p:spPr>
      </p:sp>
      <p:sp>
        <p:nvSpPr>
          <p:cNvPr id="17" name="Text 15"/>
          <p:cNvSpPr/>
          <p:nvPr/>
        </p:nvSpPr>
        <p:spPr>
          <a:xfrm>
            <a:off x="584185" y="3709044"/>
            <a:ext cx="11023324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080 – Livelli di log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84185" y="4068485"/>
            <a:ext cx="11201120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Livelli ordinati per gravità: filtro con &gt;= e conteggi.</a:t>
            </a:r>
            <a:endParaRPr lang="en-US" sz="11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10515"/>
            <a:ext cx="11785305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b="1" spc="63" kern="100" dirty="0">
                <a:solidFill>
                  <a:srgbClr val="256B2B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SEZIONE 2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06390" y="587267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Esempi Pratici: Enum e Switch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06390" y="1198444"/>
            <a:ext cx="11785305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Concetti base — tre file su switch, funzioni e conversioni.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06390" y="1596827"/>
            <a:ext cx="3589744" cy="2508052"/>
          </a:xfrm>
          <a:prstGeom prst="roundRect">
            <a:avLst>
              <a:gd name="adj" fmla="val 456"/>
            </a:avLst>
          </a:prstGeom>
          <a:solidFill>
            <a:srgbClr val="DBF0DD"/>
          </a:solidFill>
          <a:ln/>
        </p:spPr>
      </p:sp>
      <p:sp>
        <p:nvSpPr>
          <p:cNvPr id="6" name="Text 4"/>
          <p:cNvSpPr/>
          <p:nvPr/>
        </p:nvSpPr>
        <p:spPr>
          <a:xfrm>
            <a:off x="584185" y="1787871"/>
            <a:ext cx="3234153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1 – 010-switch-su-enum.c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84185" y="2139057"/>
            <a:ext cx="3234153" cy="894655"/>
          </a:xfrm>
          <a:prstGeom prst="roundRect">
            <a:avLst>
              <a:gd name="adj" fmla="val 6814"/>
            </a:avLst>
          </a:prstGeom>
          <a:solidFill>
            <a:srgbClr val="F2EDED"/>
          </a:solidFill>
          <a:ln/>
        </p:spPr>
      </p:sp>
      <p:sp>
        <p:nvSpPr>
          <p:cNvPr id="8" name="Text 6"/>
          <p:cNvSpPr/>
          <p:nvPr/>
        </p:nvSpPr>
        <p:spPr>
          <a:xfrm>
            <a:off x="711182" y="2240657"/>
            <a:ext cx="2980159" cy="691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l'area delle figure per il compito di geometria.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84185" y="3186113"/>
            <a:ext cx="3234153" cy="699095"/>
          </a:xfrm>
          <a:prstGeom prst="roundRect">
            <a:avLst>
              <a:gd name="adj" fmla="val 8720"/>
            </a:avLst>
          </a:prstGeom>
          <a:solidFill>
            <a:srgbClr val="F2EDED"/>
          </a:solidFill>
          <a:ln/>
        </p:spPr>
      </p:sp>
      <p:sp>
        <p:nvSpPr>
          <p:cNvPr id="10" name="Text 8"/>
          <p:cNvSpPr/>
          <p:nvPr/>
        </p:nvSpPr>
        <p:spPr>
          <a:xfrm>
            <a:off x="711182" y="3287713"/>
            <a:ext cx="2980159" cy="495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switch completo e avviso di -Wswitch.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00926" y="1596827"/>
            <a:ext cx="3589744" cy="2508052"/>
          </a:xfrm>
          <a:prstGeom prst="roundRect">
            <a:avLst>
              <a:gd name="adj" fmla="val 456"/>
            </a:avLst>
          </a:prstGeom>
          <a:solidFill>
            <a:srgbClr val="DBF0DD"/>
          </a:solidFill>
          <a:ln/>
        </p:spPr>
      </p:sp>
      <p:sp>
        <p:nvSpPr>
          <p:cNvPr id="12" name="Text 10"/>
          <p:cNvSpPr/>
          <p:nvPr/>
        </p:nvSpPr>
        <p:spPr>
          <a:xfrm>
            <a:off x="4478722" y="1787871"/>
            <a:ext cx="3234153" cy="474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2 – 020-funzioni-con-enum.c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4478722" y="2376488"/>
            <a:ext cx="3234153" cy="699095"/>
          </a:xfrm>
          <a:prstGeom prst="roundRect">
            <a:avLst>
              <a:gd name="adj" fmla="val 8720"/>
            </a:avLst>
          </a:prstGeom>
          <a:solidFill>
            <a:srgbClr val="F2EDED"/>
          </a:solidFill>
          <a:ln/>
        </p:spPr>
      </p:sp>
      <p:sp>
        <p:nvSpPr>
          <p:cNvPr id="14" name="Text 12"/>
          <p:cNvSpPr/>
          <p:nvPr/>
        </p:nvSpPr>
        <p:spPr>
          <a:xfrm>
            <a:off x="4605718" y="2478088"/>
            <a:ext cx="2980159" cy="495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lo scrutinio finale.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478722" y="3227983"/>
            <a:ext cx="3234153" cy="699095"/>
          </a:xfrm>
          <a:prstGeom prst="roundRect">
            <a:avLst>
              <a:gd name="adj" fmla="val 8720"/>
            </a:avLst>
          </a:prstGeom>
          <a:solidFill>
            <a:srgbClr val="F2EDED"/>
          </a:solidFill>
          <a:ln/>
        </p:spPr>
      </p:sp>
      <p:sp>
        <p:nvSpPr>
          <p:cNvPr id="16" name="Text 14"/>
          <p:cNvSpPr/>
          <p:nvPr/>
        </p:nvSpPr>
        <p:spPr>
          <a:xfrm>
            <a:off x="4605718" y="3329583"/>
            <a:ext cx="2980159" cy="495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Esito valuta(...) e descrizione(e).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195462" y="1596827"/>
            <a:ext cx="3589744" cy="2508052"/>
          </a:xfrm>
          <a:prstGeom prst="roundRect">
            <a:avLst>
              <a:gd name="adj" fmla="val 456"/>
            </a:avLst>
          </a:prstGeom>
          <a:solidFill>
            <a:srgbClr val="DBF0DD"/>
          </a:solidFill>
          <a:ln/>
        </p:spPr>
      </p:sp>
      <p:sp>
        <p:nvSpPr>
          <p:cNvPr id="18" name="Text 16"/>
          <p:cNvSpPr/>
          <p:nvPr/>
        </p:nvSpPr>
        <p:spPr>
          <a:xfrm>
            <a:off x="8373258" y="1787871"/>
            <a:ext cx="3234153" cy="474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3 – 030-da-testo-a-enum.c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8373258" y="2376488"/>
            <a:ext cx="3234153" cy="699095"/>
          </a:xfrm>
          <a:prstGeom prst="roundRect">
            <a:avLst>
              <a:gd name="adj" fmla="val 8720"/>
            </a:avLst>
          </a:prstGeom>
          <a:solidFill>
            <a:srgbClr val="F2EDED"/>
          </a:solidFill>
          <a:ln/>
        </p:spPr>
      </p:sp>
      <p:sp>
        <p:nvSpPr>
          <p:cNvPr id="20" name="Text 18"/>
          <p:cNvSpPr/>
          <p:nvPr/>
        </p:nvSpPr>
        <p:spPr>
          <a:xfrm>
            <a:off x="8500255" y="2478088"/>
            <a:ext cx="2980159" cy="495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le ore svolte per materia.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373258" y="3227983"/>
            <a:ext cx="3234153" cy="699095"/>
          </a:xfrm>
          <a:prstGeom prst="roundRect">
            <a:avLst>
              <a:gd name="adj" fmla="val 8720"/>
            </a:avLst>
          </a:prstGeom>
          <a:solidFill>
            <a:srgbClr val="F2EDED"/>
          </a:solidFill>
          <a:ln/>
        </p:spPr>
      </p:sp>
      <p:sp>
        <p:nvSpPr>
          <p:cNvPr id="22" name="Text 20"/>
          <p:cNvSpPr/>
          <p:nvPr/>
        </p:nvSpPr>
        <p:spPr>
          <a:xfrm>
            <a:off x="8500255" y="3329583"/>
            <a:ext cx="2980159" cy="495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da_testo e a_testo con una tabella sola.</a:t>
            </a:r>
            <a:endParaRPr lang="en-US" sz="110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10515"/>
            <a:ext cx="11785305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b="1" spc="63" kern="100" dirty="0">
                <a:solidFill>
                  <a:srgbClr val="256B2B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SEZIONE 2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06390" y="587267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Esempi Pratici: Problemi su Enum e Switch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06390" y="1189236"/>
            <a:ext cx="5613260" cy="813991"/>
          </a:xfrm>
          <a:prstGeom prst="roundRect">
            <a:avLst>
              <a:gd name="adj" fmla="val 1404"/>
            </a:avLst>
          </a:prstGeom>
          <a:solidFill>
            <a:srgbClr val="DBF0DD"/>
          </a:solidFill>
          <a:ln/>
        </p:spPr>
      </p:sp>
      <p:sp>
        <p:nvSpPr>
          <p:cNvPr id="5" name="Text 3"/>
          <p:cNvSpPr/>
          <p:nvPr/>
        </p:nvSpPr>
        <p:spPr>
          <a:xfrm>
            <a:off x="584185" y="1329480"/>
            <a:ext cx="5257668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040 – Distributore di bevande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84185" y="1688921"/>
            <a:ext cx="5435464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Prezzo con uno switch, Esito dell'erogazione.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72046" y="1189236"/>
            <a:ext cx="5613260" cy="813991"/>
          </a:xfrm>
          <a:prstGeom prst="roundRect">
            <a:avLst>
              <a:gd name="adj" fmla="val 1404"/>
            </a:avLst>
          </a:prstGeom>
          <a:solidFill>
            <a:srgbClr val="DBF0DD"/>
          </a:solidFill>
          <a:ln/>
        </p:spPr>
      </p:sp>
      <p:sp>
        <p:nvSpPr>
          <p:cNvPr id="8" name="Text 6"/>
          <p:cNvSpPr/>
          <p:nvPr/>
        </p:nvSpPr>
        <p:spPr>
          <a:xfrm>
            <a:off x="6349841" y="1329480"/>
            <a:ext cx="5257668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050 – Giudizio sintetico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349841" y="1688921"/>
            <a:ext cx="5435464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Dal voto al giudizio e istogramma della classe.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06390" y="2155527"/>
            <a:ext cx="5613260" cy="813991"/>
          </a:xfrm>
          <a:prstGeom prst="roundRect">
            <a:avLst>
              <a:gd name="adj" fmla="val 1404"/>
            </a:avLst>
          </a:prstGeom>
          <a:solidFill>
            <a:srgbClr val="DBF0DD"/>
          </a:solidFill>
          <a:ln/>
        </p:spPr>
      </p:sp>
      <p:sp>
        <p:nvSpPr>
          <p:cNvPr id="11" name="Text 9"/>
          <p:cNvSpPr/>
          <p:nvPr/>
        </p:nvSpPr>
        <p:spPr>
          <a:xfrm>
            <a:off x="584185" y="2295772"/>
            <a:ext cx="5257668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060 – Calcolatrice a parole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84185" y="2655213"/>
            <a:ext cx="5435464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Operazione scritta come parola e switch del calcolo.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72046" y="2155527"/>
            <a:ext cx="5613260" cy="813991"/>
          </a:xfrm>
          <a:prstGeom prst="roundRect">
            <a:avLst>
              <a:gd name="adj" fmla="val 1404"/>
            </a:avLst>
          </a:prstGeom>
          <a:solidFill>
            <a:srgbClr val="DBF0DD"/>
          </a:solidFill>
          <a:ln/>
        </p:spPr>
      </p:sp>
      <p:sp>
        <p:nvSpPr>
          <p:cNvPr id="14" name="Text 12"/>
          <p:cNvSpPr/>
          <p:nvPr/>
        </p:nvSpPr>
        <p:spPr>
          <a:xfrm>
            <a:off x="6349841" y="2295772"/>
            <a:ext cx="5257668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070 – Direzioni del robot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349841" y="2655213"/>
            <a:ext cx="5435464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Direzioni in ordine orario: rotazioni con il modulo.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06390" y="3121819"/>
            <a:ext cx="11378915" cy="813991"/>
          </a:xfrm>
          <a:prstGeom prst="roundRect">
            <a:avLst>
              <a:gd name="adj" fmla="val 1404"/>
            </a:avLst>
          </a:prstGeom>
          <a:solidFill>
            <a:srgbClr val="DBF0DD"/>
          </a:solidFill>
          <a:ln/>
        </p:spPr>
      </p:sp>
      <p:sp>
        <p:nvSpPr>
          <p:cNvPr id="17" name="Text 15"/>
          <p:cNvSpPr/>
          <p:nvPr/>
        </p:nvSpPr>
        <p:spPr>
          <a:xfrm>
            <a:off x="584185" y="3262063"/>
            <a:ext cx="11023324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080 – Prenotazione dell'aula magna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84185" y="3621504"/>
            <a:ext cx="11201120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Un Esito per ogni motivo di errore e messaggio con uno switch.</a:t>
            </a:r>
            <a:endParaRPr lang="en-US" sz="11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10515"/>
            <a:ext cx="11785305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b="1" spc="63" kern="100" dirty="0">
                <a:solidFill>
                  <a:srgbClr val="256B2B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SEZIONE 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06390" y="587267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Esempi Pratici: Enum nelle Struct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06390" y="1198444"/>
            <a:ext cx="11785305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Concetti base — tre file su campi, stati e tabelle.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06390" y="1596827"/>
            <a:ext cx="3589744" cy="2703612"/>
          </a:xfrm>
          <a:prstGeom prst="roundRect">
            <a:avLst>
              <a:gd name="adj" fmla="val 423"/>
            </a:avLst>
          </a:prstGeom>
          <a:solidFill>
            <a:srgbClr val="DBF0DD"/>
          </a:solidFill>
          <a:ln/>
        </p:spPr>
      </p:sp>
      <p:sp>
        <p:nvSpPr>
          <p:cNvPr id="6" name="Text 4"/>
          <p:cNvSpPr/>
          <p:nvPr/>
        </p:nvSpPr>
        <p:spPr>
          <a:xfrm>
            <a:off x="584185" y="1787871"/>
            <a:ext cx="3234153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1 – 010-campo-enum.c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84185" y="2139057"/>
            <a:ext cx="3234153" cy="699095"/>
          </a:xfrm>
          <a:prstGeom prst="roundRect">
            <a:avLst>
              <a:gd name="adj" fmla="val 8720"/>
            </a:avLst>
          </a:prstGeom>
          <a:solidFill>
            <a:srgbClr val="F2EDED"/>
          </a:solidFill>
          <a:ln/>
        </p:spPr>
      </p:sp>
      <p:sp>
        <p:nvSpPr>
          <p:cNvPr id="8" name="Text 6"/>
          <p:cNvSpPr/>
          <p:nvPr/>
        </p:nvSpPr>
        <p:spPr>
          <a:xfrm>
            <a:off x="711182" y="2240657"/>
            <a:ext cx="2980159" cy="495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la biblioteca di classe.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84185" y="2990552"/>
            <a:ext cx="3234153" cy="699095"/>
          </a:xfrm>
          <a:prstGeom prst="roundRect">
            <a:avLst>
              <a:gd name="adj" fmla="val 8720"/>
            </a:avLst>
          </a:prstGeom>
          <a:solidFill>
            <a:srgbClr val="F2EDED"/>
          </a:solidFill>
          <a:ln/>
        </p:spPr>
      </p:sp>
      <p:sp>
        <p:nvSpPr>
          <p:cNvPr id="10" name="Text 8"/>
          <p:cNvSpPr/>
          <p:nvPr/>
        </p:nvSpPr>
        <p:spPr>
          <a:xfrm>
            <a:off x="711182" y="3092152"/>
            <a:ext cx="2980159" cy="495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campo Stato, conteggi e filtri per stato.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00926" y="1596827"/>
            <a:ext cx="3589744" cy="2703612"/>
          </a:xfrm>
          <a:prstGeom prst="roundRect">
            <a:avLst>
              <a:gd name="adj" fmla="val 423"/>
            </a:avLst>
          </a:prstGeom>
          <a:solidFill>
            <a:srgbClr val="DBF0DD"/>
          </a:solidFill>
          <a:ln/>
        </p:spPr>
      </p:sp>
      <p:sp>
        <p:nvSpPr>
          <p:cNvPr id="12" name="Text 10"/>
          <p:cNvSpPr/>
          <p:nvPr/>
        </p:nvSpPr>
        <p:spPr>
          <a:xfrm>
            <a:off x="4478722" y="1787871"/>
            <a:ext cx="3234153" cy="474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2 – 020-macchina-a-stati.c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4478722" y="2376488"/>
            <a:ext cx="3234153" cy="699095"/>
          </a:xfrm>
          <a:prstGeom prst="roundRect">
            <a:avLst>
              <a:gd name="adj" fmla="val 8720"/>
            </a:avLst>
          </a:prstGeom>
          <a:solidFill>
            <a:srgbClr val="F2EDED"/>
          </a:solidFill>
          <a:ln/>
        </p:spPr>
      </p:sp>
      <p:sp>
        <p:nvSpPr>
          <p:cNvPr id="14" name="Text 12"/>
          <p:cNvSpPr/>
          <p:nvPr/>
        </p:nvSpPr>
        <p:spPr>
          <a:xfrm>
            <a:off x="4605718" y="2478088"/>
            <a:ext cx="2980159" cy="495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la porta automatica dell'ingresso.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478722" y="3227983"/>
            <a:ext cx="3234153" cy="894655"/>
          </a:xfrm>
          <a:prstGeom prst="roundRect">
            <a:avLst>
              <a:gd name="adj" fmla="val 6814"/>
            </a:avLst>
          </a:prstGeom>
          <a:solidFill>
            <a:srgbClr val="F2EDED"/>
          </a:solidFill>
          <a:ln/>
        </p:spPr>
      </p:sp>
      <p:sp>
        <p:nvSpPr>
          <p:cNvPr id="16" name="Text 14"/>
          <p:cNvSpPr/>
          <p:nvPr/>
        </p:nvSpPr>
        <p:spPr>
          <a:xfrm>
            <a:off x="4605718" y="3329583"/>
            <a:ext cx="2980159" cy="691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tabella delle transizioni e sequenza di eventi.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195462" y="1596827"/>
            <a:ext cx="3589744" cy="2703612"/>
          </a:xfrm>
          <a:prstGeom prst="roundRect">
            <a:avLst>
              <a:gd name="adj" fmla="val 423"/>
            </a:avLst>
          </a:prstGeom>
          <a:solidFill>
            <a:srgbClr val="DBF0DD"/>
          </a:solidFill>
          <a:ln/>
        </p:spPr>
      </p:sp>
      <p:sp>
        <p:nvSpPr>
          <p:cNvPr id="18" name="Text 16"/>
          <p:cNvSpPr/>
          <p:nvPr/>
        </p:nvSpPr>
        <p:spPr>
          <a:xfrm>
            <a:off x="8373258" y="1787871"/>
            <a:ext cx="3234153" cy="474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3 – 030-tabella-indicizzata-da-enum.c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8373258" y="2376488"/>
            <a:ext cx="3234153" cy="699095"/>
          </a:xfrm>
          <a:prstGeom prst="roundRect">
            <a:avLst>
              <a:gd name="adj" fmla="val 8720"/>
            </a:avLst>
          </a:prstGeom>
          <a:solidFill>
            <a:srgbClr val="F2EDED"/>
          </a:solidFill>
          <a:ln/>
        </p:spPr>
      </p:sp>
      <p:sp>
        <p:nvSpPr>
          <p:cNvPr id="20" name="Text 18"/>
          <p:cNvSpPr/>
          <p:nvPr/>
        </p:nvSpPr>
        <p:spPr>
          <a:xfrm>
            <a:off x="8500255" y="2478088"/>
            <a:ext cx="2980159" cy="495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 biglietti dello spettacolo di fine anno.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373258" y="3227983"/>
            <a:ext cx="3234153" cy="699095"/>
          </a:xfrm>
          <a:prstGeom prst="roundRect">
            <a:avLst>
              <a:gd name="adj" fmla="val 8720"/>
            </a:avLst>
          </a:prstGeom>
          <a:solidFill>
            <a:srgbClr val="F2EDED"/>
          </a:solidFill>
          <a:ln/>
        </p:spPr>
      </p:sp>
      <p:sp>
        <p:nvSpPr>
          <p:cNvPr id="22" name="Text 20"/>
          <p:cNvSpPr/>
          <p:nvPr/>
        </p:nvSpPr>
        <p:spPr>
          <a:xfrm>
            <a:off x="8500255" y="3329583"/>
            <a:ext cx="2980159" cy="495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array di Tariffa indicizzato dalla categoria.</a:t>
            </a:r>
            <a:endParaRPr lang="en-US" sz="110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10515"/>
            <a:ext cx="11785305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b="1" spc="63" kern="100" dirty="0">
                <a:solidFill>
                  <a:srgbClr val="256B2B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SEZIONE 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06390" y="587267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Esempi Pratici: Problemi su Enum nelle Struct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06390" y="1189236"/>
            <a:ext cx="5613260" cy="813991"/>
          </a:xfrm>
          <a:prstGeom prst="roundRect">
            <a:avLst>
              <a:gd name="adj" fmla="val 1404"/>
            </a:avLst>
          </a:prstGeom>
          <a:solidFill>
            <a:srgbClr val="DBF0DD"/>
          </a:solidFill>
          <a:ln/>
        </p:spPr>
      </p:sp>
      <p:sp>
        <p:nvSpPr>
          <p:cNvPr id="5" name="Text 3"/>
          <p:cNvSpPr/>
          <p:nvPr/>
        </p:nvSpPr>
        <p:spPr>
          <a:xfrm>
            <a:off x="584185" y="1329480"/>
            <a:ext cx="5257668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040 – Ticket di assistenza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84185" y="1688921"/>
            <a:ext cx="5435464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Priorità e stato, cambi permessi da una tabella.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72046" y="1189236"/>
            <a:ext cx="5613260" cy="813991"/>
          </a:xfrm>
          <a:prstGeom prst="roundRect">
            <a:avLst>
              <a:gd name="adj" fmla="val 1404"/>
            </a:avLst>
          </a:prstGeom>
          <a:solidFill>
            <a:srgbClr val="DBF0DD"/>
          </a:solidFill>
          <a:ln/>
        </p:spPr>
      </p:sp>
      <p:sp>
        <p:nvSpPr>
          <p:cNvPr id="8" name="Text 6"/>
          <p:cNvSpPr/>
          <p:nvPr/>
        </p:nvSpPr>
        <p:spPr>
          <a:xfrm>
            <a:off x="6349841" y="1329480"/>
            <a:ext cx="5257668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050 – Ascensore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349841" y="1688921"/>
            <a:ext cx="5435464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Macchina a stati con uno switch: porte, salita e discesa.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06390" y="2155527"/>
            <a:ext cx="5613260" cy="813991"/>
          </a:xfrm>
          <a:prstGeom prst="roundRect">
            <a:avLst>
              <a:gd name="adj" fmla="val 1404"/>
            </a:avLst>
          </a:prstGeom>
          <a:solidFill>
            <a:srgbClr val="DBF0DD"/>
          </a:solidFill>
          <a:ln/>
        </p:spPr>
      </p:sp>
      <p:sp>
        <p:nvSpPr>
          <p:cNvPr id="11" name="Text 9"/>
          <p:cNvSpPr/>
          <p:nvPr/>
        </p:nvSpPr>
        <p:spPr>
          <a:xfrm>
            <a:off x="584185" y="2295772"/>
            <a:ext cx="5257668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060 – Tessere della mensa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84185" y="2655213"/>
            <a:ext cx="5435464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Fascia ISEE come campo enum e tabella dei prezzi.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72046" y="2155527"/>
            <a:ext cx="5613260" cy="813991"/>
          </a:xfrm>
          <a:prstGeom prst="roundRect">
            <a:avLst>
              <a:gd name="adj" fmla="val 1404"/>
            </a:avLst>
          </a:prstGeom>
          <a:solidFill>
            <a:srgbClr val="DBF0DD"/>
          </a:solidFill>
          <a:ln/>
        </p:spPr>
      </p:sp>
      <p:sp>
        <p:nvSpPr>
          <p:cNvPr id="14" name="Text 12"/>
          <p:cNvSpPr/>
          <p:nvPr/>
        </p:nvSpPr>
        <p:spPr>
          <a:xfrm>
            <a:off x="6349841" y="2295772"/>
            <a:ext cx="5257668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070 – Gioco del tris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349841" y="2655213"/>
            <a:ext cx="5435464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Griglia di Casella, turni e Risultato.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06390" y="3121819"/>
            <a:ext cx="11378915" cy="813991"/>
          </a:xfrm>
          <a:prstGeom prst="roundRect">
            <a:avLst>
              <a:gd name="adj" fmla="val 1404"/>
            </a:avLst>
          </a:prstGeom>
          <a:solidFill>
            <a:srgbClr val="DBF0DD"/>
          </a:solidFill>
          <a:ln/>
        </p:spPr>
      </p:sp>
      <p:sp>
        <p:nvSpPr>
          <p:cNvPr id="17" name="Text 15"/>
          <p:cNvSpPr/>
          <p:nvPr/>
        </p:nvSpPr>
        <p:spPr>
          <a:xfrm>
            <a:off x="584185" y="3262063"/>
            <a:ext cx="11023324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080 – Analisi del testo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84185" y="3621504"/>
            <a:ext cx="11201120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Automa che conta parole, numeri e punteggiatura.</a:t>
            </a:r>
            <a:endParaRPr lang="en-US" sz="11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2026-10-12T14:16:17Z</dcterms:created>
  <dcterms:modified xsi:type="dcterms:W3CDTF">2026-10-12T14:16:17Z</dcterms:modified>
</cp:coreProperties>
</file>