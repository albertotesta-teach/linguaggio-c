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103314"/>
            <a:ext cx="6502237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Funzioni sulle Stringhe in 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6390" y="3395186"/>
            <a:ext cx="65022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Funzioni scritte a mano, libreria string.h, ricerca, caratteri e conversioni, array di stringhe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259064"/>
            <a:ext cx="6502237" cy="524173"/>
          </a:xfrm>
          <a:prstGeom prst="roundRect">
            <a:avLst>
              <a:gd name="adj" fmla="val 17444"/>
            </a:avLst>
          </a:prstGeom>
          <a:solidFill>
            <a:srgbClr val="256B2B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4386064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716242" y="4443155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08733" y="4386064"/>
            <a:ext cx="96964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115390" y="4443155"/>
            <a:ext cx="136591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STRINGHE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7271" y="4386064"/>
            <a:ext cx="931542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173928" y="4443155"/>
            <a:ext cx="132781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STRING.H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Stringa come Parametro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stringa si passa a una funzione come qualsiasi array di char. La funzione non riceve la dimensione dell'array: la fine del testo si riconosce dal terminatore '\0'.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780877"/>
          <a:ext cx="5167977" cy="914400"/>
        </p:xfrm>
        <a:graphic>
          <a:graphicData uri="http://schemas.openxmlformats.org/drawingml/2006/table">
            <a:tbl>
              <a:tblPr/>
              <a:tblGrid>
                <a:gridCol w="2067171"/>
                <a:gridCol w="310080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char s[]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 legge la stringa ma non la modifica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 dest[]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 scrive nella stringa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616424"/>
            <a:ext cx="5167977" cy="802481"/>
          </a:xfrm>
          <a:prstGeom prst="roundRect">
            <a:avLst>
              <a:gd name="adj" fmla="val 11394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609585" y="3778032"/>
            <a:ext cx="47615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Dentro la funzione sizeof(s) non dà la dimensione della stringa: s è solo l'indirizzo del primo carattere.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9060" y="1129605"/>
            <a:ext cx="5906245" cy="2631281"/>
          </a:xfrm>
          <a:prstGeom prst="roundRect">
            <a:avLst>
              <a:gd name="adj" fmla="val 43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092375" y="1307723"/>
            <a:ext cx="5479615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lunghezza(const char s[]);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copia(char dest[], const char sorg[]);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elabora s[i]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Scritte a Mano: Lunghezza e Copia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498333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prima di usare la libreria bisogna capire che cosa fanno davvero queste operazioni e perché hanno dei limiti.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1780877"/>
            <a:ext cx="4983335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lunghezza non conta il '\0'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copia deve scrivere anche il '\0', altrimenti dest non è una stringa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dest deve avere almeno lunghezza(sorg) + 1 celle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17540"/>
            <a:ext cx="4983335" cy="1051322"/>
          </a:xfrm>
          <a:prstGeom prst="roundRect">
            <a:avLst>
              <a:gd name="adj" fmla="val 8697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9147"/>
            <a:ext cx="457694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copia_limitata(dest, sorg, dim) copia al massimo dim - 1 caratteri e termina sempre con '\0': il testo viene troncato ma resta valido.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94418" y="1129605"/>
            <a:ext cx="6090887" cy="5475883"/>
          </a:xfrm>
          <a:prstGeom prst="roundRect">
            <a:avLst>
              <a:gd name="adj" fmla="val 209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5907733" y="1307723"/>
            <a:ext cx="5664257" cy="512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lunghezza(const char s[])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(s[n]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copia(char dest[], const char sorg[])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(sorg[i]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dest[i] = sorg[i];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dest[i] = '\0';      /* il terminatore va copiato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Concatenazione e Confronto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5370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Concatenare: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trova il '\0' di dest e da lì si copia sorg.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378446"/>
            <a:ext cx="5537061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556564"/>
            <a:ext cx="5110432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 = lunghezza(dest);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(sorg[i]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dest[fine + i] = sorg[i];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dest[fine + i] = '\0';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767832"/>
            <a:ext cx="5537061" cy="751681"/>
          </a:xfrm>
          <a:prstGeom prst="roundRect">
            <a:avLst>
              <a:gd name="adj" fmla="val 12164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3904040"/>
            <a:ext cx="518147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== b confronta gli indirizzi dei due array, non il testo: vale 0 anche quando il testo è lo stesso.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8244" y="938788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Confrontare: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avanza finché i caratteri sono uguali; il risultato è la differenza dei primi caratteri diversi.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1627287"/>
            <a:ext cx="5537061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6461559" y="1805404"/>
            <a:ext cx="511043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(a[i] == b[i] &amp;&amp; a[i]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a[i] - b[i];    /* &lt; 0, 0, &gt; 0 */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3447752"/>
          <a:ext cx="5537062" cy="914400"/>
        </p:xfrm>
        <a:graphic>
          <a:graphicData uri="http://schemas.openxmlformats.org/drawingml/2006/table">
            <a:tbl>
              <a:tblPr/>
              <a:tblGrid>
                <a:gridCol w="2491618"/>
                <a:gridCol w="304544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"Anna" e "Bruno"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negativo: Anna viene prima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"Mar" e "Mario"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negativo: '\0' vale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"Zeta" e "alfa"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negativo: 'Z' = 90 &lt; 'a' = 97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Libreria string.h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stesse operazioni esistono già nella libreria standard: basta includere l'header.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5167977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474134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&lt;string.h&gt;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strlen(nome);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strcpy(copia, 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strcat(saluto, 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(strcmp(a, b) == 0) { ... 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042073"/>
            <a:ext cx="5167977" cy="1051322"/>
          </a:xfrm>
          <a:prstGeom prst="roundRect">
            <a:avLst>
              <a:gd name="adj" fmla="val 8697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03680"/>
            <a:ext cx="476158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strlen restituisce size_t: si stampa con %zu oppure si converte con (int) strlen(s). strlen conta i caratteri, sizeof conta le celle dell'array.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929580"/>
          <a:ext cx="5906245" cy="914400"/>
        </p:xfrm>
        <a:graphic>
          <a:graphicData uri="http://schemas.openxmlformats.org/drawingml/2006/table">
            <a:tbl>
              <a:tblPr/>
              <a:tblGrid>
                <a:gridCol w="2244371"/>
                <a:gridCol w="366187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Che cosa fa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strlen(s)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lunghezza, '\0' escluso (tipo size_t)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strcpy(dest, sorg)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strcat(dest, sorg)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aggiunge in coda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strcmp(a, 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 alfabetico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strncpy, strncat, strncmp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versioni con limite 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Versioni con il Limite 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strcpy e strcat non conoscono la dimensione di dest. Se il testo non entra scrivono oltre la fine dell'array e sovrascrivono altre variabili.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803102"/>
          <a:ext cx="5167977" cy="914400"/>
        </p:xfrm>
        <a:graphic>
          <a:graphicData uri="http://schemas.openxmlformats.org/drawingml/2006/table">
            <a:tbl>
              <a:tblPr/>
              <a:tblGrid>
                <a:gridCol w="1446970"/>
                <a:gridCol w="2170455"/>
                <a:gridCol w="1550552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 di 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Aggiunge il '\0'?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strncpy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massimo numero di caratteri copiati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no, se sorg è lunga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strncat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massimo numero di caratteri aggiunti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sempre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strncmp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numero di caratteri confrontati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508202"/>
            <a:ext cx="5167977" cy="751681"/>
          </a:xfrm>
          <a:prstGeom prst="roundRect">
            <a:avLst>
              <a:gd name="adj" fmla="val 12164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644410"/>
            <a:ext cx="48123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strncat il limite non è la dimensione di dest ma lo spazio ancora libero.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79060" y="1129605"/>
            <a:ext cx="5906245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092375" y="1307723"/>
            <a:ext cx="5479615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strncpy(dest, sorg, sizeof(dest) - 1);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dest[sizeof(dest) - 1] = '\0';          /* obbligatorio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spazio_libero = sizeof(dest) - strlen(dest) - 1;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strncat(dest, sorg, spazio_libero);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strcmp: Conta Solo il Segno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537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standard garantisce solo il segno del risultato di strcmp, non il valore: il risultato si confronta sempre con 0.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1532037"/>
            <a:ext cx="5537061" cy="1333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strncmp(s, prefisso, strlen(prefisso)) == 0 verifica se s inizia con il prefisso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(strcmp(a, b)) è vero quando le stringhe sono DIVERSE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 standard non ha un confronto che ignori le maiuscole: si confrontano copie in minuscolo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017540"/>
            <a:ext cx="5537061" cy="1051322"/>
          </a:xfrm>
          <a:prstGeom prst="roundRect">
            <a:avLst>
              <a:gd name="adj" fmla="val 8697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9147"/>
            <a:ext cx="51306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Esempio: per riconoscere un cellulare italiano si sceglie il prefisso più lungo tra quelli che corrispondono: "+393" vince su "+39".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129605"/>
            <a:ext cx="5537061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1307723"/>
            <a:ext cx="511043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(strcmp(a, b) == 0)        /* uguali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(strcmp(a, b) &lt; 0)         /* a viene prima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(strcmp(a, b) == -1)       /* SBAGLIATO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(strncmp(numero, "+39", 3) == 0)   /* inizia con +39 */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Cercare un Carattere o una Parola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167977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tre funzioni restituiscono un puntatore, argomento del capitolo 05: per ora il risultato si usa solo per sapere se l'occorrenza esiste.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(strchr(email, ' ') != NULL)       /* contiene spazi */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(strstr(testo, "USB") == NULL)     /* non contiene USB */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30959"/>
            <a:ext cx="5167977" cy="1051322"/>
          </a:xfrm>
          <a:prstGeom prst="roundRect">
            <a:avLst>
              <a:gd name="adj" fmla="val 8697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92566"/>
            <a:ext cx="476158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strstr cerca una sequenza di caratteri, non una parola intera: "il" si trova anche in "invisibili". La ricerca distingue le maiuscole.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929580"/>
          <a:ext cx="5906245" cy="914400"/>
        </p:xfrm>
        <a:graphic>
          <a:graphicData uri="http://schemas.openxmlformats.org/drawingml/2006/table">
            <a:tbl>
              <a:tblPr/>
              <a:tblGrid>
                <a:gridCol w="2008038"/>
                <a:gridCol w="2716839"/>
                <a:gridCol w="1181368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Cerca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 non trova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strchr(s, 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prima occorrenza del carattere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strrchr(s, 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l'ultima occorrenza del carattere 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strstr(s, parola)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prima occorrenza della sottostringa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Posizione: Funzioni che Restituiscono l'Indice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4798793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validare un'email o separare nome ed estensione di un file non basta sapere se un carattere c'è: serve sapere dove si trova.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funzioni scritte a mano che restituiscono l'indice, oppure -1.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383334"/>
          <a:ext cx="4798793" cy="914400"/>
        </p:xfrm>
        <a:graphic>
          <a:graphicData uri="http://schemas.openxmlformats.org/drawingml/2006/table">
            <a:tbl>
              <a:tblPr/>
              <a:tblGrid>
                <a:gridCol w="2399347"/>
                <a:gridCol w="239944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Restituisce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prima_posizione(s, 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 della prima occorrenza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ultima_posizione(s, 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 dell'ultima occorrenza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copia_parte(dest, s, inizio, 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estrae n caratteri da inizio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839593"/>
            <a:ext cx="4798793" cy="751681"/>
          </a:xfrm>
          <a:prstGeom prst="roundRect">
            <a:avLst>
              <a:gd name="adj" fmla="val 12164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975801"/>
            <a:ext cx="444320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contare tutte le occorrenze si riparte da posizione + 1 finché cerca_da restituisce -1.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09876" y="1129605"/>
            <a:ext cx="6275429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5723191" y="1307723"/>
            <a:ext cx="5848799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cerca_da(const char s[], const char parola[], int da)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da;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posizione = -1;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(s[i] != '\0' &amp;&amp; posizione == -1)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(combacia(s, parola, i))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posizione =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posizione;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Classificare i Caratteri: ctype.h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Invece di confrontare i codici ASCII a mano si usano le funzioni di ctype.h, che restituiscono un valore diverso da 0 (vero) oppure 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5167977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474134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(isdigit((unsigned char) s[i]))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cifre++;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 = (char) toupper((unsigned char) s[i]);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721993"/>
            <a:ext cx="5167977" cy="1051322"/>
          </a:xfrm>
          <a:prstGeom prst="roundRect">
            <a:avLst>
              <a:gd name="adj" fmla="val 8697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883601"/>
            <a:ext cx="476158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scrive if (isdigit(c)), mai if (isdigit(c) == 1). Il cast (unsigned char) evita problemi con le lettere accentate.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929580"/>
          <a:ext cx="5906245" cy="914400"/>
        </p:xfrm>
        <a:graphic>
          <a:graphicData uri="http://schemas.openxmlformats.org/drawingml/2006/table">
            <a:tbl>
              <a:tblPr/>
              <a:tblGrid>
                <a:gridCol w="2657805"/>
                <a:gridCol w="3248440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Vero se c è…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isalpha(c)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lettera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isdigit(c)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cifra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isalnum(c)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lettera o cifra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isupper(c) / islower(c)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maiuscola / minuscola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isspace(c)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spazio, tabulazione, a capo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ispunct(c)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punteggiatura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Da Testo a Numero e Viceversa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stringa "42" non è il numero 42: sono i caratteri '4' e '2'.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5167977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474134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letti = sscanf(riga, "%d/%d/%d%c", &amp;g, &amp;m, &amp;a, &amp;resto);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 = data corretta, 4 = testo in più, &lt; 3 = formato errato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snprintf(riga, sizeof(riga), "%-18.18s %3d", nome, quantita);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042073"/>
            <a:ext cx="5167977" cy="802481"/>
          </a:xfrm>
          <a:prstGeom prst="roundRect">
            <a:avLst>
              <a:gd name="adj" fmla="val 11394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03680"/>
            <a:ext cx="47615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cifra si converte nel suo valore con c - '0': (cf[6] - '0') * 10 + (cf[7] - '0').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929580"/>
          <a:ext cx="5906245" cy="914400"/>
        </p:xfrm>
        <a:graphic>
          <a:graphicData uri="http://schemas.openxmlformats.org/drawingml/2006/table">
            <a:tbl>
              <a:tblPr/>
              <a:tblGrid>
                <a:gridCol w="2008038"/>
                <a:gridCol w="1535570"/>
                <a:gridCol w="236263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Attenzione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atoi(s)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"42" → 42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"abc" → 0, "12abc" → 12: nessun errore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atof(s)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"3.75" → 3.75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come atoi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sscanf(s, formato, ...)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 da una stringa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restituisce quanti valori ha convertito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snprintf(dest, dim, formato, ...)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in una stringa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supera mai dim celle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Stringhe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1679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elenco di parole si memorizza in una matrice di char: ogni riga è una stringa.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5167977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4741347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materie[5][16]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"Italiano", "Matematica", "Informatica", "Inglese", "Storia"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strcpy(elenco[n], nuovo);     /* assegnazione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leggi_riga(citta[k], LUNG);   /* lettura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cerca(const char elenco[][LUNG], int n, const char parola[]);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895453"/>
            <a:ext cx="5167977" cy="802481"/>
          </a:xfrm>
          <a:prstGeom prst="roundRect">
            <a:avLst>
              <a:gd name="adj" fmla="val 11394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5057061"/>
            <a:ext cx="47615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riga occupa sempre LUNG celle: LUNG deve contenere la parola più lunga più il '\0'.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060" y="929580"/>
          <a:ext cx="5906245" cy="914400"/>
        </p:xfrm>
        <a:graphic>
          <a:graphicData uri="http://schemas.openxmlformats.org/drawingml/2006/table">
            <a:tbl>
              <a:tblPr/>
              <a:tblGrid>
                <a:gridCol w="2362439"/>
                <a:gridCol w="354380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Schema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strcmp(elenco[k], parola) == 0 con flag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Primo in ordine alfabetico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come il minimo, con strcmp &lt;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Scambio di due righe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tre strcpy con una stringa di appoggio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Aggiunta (array a tappo)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strcpy(elenco[n], nuovo); n++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Cancellazione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 righe successive salgono di uno, poi n--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Ignorare Maiuscole e Spazi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gli utenti scrivono lo stesso dato in modi diversi: "Rossi Mario", "ROSSI MARIO", "  rossi   mario ". Con strcmp risultano tre nomi diversi.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prima del confronto si crea una copia normalizzata del testo.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2383334"/>
            <a:ext cx="5537061" cy="790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confronto si fa sulle copie, la stampa sugli originali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posizioni trovate in una copia in minuscolo valgono anche per l'originale, perché la lunghezza è la stessa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3326705"/>
            <a:ext cx="5537061" cy="802481"/>
          </a:xfrm>
          <a:prstGeom prst="roundRect">
            <a:avLst>
              <a:gd name="adj" fmla="val 11394"/>
            </a:avLst>
          </a:prstGeom>
          <a:solidFill>
            <a:srgbClr val="DCEFD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488313"/>
            <a:ext cx="513067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Usato per i duplicati nelle iscrizioni, la ricerca nel catalogo, il filtro dei commenti e i comandi di magazzino.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129605"/>
            <a:ext cx="5537061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6461559" y="1307723"/>
            <a:ext cx="511043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normalizza(char dest[], const char sorg[])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minuscolo, niente spazi iniziali e finali,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un solo spazio tra le parole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normalizza(a_norm, 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normalizza(b_norm, b);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(strcmp(a_norm, b_norm) == 0) { ... 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584185" y="1056580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2133" y="1123255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4185" y="1449963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di copiare il terminatore '\0'.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929580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49841" y="1056580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57788" y="1123255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841" y="1449963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Destinazione troppo piccola per strcpy, strcat o una copia scritta a mano.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2217837"/>
            <a:ext cx="5613260" cy="887016"/>
          </a:xfrm>
          <a:prstGeom prst="roundRect">
            <a:avLst>
              <a:gd name="adj" fmla="val 10308"/>
            </a:avLst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185" y="2344837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2133" y="2411512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4185" y="273821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stringhe con == invece che con strcmp.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46" y="2217837"/>
            <a:ext cx="5613260" cy="887016"/>
          </a:xfrm>
          <a:prstGeom prst="roundRect">
            <a:avLst>
              <a:gd name="adj" fmla="val 10308"/>
            </a:avLst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9841" y="2344837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7788" y="2411512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49841" y="273821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strncpy senza aggiungere il '\0' finale.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390" y="3257252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584185" y="3384252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2133" y="3450927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185" y="3777635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a strncat la dimensione di dest invece dello spazio libero.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046" y="3257252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9841" y="3384252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57788" y="3450927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49841" y="3777635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il risultato di strcmp con 1 o -1.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390" y="4545509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584185" y="4672509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2133" y="4739184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4185" y="506589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risultato di strstr come un numero invece di confrontarlo con NULL.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046" y="4545509"/>
            <a:ext cx="5613260" cy="1135856"/>
          </a:xfrm>
          <a:prstGeom prst="roundRect">
            <a:avLst>
              <a:gd name="adj" fmla="val 8050"/>
            </a:avLst>
          </a:prstGeom>
          <a:solidFill>
            <a:srgbClr val="DCE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6349841" y="4672509"/>
            <a:ext cx="468698" cy="311150"/>
          </a:xfrm>
          <a:prstGeom prst="roundRect">
            <a:avLst>
              <a:gd name="adj" fmla="val 3673"/>
            </a:avLst>
          </a:prstGeom>
          <a:noFill/>
          <a:ln w="190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57788" y="4739184"/>
            <a:ext cx="86238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9841" y="5065891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Fidarsi di atoi per validare un numero: "abc" diventa 0.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730928"/>
                <a:gridCol w="4779049"/>
                <a:gridCol w="386893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Lunghezza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strlen o ciclo fino a '\0'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'\0' escluso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strcpy, strncpy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spazio per il '\0'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Concatenazione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strcat, strncat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 spazio libero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strcmp, strncmp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il segno conta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strchr, strrchr, strstr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 con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funzioni con 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 se non trovato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di carattere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isalpha, isdigit, isspace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vero = diverso da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Maiuscole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toupper, tolower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carattere alla volta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Testo → numero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sscanf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controllare quanti valori ha letto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Numero → testo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snprintf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 oltre la 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Elenchi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char elenco[N][LUNG]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assegnazione con strcpy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Funzioni Scritte a Mano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sulle operazioni fondamentali.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844477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010-lunghezza-e-copia.c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misurare e copiare una stringa.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lunghezza, copia con il '\0', copia indipendente, copia_limitata.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29520" y="1844477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020-concatenazione.c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comporre un messaggio a pezzi.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concatena dal '\0' di dest, concatena_limitata.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424056" y="1844477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030-confronto.c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ordine alfabetico tra due parole.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confronta, confronto senza maiuscole, perché == non funziona.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Funzioni Scritte a Mano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878061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Palindromo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84" y="223845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Frasi pulite dai caratteri non alfabetici, invertite e confrontate.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878061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Normalizza nome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640" y="223845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  mARIO   de  ROSSI " diventa "Mario De Rossi", anche con apostrofi e trattini.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3107829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334967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Username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84" y="3710067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Iniziale del nome + cognome, massimo 8 caratteri, cifra per gli omonimi.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3107829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334967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Email istituzionale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640" y="3710067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nome.cognome@dominio per studenti e docenti, con liste di distribuzione.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579441"/>
            <a:ext cx="11378915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" y="4821286"/>
            <a:ext cx="1092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Rubrica per cognome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984" y="5181679"/>
            <a:ext cx="111503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per inizio del cognome senza distinguere le maiuscole.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Libreria string.h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sulle funzioni della libreria.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3357662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010-strlen-e-strcpy.c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lunghezza e copia con la libreria.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strlen e sizeof, strcpy, strncpy e il '\0' da aggiungere.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29520" y="3357662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020-strcat-e-strncat.c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concatenare senza superare l'array.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strcat, strncat con il calcolo dello spazio libero.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424056" y="3357662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030-strcmp-e-strncmp.c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codici di prenotazione.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uguaglianza, ordine alfabetico, prefisso con strncmp.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string.h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Indirizzo postale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84" y="179147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Etichetta di spedizione con validazione di CAP e provincia e righe troncate.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Cambio password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640" y="179147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Verifica della password attuale, requisiti della nuova, conferma.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660848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Login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84" y="3263086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Utenti e password in array paralleli, blocco dopo tre errori.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660848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Prefissi telefonici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640" y="3263086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 delle chiamate per zona, scegliendo il prefisso più lungo.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132461"/>
            <a:ext cx="11378915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" y="4374305"/>
            <a:ext cx="1092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Elezione rappresentanti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984" y="4734699"/>
            <a:ext cx="111503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Spoglio delle schede: valide, bianche, nulle, eletti e ballottaggio.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Ricerca nelle Stringhe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caratteri e parole.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844477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010-strchr-e-strrchr.c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i separatori di un codice.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presenza con strchr, prima e ultima posizione, estrazione dei pezzi.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29520" y="1844477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020-strstr.c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parole chiave nelle descrizioni.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strstr per la presenza, cerca_da per la posizione.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1615877"/>
            <a:ext cx="3589744" cy="2159794"/>
          </a:xfrm>
          <a:prstGeom prst="roundRect">
            <a:avLst>
              <a:gd name="adj" fmla="val 529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424056" y="1844477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030-conta-occorrenze.c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quante volte compare una parola.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occorrenze sovrapposte e separate, parole intere.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di Ricerca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Validazione email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84" y="179147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Cinque regole: spazi, una sola @, nome, punto nel dominio e sua posizione.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Filtro commenti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640" y="179147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Parole vietate sostituite con asterischi, senza distinguere maiuscole.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660848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Catalogo biblioteca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84" y="3263086"/>
            <a:ext cx="53846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per parola chiave nei titoli e negli autori.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660848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Nome ed estensione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640" y="3263086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Cartella, nome ed estensione dei file e conteggio per tipo.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132461"/>
            <a:ext cx="11378915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" y="4374305"/>
            <a:ext cx="1092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Smistamento messaggi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984" y="4734699"/>
            <a:ext cx="111503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Richieste inoltrate all'ufficio con più parole chiave.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Caratteri e Conversioni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ctype.h e conversioni.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615877"/>
            <a:ext cx="3589744" cy="2408634"/>
          </a:xfrm>
          <a:prstGeom prst="roundRect">
            <a:avLst>
              <a:gd name="adj" fmla="val 475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844477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010-classificazione-caratteri.c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 che tipo è ogni carattere.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isalpha, isdigit, isupper, isspace, ispunct.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1615877"/>
            <a:ext cx="3589744" cy="2408634"/>
          </a:xfrm>
          <a:prstGeom prst="roundRect">
            <a:avLst>
              <a:gd name="adj" fmla="val 47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29520" y="1844477"/>
            <a:ext cx="3132555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020-maiuscole-e-minuscole.c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uniformare i dati di un'anagrafica.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toupper, tolower, iniziali maiuscole, confronto senza maiuscole.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1615877"/>
            <a:ext cx="3589744" cy="2408634"/>
          </a:xfrm>
          <a:prstGeom prst="roundRect">
            <a:avLst>
              <a:gd name="adj" fmla="val 475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424056" y="1844477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030-conversioni-testo-numero.c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passare da testo a numero e viceversa.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atoi, atof, controllo con sscanf, snprintf e troncamento.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Caratteri e Conversioni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878061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Codice fiscale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84" y="223845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Formato controllato posizione per posizione, sesso e data di nascita.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878061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Data di nascita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640" y="223845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gg/mm/aaaa letta con sscanf, anni bisestili, età compiuta.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3107829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334967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Scontrino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84" y="3710067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Righe composte con snprintf, importi in centesimi, sconto.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3107829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334967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Comandi di magazzino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640" y="3710067"/>
            <a:ext cx="53846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"CARICO viti 50": comandi testuali scomposti con sscanf.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579441"/>
            <a:ext cx="11378915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" y="4821286"/>
            <a:ext cx="1092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Cifrario di Vigenère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984" y="5181679"/>
            <a:ext cx="111503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Cifratura con parola chiave e verifica con la decifratura.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di Stringhe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sugli elenchi di parole.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3357662"/>
            <a:ext cx="3132555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010-elenco-di-parole.c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memorizzare un elenco.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inizializzazione, lettura con fgets, memoria occupata.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0926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4529520" y="3482082"/>
            <a:ext cx="3132555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020-ricerca-nell-elenco.c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un nome.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ricerca esatta e senza maiuscole, conteggio per iniziale.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5462" y="1615877"/>
            <a:ext cx="3589744" cy="49373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8424056" y="3233241"/>
            <a:ext cx="3132555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030-primo-ultimo-e-scambio.c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ordine alfabetico in un elenco.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primo e ultimo con strcmp, scambio con tre strcpy.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256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SEZIONE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Array di Stringhe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Dizionario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84" y="1791474"/>
            <a:ext cx="515607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Traduzione italiano-inglese nei due sensi, con suggerimenti.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319312"/>
          </a:xfrm>
          <a:prstGeom prst="roundRect">
            <a:avLst>
              <a:gd name="adj" fmla="val 866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431080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Iscrizioni duplicate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640" y="1791474"/>
            <a:ext cx="53846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Nomi normalizzati, duplicati segnalati, elenco pulito.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660848"/>
            <a:ext cx="5613260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Menu ristorante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84" y="3263086"/>
            <a:ext cx="53846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Menu per categoria, ordinazione e conto con coperto.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660848"/>
            <a:ext cx="5613260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2902693"/>
            <a:ext cx="51560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Rubrica modificabile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640" y="3263086"/>
            <a:ext cx="538466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a tappo: aggiunta, ricerca, cancellazione.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883620"/>
            <a:ext cx="11378915" cy="1070471"/>
          </a:xfrm>
          <a:prstGeom prst="roundRect">
            <a:avLst>
              <a:gd name="adj" fmla="val 106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" y="4125465"/>
            <a:ext cx="1092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Anagrammi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984" y="4485858"/>
            <a:ext cx="111503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Conteggio delle lettere per riconoscere gli anagrammi.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2026-10-11T15:04:14Z</dcterms:created>
  <dcterms:modified xsi:type="dcterms:W3CDTF">2026-10-11T15:04:14Z</dcterms:modified>
</cp:coreProperties>
</file>