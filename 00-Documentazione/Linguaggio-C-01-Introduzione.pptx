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1695" cy="6858000"/>
  <p:notesSz cx="6858000" cy="12191695"/>
  <p:embeddedFontLst>
    <p:embeddedFont>
      <p:font typeface="Verdana"/>
      <p:regular r:id="rId201314"/>
    </p:embeddedFont>
    <p:embeddedFont>
      <p:font typeface="Verdana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1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1.png"/><Relationship Id="rId4" Type="http://schemas.openxmlformats.org/officeDocument/2006/relationships/image" Target="../media/image-14-2.svg"/><Relationship Id="rId5" Type="http://schemas.openxmlformats.org/officeDocument/2006/relationships/image" Target="../media/image-14-5.png"/><Relationship Id="rId6" Type="http://schemas.openxmlformats.org/officeDocument/2006/relationships/image" Target="../media/image-1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1.png"/><Relationship Id="rId4" Type="http://schemas.openxmlformats.org/officeDocument/2006/relationships/image" Target="../media/image-17-2.svg"/><Relationship Id="rId5" Type="http://schemas.openxmlformats.org/officeDocument/2006/relationships/image" Target="../media/image-17-1.png"/><Relationship Id="rId6" Type="http://schemas.openxmlformats.org/officeDocument/2006/relationships/image" Target="../media/image-17-2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7.png"/><Relationship Id="rId10" Type="http://schemas.openxmlformats.org/officeDocument/2006/relationships/image" Target="../media/image-17-8.svg"/><Relationship Id="rId11" Type="http://schemas.openxmlformats.org/officeDocument/2006/relationships/image" Target="../media/image-1-2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1.png"/><Relationship Id="rId4" Type="http://schemas.openxmlformats.org/officeDocument/2006/relationships/image" Target="../media/image-19-2.svg"/><Relationship Id="rId5" Type="http://schemas.openxmlformats.org/officeDocument/2006/relationships/image" Target="../media/image-19-1.png"/><Relationship Id="rId6" Type="http://schemas.openxmlformats.org/officeDocument/2006/relationships/image" Target="../media/image-19-2.svg"/><Relationship Id="rId7" Type="http://schemas.openxmlformats.org/officeDocument/2006/relationships/image" Target="../media/image-1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1.png"/><Relationship Id="rId4" Type="http://schemas.openxmlformats.org/officeDocument/2006/relationships/image" Target="../media/image-20-2.svg"/><Relationship Id="rId5" Type="http://schemas.openxmlformats.org/officeDocument/2006/relationships/image" Target="../media/image-20-1.png"/><Relationship Id="rId6" Type="http://schemas.openxmlformats.org/officeDocument/2006/relationships/image" Target="../media/image-20-2.svg"/><Relationship Id="rId7" Type="http://schemas.openxmlformats.org/officeDocument/2006/relationships/image" Target="../media/image-1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1.png"/><Relationship Id="rId4" Type="http://schemas.openxmlformats.org/officeDocument/2006/relationships/image" Target="../media/image-21-2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5.png"/><Relationship Id="rId8" Type="http://schemas.openxmlformats.org/officeDocument/2006/relationships/image" Target="../media/image-21-6.svg"/><Relationship Id="rId9" Type="http://schemas.openxmlformats.org/officeDocument/2006/relationships/image" Target="../media/image-1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1.png"/><Relationship Id="rId4" Type="http://schemas.openxmlformats.org/officeDocument/2006/relationships/image" Target="../media/image-22-2.svg"/><Relationship Id="rId5" Type="http://schemas.openxmlformats.org/officeDocument/2006/relationships/image" Target="../media/image-22-1.png"/><Relationship Id="rId6" Type="http://schemas.openxmlformats.org/officeDocument/2006/relationships/image" Target="../media/image-22-2.svg"/><Relationship Id="rId7" Type="http://schemas.openxmlformats.org/officeDocument/2006/relationships/image" Target="../media/image-1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1.png"/><Relationship Id="rId4" Type="http://schemas.openxmlformats.org/officeDocument/2006/relationships/image" Target="../media/image-22-2.svg"/><Relationship Id="rId5" Type="http://schemas.openxmlformats.org/officeDocument/2006/relationships/image" Target="../media/image-22-1.png"/><Relationship Id="rId6" Type="http://schemas.openxmlformats.org/officeDocument/2006/relationships/image" Target="../media/image-22-2.svg"/><Relationship Id="rId7" Type="http://schemas.openxmlformats.org/officeDocument/2006/relationships/image" Target="../media/image-1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1.png"/><Relationship Id="rId4" Type="http://schemas.openxmlformats.org/officeDocument/2006/relationships/image" Target="../media/image-24-2.svg"/><Relationship Id="rId5" Type="http://schemas.openxmlformats.org/officeDocument/2006/relationships/image" Target="../media/image-24-1.png"/><Relationship Id="rId6" Type="http://schemas.openxmlformats.org/officeDocument/2006/relationships/image" Target="../media/image-24-2.svg"/><Relationship Id="rId7" Type="http://schemas.openxmlformats.org/officeDocument/2006/relationships/image" Target="../media/image-1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1.png"/><Relationship Id="rId4" Type="http://schemas.openxmlformats.org/officeDocument/2006/relationships/image" Target="../media/image-21-2.svg"/><Relationship Id="rId5" Type="http://schemas.openxmlformats.org/officeDocument/2006/relationships/image" Target="../media/image-21-1.png"/><Relationship Id="rId6" Type="http://schemas.openxmlformats.org/officeDocument/2006/relationships/image" Target="../media/image-21-2.svg"/><Relationship Id="rId7" Type="http://schemas.openxmlformats.org/officeDocument/2006/relationships/image" Target="../media/image-21-1.png"/><Relationship Id="rId8" Type="http://schemas.openxmlformats.org/officeDocument/2006/relationships/image" Target="../media/image-21-2.svg"/><Relationship Id="rId9" Type="http://schemas.openxmlformats.org/officeDocument/2006/relationships/image" Target="../media/image-1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1.png"/><Relationship Id="rId4" Type="http://schemas.openxmlformats.org/officeDocument/2006/relationships/image" Target="../media/image-24-2.svg"/><Relationship Id="rId5" Type="http://schemas.openxmlformats.org/officeDocument/2006/relationships/image" Target="../media/image-24-1.png"/><Relationship Id="rId6" Type="http://schemas.openxmlformats.org/officeDocument/2006/relationships/image" Target="../media/image-24-2.svg"/><Relationship Id="rId7" Type="http://schemas.openxmlformats.org/officeDocument/2006/relationships/image" Target="../media/image-1-2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507126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Introduzione al linguaggio C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756443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Hello world, variabili e tipi, input/output, operatori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4206577"/>
            <a:ext cx="2639946" cy="251420"/>
          </a:xfrm>
          <a:prstGeom prst="roundRect">
            <a:avLst>
              <a:gd name="adj" fmla="val 3031"/>
            </a:avLst>
          </a:prstGeom>
          <a:solidFill>
            <a:srgbClr val="DBF0DD"/>
          </a:solidFill>
          <a:ln/>
        </p:spPr>
      </p:sp>
      <p:sp>
        <p:nvSpPr>
          <p:cNvPr id="6" name="Text 3"/>
          <p:cNvSpPr/>
          <p:nvPr/>
        </p:nvSpPr>
        <p:spPr>
          <a:xfrm>
            <a:off x="760691" y="4259485"/>
            <a:ext cx="305109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CORSO BASE DI PROGRAMMAZIONE</a:t>
            </a:r>
            <a:endParaRPr lang="en-US" sz="10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Introduzione al linguaggio C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7717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Sottotitolo: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Hello world, variabili e tipi, input/output, operatori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827312"/>
            <a:ext cx="5351725" cy="1230213"/>
          </a:xfrm>
          <a:prstGeom prst="roundRect">
            <a:avLst>
              <a:gd name="adj" fmla="val 619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33119" y="1998960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Hello World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3119" y="2356644"/>
            <a:ext cx="50084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Struttura minima, compilazione e primo programma funzionante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8495" y="1827312"/>
            <a:ext cx="5351725" cy="1230213"/>
          </a:xfrm>
          <a:prstGeom prst="roundRect">
            <a:avLst>
              <a:gd name="adj" fmla="val 619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0139" y="1998960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Variabili e Tipi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0139" y="2356644"/>
            <a:ext cx="50084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Interi, reali, char, costanti e booleani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3222823"/>
            <a:ext cx="5351725" cy="965597"/>
          </a:xfrm>
          <a:prstGeom prst="roundRect">
            <a:avLst>
              <a:gd name="adj" fmla="val 789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3119" y="3394472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Input/Output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3119" y="3752155"/>
            <a:ext cx="50084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printf e scanf con tutti gli specificatori di formato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8495" y="3222823"/>
            <a:ext cx="5351725" cy="965597"/>
          </a:xfrm>
          <a:prstGeom prst="roundRect">
            <a:avLst>
              <a:gd name="adj" fmla="val 789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50139" y="3394472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Operatori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0139" y="3752155"/>
            <a:ext cx="500843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Aritmetici, relazionali, logici, assegnazione e bit a bit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62053"/>
            <a:ext cx="6296860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Cos'è il linguaggio C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5233360" y="1244005"/>
            <a:ext cx="6296860" cy="1393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1300"/>
              </a:spcAft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Creato nei </a:t>
            </a:r>
            <a:pPr algn="l" indent="0" marL="0">
              <a:lnSpc>
                <a:spcPct val="130000"/>
              </a:lnSpc>
              <a:spcAft>
                <a:spcPts val="1300"/>
              </a:spcAft>
              <a:buNone/>
            </a:pPr>
            <a:r>
              <a:rPr lang="en-US" sz="12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Bell Labs negli anni '70</a:t>
            </a:r>
            <a:pPr algn="l" indent="0" marL="0">
              <a:lnSpc>
                <a:spcPct val="130000"/>
              </a:lnSpc>
              <a:spcAft>
                <a:spcPts val="1300"/>
              </a:spcAft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il C è un linguaggio </a:t>
            </a:r>
            <a:pPr algn="l" indent="0" marL="0">
              <a:lnSpc>
                <a:spcPct val="130000"/>
              </a:lnSpc>
              <a:spcAft>
                <a:spcPts val="1300"/>
              </a:spcAft>
              <a:buNone/>
            </a:pPr>
            <a:r>
              <a:rPr lang="en-US" sz="1200" b="1" dirty="0">
                <a:solidFill>
                  <a:srgbClr val="4CB65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compilato</a:t>
            </a:r>
            <a:pPr algn="l" indent="0" marL="0">
              <a:lnSpc>
                <a:spcPct val="130000"/>
              </a:lnSpc>
              <a:spcAft>
                <a:spcPts val="1300"/>
              </a:spcAft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30000"/>
              </a:lnSpc>
              <a:spcAft>
                <a:spcPts val="1300"/>
              </a:spcAft>
              <a:buNone/>
            </a:pPr>
            <a:r>
              <a:rPr lang="en-US" sz="1200" b="1" dirty="0">
                <a:solidFill>
                  <a:srgbClr val="4CB65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tipizzato staticamente</a:t>
            </a:r>
            <a:pPr algn="l" indent="0" marL="0">
              <a:lnSpc>
                <a:spcPct val="130000"/>
              </a:lnSpc>
              <a:spcAft>
                <a:spcPts val="1300"/>
              </a:spcAft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 </a:t>
            </a:r>
            <a:pPr algn="l" indent="0" marL="0">
              <a:lnSpc>
                <a:spcPct val="130000"/>
              </a:lnSpc>
              <a:spcAft>
                <a:spcPts val="1300"/>
              </a:spcAft>
              <a:buNone/>
            </a:pPr>
            <a:r>
              <a:rPr lang="en-US" sz="1200" b="1" dirty="0">
                <a:solidFill>
                  <a:srgbClr val="4CB65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procedurale</a:t>
            </a:r>
            <a:pPr algn="l" indent="0" marL="0">
              <a:lnSpc>
                <a:spcPct val="130000"/>
              </a:lnSpc>
              <a:spcAft>
                <a:spcPts val="1300"/>
              </a:spcAft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È ancora oggi alla base di sistemi operativi, firmware e linguaggi moderni. In questo corso si utilizza lo standard </a:t>
            </a:r>
            <a:pPr algn="l" indent="0" marL="0">
              <a:lnSpc>
                <a:spcPct val="130000"/>
              </a:lnSpc>
              <a:spcAft>
                <a:spcPts val="1300"/>
              </a:spcAft>
              <a:buNone/>
            </a:pPr>
            <a:r>
              <a:rPr lang="en-US" sz="12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C11</a:t>
            </a:r>
            <a:pPr algn="l" indent="0" marL="0">
              <a:lnSpc>
                <a:spcPct val="130000"/>
              </a:lnSpc>
              <a:spcAft>
                <a:spcPts val="1300"/>
              </a:spcAft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2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ciclo di sviluppo trasforma il sorgente in un eseguibile:</a:t>
            </a:r>
            <a:endParaRPr lang="en-US" sz="1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8083" y="2773859"/>
            <a:ext cx="4707316" cy="281969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292002" y="4519495"/>
            <a:ext cx="1154350" cy="444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Eseguibile: hello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9292002" y="5027502"/>
            <a:ext cx="1154350" cy="52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programma pronto da eseguire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837203" y="4519495"/>
            <a:ext cx="1154351" cy="444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Compilatore: gcc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837203" y="5027502"/>
            <a:ext cx="1154351" cy="52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traduce in linguaggio macchina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358686" y="4519495"/>
            <a:ext cx="1154350" cy="444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Sorgente: hello.c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358686" y="5027502"/>
            <a:ext cx="1154350" cy="52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file di testo scritto dal programmatore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233360" y="5731905"/>
            <a:ext cx="6296860" cy="496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comando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gcc -Wall -Wextra -o hello hello.c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attiva tutti gli avvisi utili per trovare errori prima che diventino problemi a runtime.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1102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Struttura minima di un programma C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77177"/>
            <a:ext cx="1147833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Ogni programma C valido ha esattamente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una funzione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Ecco le parti fondamentali, ognuna con il suo ruolo preciso: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833662"/>
            <a:ext cx="10868745" cy="1918295"/>
          </a:xfrm>
          <a:prstGeom prst="roundRect">
            <a:avLst>
              <a:gd name="adj" fmla="val 397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1998960"/>
            <a:ext cx="1047188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    ← direttiva al preprocessore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main(void)        ← punto di inizio obbligatorio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                    ← apertura del blocco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printf("Ciao!\n");← istruzione (termina con ;)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0;         ← valore di ritorno al sistema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                   ← chiusura del blocco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937992"/>
            <a:ext cx="3528158" cy="1800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2017" y="4122341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#include &lt;stdio.h&gt;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22017" y="4480024"/>
            <a:ext cx="3067767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Rende disponibili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Senza questa direttiva il compilatore non conosce le funzioni di I/O.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3937992"/>
            <a:ext cx="3528257" cy="18003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9964" y="4122341"/>
            <a:ext cx="30678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int main(void)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99964" y="4480024"/>
            <a:ext cx="30678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punto di ingresso obbligatorio. Il programma parte sempre da qui, non importa quante altre funzioni siano definite.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3937992"/>
            <a:ext cx="3528158" cy="18003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78010" y="4122341"/>
            <a:ext cx="306776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return 0;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278010" y="4480024"/>
            <a:ext cx="3067767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Comunica al sistema operativo che il programma è terminato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senza errori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Un valore diverso da zero segnala un problema.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053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Commenti nel codice C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320838"/>
            <a:ext cx="1147833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Dal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C99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sono disponibili due sintassi di commento. Il commento spiega il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perché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non il cosa — il codice lo dice già da solo.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1731665"/>
            <a:ext cx="10868745" cy="1068388"/>
          </a:xfrm>
          <a:prstGeom prst="roundRect">
            <a:avLst>
              <a:gd name="adj" fmla="val 713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849986" y="1888728"/>
            <a:ext cx="10491723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Commento su più righe: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inizia con /* e termina con */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Commento a riga singola: dalla doppia barra alla fine della riga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269" y="2967930"/>
            <a:ext cx="5469098" cy="2191147"/>
          </a:xfrm>
          <a:prstGeom prst="roundRect">
            <a:avLst>
              <a:gd name="adj" fmla="val 348"/>
            </a:avLst>
          </a:prstGeom>
          <a:solidFill>
            <a:srgbClr val="4CB655"/>
          </a:solidFill>
          <a:ln/>
        </p:spPr>
      </p:sp>
      <p:sp>
        <p:nvSpPr>
          <p:cNvPr id="7" name="Text 5"/>
          <p:cNvSpPr/>
          <p:nvPr/>
        </p:nvSpPr>
        <p:spPr>
          <a:xfrm>
            <a:off x="705328" y="3135153"/>
            <a:ext cx="5154980" cy="25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Commento inutile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05328" y="3543300"/>
            <a:ext cx="5154980" cy="816967"/>
          </a:xfrm>
          <a:prstGeom prst="roundRect">
            <a:avLst>
              <a:gd name="adj" fmla="val 933"/>
            </a:avLst>
          </a:prstGeom>
          <a:solidFill>
            <a:srgbClr val="3FA948"/>
          </a:solidFill>
          <a:ln/>
        </p:spPr>
      </p:sp>
      <p:sp>
        <p:nvSpPr>
          <p:cNvPr id="9" name="Text 7"/>
          <p:cNvSpPr/>
          <p:nvPr/>
        </p:nvSpPr>
        <p:spPr>
          <a:xfrm>
            <a:off x="893839" y="3700363"/>
            <a:ext cx="4777958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incrementa x di 1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+ 1;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5328" y="4530366"/>
            <a:ext cx="5764564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Ripete quello che il codice già dice chiaramente.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93883" y="3135153"/>
            <a:ext cx="5242687" cy="2582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Commento utile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93883" y="3543300"/>
            <a:ext cx="5242687" cy="1068388"/>
          </a:xfrm>
          <a:prstGeom prst="roundRect">
            <a:avLst>
              <a:gd name="adj" fmla="val 713"/>
            </a:avLst>
          </a:prstGeom>
          <a:solidFill>
            <a:srgbClr val="F2EDED"/>
          </a:solidFill>
          <a:ln/>
        </p:spPr>
      </p:sp>
      <p:sp>
        <p:nvSpPr>
          <p:cNvPr id="13" name="Text 11"/>
          <p:cNvSpPr/>
          <p:nvPr/>
        </p:nvSpPr>
        <p:spPr>
          <a:xfrm>
            <a:off x="6482394" y="3700363"/>
            <a:ext cx="4865665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prossima posizione libera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nell'array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x + 1;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93883" y="4781787"/>
            <a:ext cx="5852272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Spiega il </a:t>
            </a:r>
            <a:pPr algn="l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perché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di quella operazione nel contesto.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1475" y="5326955"/>
            <a:ext cx="10868745" cy="864989"/>
          </a:xfrm>
          <a:prstGeom prst="roundRect">
            <a:avLst>
              <a:gd name="adj" fmla="val 881"/>
            </a:avLst>
          </a:prstGeom>
          <a:solidFill>
            <a:srgbClr val="DBF0DD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534" y="5542955"/>
            <a:ext cx="196349" cy="157063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71943" y="5517593"/>
            <a:ext cx="10201218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⚠️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Un commento </a:t>
            </a:r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sbagliato è peggio di nessun commento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 induce chi legge in errore. Tieni sempre i commenti aggiornati quando modifichi il codice.</a:t>
            </a:r>
            <a:endParaRPr lang="en-US" sz="12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962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Tipi interi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1475" y="1360463"/>
            <a:ext cx="1147833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tipi interi in C variano per </a:t>
            </a:r>
            <a:pPr algn="l"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dimensione in byte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 per l'</a:t>
            </a:r>
            <a:pPr algn="l" indent="0" marL="0">
              <a:lnSpc>
                <a:spcPct val="132000"/>
              </a:lnSpc>
              <a:buNone/>
            </a:pPr>
            <a:r>
              <a:rPr lang="en-US" sz="12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intervallo di valori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rappresentabili. Su sistemi a 64 bit: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797149"/>
          <a:ext cx="10868745" cy="914400"/>
        </p:xfrm>
        <a:graphic>
          <a:graphicData uri="http://schemas.openxmlformats.org/drawingml/2006/table">
            <a:tbl>
              <a:tblPr/>
              <a:tblGrid>
                <a:gridCol w="2717186"/>
                <a:gridCol w="1630272"/>
                <a:gridCol w="3260644"/>
                <a:gridCol w="3260644"/>
              </a:tblGrid>
              <a:tr h="4634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Tipo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Byte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Minimo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Massimo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697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short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-32 768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32 767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697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-2 147 483 648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2 147 483 647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697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long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8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-9.2 × 10¹⁸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9.2 × 10¹⁸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697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long long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8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-9.2 × 10¹⁸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9.2 × 10¹⁸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6978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unsigned int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0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4 294 967 295</a:t>
                      </a:r>
                      <a:endParaRPr lang="en-US" sz="12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2807" marR="162807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1475" y="4802584"/>
            <a:ext cx="3516026" cy="1463973"/>
          </a:xfrm>
          <a:prstGeom prst="roundRect">
            <a:avLst>
              <a:gd name="adj" fmla="val 520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0320" dir="2700000">
              <a:srgbClr val="c1d6c3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30539" y="4971653"/>
            <a:ext cx="317789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sizeof(tipo)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0539" y="5322094"/>
            <a:ext cx="3177897" cy="52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Restituisce i byte occupati. I limiti precisi sono in 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&lt;limits.h&gt;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37735" y="4802584"/>
            <a:ext cx="3516125" cy="1463973"/>
          </a:xfrm>
          <a:prstGeom prst="roundRect">
            <a:avLst>
              <a:gd name="adj" fmla="val 520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0320" dir="2700000">
              <a:srgbClr val="c1d6c3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06800" y="4971653"/>
            <a:ext cx="317799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Suffissi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06800" y="5322094"/>
            <a:ext cx="3177996" cy="529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long, 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unsigned, 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LL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long long. Es.: </a:t>
            </a:r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1000000L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014095" y="4802584"/>
            <a:ext cx="3516125" cy="1463973"/>
          </a:xfrm>
          <a:prstGeom prst="roundRect">
            <a:avLst>
              <a:gd name="adj" fmla="val 520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0320" dir="2700000">
              <a:srgbClr val="c1d6c3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183159" y="4971653"/>
            <a:ext cx="3177996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Overflow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183159" y="5322094"/>
            <a:ext cx="3177996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Superare il massimo "ricomincia" dall'estremo opposto. Scegli sempre il tipo adatto!</a:t>
            </a:r>
            <a:endParaRPr lang="en-US" sz="12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Tipi reali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77177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tipi reali differiscono per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precisione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(numero di cifre significative affidabili) e per la dimensione in memoria. Il confronto su π con 20 decimali è molto illustrativo: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091928"/>
          <a:ext cx="10868745" cy="914400"/>
        </p:xfrm>
        <a:graphic>
          <a:graphicData uri="http://schemas.openxmlformats.org/drawingml/2006/table">
            <a:tbl>
              <a:tblPr/>
              <a:tblGrid>
                <a:gridCol w="2173729"/>
                <a:gridCol w="1630272"/>
                <a:gridCol w="1630272"/>
                <a:gridCol w="5434472"/>
              </a:tblGrid>
              <a:tr h="4757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Tipo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Byte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Cifre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π stampato con 20 decimali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6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3.14159274101257324219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8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15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3.14159265358979323846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long double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16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18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3.14159265358979323851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4213246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cifre in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97FF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blu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non sono affidabili — sono "rumore" di arrotondamento.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4663380"/>
            <a:ext cx="5367231" cy="155478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2017" y="4847729"/>
            <a:ext cx="490684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Notazione scientifica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922017" y="5205413"/>
            <a:ext cx="4906840" cy="541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1.496e8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150 000 000 (distanza Terra-Sole in km)  | 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9.1e-31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= massa dell'elettrone in kg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4663380"/>
            <a:ext cx="5367231" cy="155478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39037" y="4847729"/>
            <a:ext cx="4906840" cy="271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Non usare == tra reali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439037" y="5218113"/>
            <a:ext cx="4906840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Gli errori di arrotondamento possono rendere diversi due valori matematicamente uguali. Usa una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tolleranza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fabs(a - b) &lt; 1e-9</a:t>
            </a:r>
            <a:endParaRPr lang="en-US" sz="13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796"/>
            <a:ext cx="10868745" cy="489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Tipo </a:t>
            </a:r>
            <a:pPr algn="l"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pPr algn="l" indent="0" marL="0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e simulazione del booleano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308563"/>
            <a:ext cx="10868745" cy="47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 C, </a:t>
            </a:r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è semplicemente un </a:t>
            </a:r>
            <a:pPr algn="l" indent="0" marL="0">
              <a:lnSpc>
                <a:spcPct val="129000"/>
              </a:lnSpc>
              <a:buNone/>
            </a:pPr>
            <a:r>
              <a:rPr lang="en-US" sz="12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intero a 8 bit</a:t>
            </a:r>
            <a:pPr algn="l" indent="0" marL="0">
              <a:lnSpc>
                <a:spcPct val="129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 memorizza il codice ASCII del carattere. Questo permette di stamparlo come lettera o come numero, e persino di fare aritmetica su di esso.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2113167"/>
            <a:ext cx="5245763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char come intero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61475" y="2498626"/>
            <a:ext cx="5245763" cy="1793875"/>
          </a:xfrm>
          <a:prstGeom prst="roundRect">
            <a:avLst>
              <a:gd name="adj" fmla="val 425"/>
            </a:avLst>
          </a:prstGeom>
          <a:solidFill>
            <a:srgbClr val="F2EDED"/>
          </a:solidFill>
          <a:ln/>
        </p:spPr>
      </p:sp>
      <p:sp>
        <p:nvSpPr>
          <p:cNvPr id="6" name="Text 4"/>
          <p:cNvSpPr/>
          <p:nvPr/>
        </p:nvSpPr>
        <p:spPr>
          <a:xfrm>
            <a:off x="847009" y="2653209"/>
            <a:ext cx="4874694" cy="1484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lettera = 'A';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printf("%c", lettera); // → A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printf("%d", lettera); // → 65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Aritmetica ASCII: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 + 1  → 'B'  (codice 66)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'A' + 2  → 'C'  (codice 67)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90807" y="2113167"/>
            <a:ext cx="5245763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Sequenze di escape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0807" y="2498626"/>
          <a:ext cx="5245763" cy="914400"/>
        </p:xfrm>
        <a:graphic>
          <a:graphicData uri="http://schemas.openxmlformats.org/drawingml/2006/table">
            <a:tbl>
              <a:tblPr/>
              <a:tblGrid>
                <a:gridCol w="1573739"/>
                <a:gridCol w="3672024"/>
              </a:tblGrid>
              <a:tr h="4255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\n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4667" marR="154667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 capo (10)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4667" marR="154667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255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\t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4667" marR="154667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tabulazione (9)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4667" marR="154667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255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\\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4667" marR="154667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barra rovescia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4667" marR="154667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255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\'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4667" marR="154667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apice singolo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4667" marR="154667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2553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\0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54667" marR="154667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carattere null (0)</a:t>
                      </a:r>
                      <a:endParaRPr lang="en-US" sz="12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54667" marR="154667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1475" y="5037640"/>
            <a:ext cx="10868745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Simulazione del booleano con </a:t>
            </a:r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61475" y="5477272"/>
            <a:ext cx="10868745" cy="804069"/>
          </a:xfrm>
          <a:prstGeom prst="roundRect">
            <a:avLst>
              <a:gd name="adj" fmla="val 948"/>
            </a:avLst>
          </a:prstGeom>
          <a:solidFill>
            <a:srgbClr val="F2EDED"/>
          </a:solidFill>
          <a:ln/>
        </p:spPr>
      </p:sp>
      <p:sp>
        <p:nvSpPr>
          <p:cNvPr id="11" name="Text 8"/>
          <p:cNvSpPr/>
          <p:nvPr/>
        </p:nvSpPr>
        <p:spPr>
          <a:xfrm>
            <a:off x="847009" y="5631855"/>
            <a:ext cx="10497676" cy="494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maggiorenne = (eta &gt;= 18); // vale 0 o 1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valido = (eta &gt;= 0) &amp;&amp; (eta &lt;= 120); // vale 0 o 1</a:t>
            </a:r>
            <a:endParaRPr lang="en-US" sz="12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Costanti: </a:t>
            </a:r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#define</a:t>
            </a:r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vs </a:t>
            </a:r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376660"/>
            <a:ext cx="10868745" cy="859830"/>
          </a:xfrm>
          <a:prstGeom prst="roundRect">
            <a:avLst>
              <a:gd name="adj" fmla="val 886"/>
            </a:avLst>
          </a:prstGeom>
          <a:solidFill>
            <a:srgbClr val="F2EDED"/>
          </a:solidFill>
          <a:ln/>
        </p:spPr>
      </p:sp>
      <p:sp>
        <p:nvSpPr>
          <p:cNvPr id="4" name="Text 2"/>
          <p:cNvSpPr/>
          <p:nvPr/>
        </p:nvSpPr>
        <p:spPr>
          <a:xfrm>
            <a:off x="859907" y="1541959"/>
            <a:ext cx="104718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PI_GRECO 3.14159   // preprocessore: sostituzione testuale, senza tipo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double PI = 3.14159; // variabile tipizzata, protetta da modifiche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422525"/>
          <a:ext cx="10868745" cy="914400"/>
        </p:xfrm>
        <a:graphic>
          <a:graphicData uri="http://schemas.openxmlformats.org/drawingml/2006/table">
            <a:tbl>
              <a:tblPr/>
              <a:tblGrid>
                <a:gridCol w="4347518"/>
                <a:gridCol w="3260614"/>
                <a:gridCol w="3260614"/>
              </a:tblGrid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Caratteristica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#define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757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Tipo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nessuno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sì (double, int, …)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757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Visibile al debugger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sì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Uso in 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#if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sì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757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Errore di sintassi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 runtime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 compile-time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1475" y="5012730"/>
            <a:ext cx="5351725" cy="1242913"/>
          </a:xfrm>
          <a:prstGeom prst="roundRect">
            <a:avLst>
              <a:gd name="adj" fmla="val 613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33119" y="5184378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Convenzione nomi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3119" y="5542062"/>
            <a:ext cx="500843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nomi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#define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si scrivono in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MAIUSCOLO_CON_UNDERSCORE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distinguerli dalle variabili.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8495" y="5012730"/>
            <a:ext cx="5351725" cy="1242913"/>
          </a:xfrm>
          <a:prstGeom prst="roundRect">
            <a:avLst>
              <a:gd name="adj" fmla="val 613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50139" y="5184378"/>
            <a:ext cx="5008437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Quando usare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350139" y="5548412"/>
            <a:ext cx="5008437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Preferire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quando il tipo è importante per la correttezza dei calcoli e si vuole il supporto del debugger.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164"/>
            <a:ext cx="10868745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: specificatori di formato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272371"/>
            <a:ext cx="10868745" cy="458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Ogni specificatore indica a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come interpretare e stampare un valore. L'ordine degli argomenti deve corrispondere esattamente agli specificatori nella stringa di formato.</a:t>
            </a:r>
            <a:endParaRPr lang="en-US" sz="11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878112"/>
          <a:ext cx="10868745" cy="914400"/>
        </p:xfrm>
        <a:graphic>
          <a:graphicData uri="http://schemas.openxmlformats.org/drawingml/2006/table">
            <a:tbl>
              <a:tblPr/>
              <a:tblGrid>
                <a:gridCol w="1630272"/>
                <a:gridCol w="2717186"/>
                <a:gridCol w="6521287"/>
              </a:tblGrid>
              <a:tr h="39964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Spec.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Tipo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Esempio → Output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059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printf("%d", 42)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→ 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059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%u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unsigned int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printf("%u", 300u)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→ 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059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%ld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long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printf("%ld", 1L)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→ 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059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%f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(6 dec.)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printf("%f", 3.14)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→ 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3.140000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059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notaz. scientifica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printf("%e", 3.14)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→ 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3.140000e+00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059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%g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automatico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printf("%g", 3.14)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→ 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059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%c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printf("%c", 'A')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→ 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059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%%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simbolo %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printf("100%%")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→ </a:t>
                      </a:r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100%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1475" y="5689203"/>
            <a:ext cx="10868745" cy="561479"/>
          </a:xfrm>
          <a:prstGeom prst="roundRect">
            <a:avLst>
              <a:gd name="adj" fmla="val 1357"/>
            </a:avLst>
          </a:prstGeom>
          <a:solidFill>
            <a:srgbClr val="DBF0D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299" y="5882481"/>
            <a:ext cx="186031" cy="1488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5154" y="5864115"/>
            <a:ext cx="10845826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sequenze di escape più usate: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(a capo),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\t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(tab),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\\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(barra rovescia),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\"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(virgolette doppie).</a:t>
            </a:r>
            <a:endParaRPr lang="en-US" sz="11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164"/>
            <a:ext cx="10868745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: formattazione avanzata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272371"/>
            <a:ext cx="11478330" cy="232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Sintassi completa: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%[flag][larghezza][.precisione]tipo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651893"/>
          <a:ext cx="10868745" cy="914400"/>
        </p:xfrm>
        <a:graphic>
          <a:graphicData uri="http://schemas.openxmlformats.org/drawingml/2006/table">
            <a:tbl>
              <a:tblPr/>
              <a:tblGrid>
                <a:gridCol w="1956386"/>
                <a:gridCol w="1630272"/>
                <a:gridCol w="2173729"/>
                <a:gridCol w="5108358"/>
              </a:tblGrid>
              <a:tr h="39964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Formato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Valore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Output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Spiegazione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059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%5d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42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padding a sinistra (5 caratteri totali)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059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%-5d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42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allineato a sinistra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059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%05d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42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00042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zeri iniziali al posto degli spazi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059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%.2f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3.14159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3.14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solo 2 cifre decimali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0599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%10.3f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3.14159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3.142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larghezza 10, 3 decimali</a:t>
                      </a:r>
                      <a:endParaRPr lang="en-US" sz="115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4248735"/>
            <a:ext cx="114783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Esempio di tabella prodotti allineata con formattazione avanzata: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61475" y="4621907"/>
            <a:ext cx="10868745" cy="1488281"/>
          </a:xfrm>
          <a:prstGeom prst="roundRect">
            <a:avLst>
              <a:gd name="adj" fmla="val 512"/>
            </a:avLst>
          </a:prstGeom>
          <a:solidFill>
            <a:srgbClr val="F2EDED"/>
          </a:solidFill>
          <a:ln/>
        </p:spPr>
      </p:sp>
      <p:sp>
        <p:nvSpPr>
          <p:cNvPr id="7" name="Text 4"/>
          <p:cNvSpPr/>
          <p:nvPr/>
        </p:nvSpPr>
        <p:spPr>
          <a:xfrm>
            <a:off x="840064" y="4770735"/>
            <a:ext cx="10511567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printf("%-4d %-15s %8.2f %6d\n", 1, "Penna", 0.50, 200);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printf("%-4d %-15s %8.2f %6d\n", 2, "Quaderno", 2.90, 85);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Penna 0.50 200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 Quaderno 2.90 85</a:t>
            </a:r>
            <a:endParaRPr lang="en-US" sz="11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3955"/>
            <a:ext cx="10868745" cy="326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scanf</a:t>
            </a:r>
            <a:pPr algn="l"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: lettura da tastiera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61475" y="990748"/>
            <a:ext cx="11478330" cy="132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scanf</a:t>
            </a:r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legge dal buffer di input (</a:t>
            </a:r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stdin</a:t>
            </a:r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 e salva i valori nelle variabili. L'operatore </a:t>
            </a:r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("indirizzo di") è obbligatorio: dice a </a:t>
            </a:r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scanf</a:t>
            </a:r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08000"/>
              </a:lnSpc>
              <a:buNone/>
            </a:pPr>
            <a:r>
              <a:rPr lang="en-US" sz="800" i="1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dove</a:t>
            </a:r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 memoria salvare il valore letto.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8067" y="1161355"/>
            <a:ext cx="4815462" cy="3632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59394" y="2803486"/>
            <a:ext cx="868942" cy="596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Flusso di input scanf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959274" y="3787472"/>
            <a:ext cx="1292705" cy="198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Buffer stdin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959274" y="4042686"/>
            <a:ext cx="1292705" cy="386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 caratteri attendono nel buffer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928576" y="3752479"/>
            <a:ext cx="1292705" cy="397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Variabile in memoria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928576" y="4206389"/>
            <a:ext cx="1292705" cy="257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scanf scrive all'indirizzo (&amp;eta)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26263" y="1502801"/>
            <a:ext cx="1328028" cy="198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Tastiera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26263" y="1758015"/>
            <a:ext cx="1328028" cy="2574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84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L'utente digita il valore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7757" y="4839494"/>
            <a:ext cx="5456895" cy="1560711"/>
          </a:xfrm>
          <a:prstGeom prst="roundRect">
            <a:avLst>
              <a:gd name="adj" fmla="val 488"/>
            </a:avLst>
          </a:prstGeom>
          <a:solidFill>
            <a:srgbClr val="4CB655"/>
          </a:solidFill>
          <a:ln/>
        </p:spPr>
      </p:sp>
      <p:sp>
        <p:nvSpPr>
          <p:cNvPr id="13" name="Text 10"/>
          <p:cNvSpPr/>
          <p:nvPr/>
        </p:nvSpPr>
        <p:spPr>
          <a:xfrm>
            <a:off x="690148" y="4913668"/>
            <a:ext cx="5252112" cy="166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Uso corretto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90148" y="5140623"/>
            <a:ext cx="5252112" cy="1188244"/>
          </a:xfrm>
          <a:prstGeom prst="roundRect">
            <a:avLst>
              <a:gd name="adj" fmla="val 641"/>
            </a:avLst>
          </a:prstGeom>
          <a:solidFill>
            <a:srgbClr val="3FA948"/>
          </a:solidFill>
          <a:ln/>
        </p:spPr>
      </p:sp>
      <p:sp>
        <p:nvSpPr>
          <p:cNvPr id="15" name="Text 12"/>
          <p:cNvSpPr/>
          <p:nvPr/>
        </p:nvSpPr>
        <p:spPr>
          <a:xfrm>
            <a:off x="813077" y="5243016"/>
            <a:ext cx="5006254" cy="983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eta;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scanf("%d", &amp;eta);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peso;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scanf("%lf", &amp;peso);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 sesso;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 %c", &amp;sesso);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227111" y="4913668"/>
            <a:ext cx="5309459" cy="166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Errori comuni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27111" y="5140623"/>
            <a:ext cx="5309459" cy="696516"/>
          </a:xfrm>
          <a:prstGeom prst="roundRect">
            <a:avLst>
              <a:gd name="adj" fmla="val 1094"/>
            </a:avLst>
          </a:prstGeom>
          <a:solidFill>
            <a:srgbClr val="F2EDED"/>
          </a:solidFill>
          <a:ln/>
        </p:spPr>
      </p:sp>
      <p:sp>
        <p:nvSpPr>
          <p:cNvPr id="18" name="Text 15"/>
          <p:cNvSpPr/>
          <p:nvPr/>
        </p:nvSpPr>
        <p:spPr>
          <a:xfrm>
            <a:off x="6350040" y="5243016"/>
            <a:ext cx="5063601" cy="491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scanf("%d", eta);   // manca &amp;!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scanf("%f", &amp;peso); // %f per double!</a:t>
            </a:r>
            <a:endParaRPr lang="en-US" sz="8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8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scanf("%c", &amp;sesso);// legge \n residuo!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227111" y="5916562"/>
            <a:ext cx="5919044" cy="132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 spazio prima di </a:t>
            </a:r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%c</a:t>
            </a:r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salta il </a:t>
            </a:r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pPr algn="l" indent="0" marL="0">
              <a:lnSpc>
                <a:spcPct val="108000"/>
              </a:lnSpc>
              <a:buNone/>
            </a:pPr>
            <a:r>
              <a:rPr lang="en-US" sz="8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lasciato nel buffer dall'invio precedente.</a:t>
            </a:r>
            <a:endParaRPr lang="en-US" sz="8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Operatori aritmetici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77177"/>
            <a:ext cx="1086874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L'operazione più insidiosa è la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divisione intera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 quando entrambi gli operandi sono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il risultato è troncato. Basta un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ottenere la divisione reale.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098278"/>
          <a:ext cx="10868745" cy="914400"/>
        </p:xfrm>
        <a:graphic>
          <a:graphicData uri="http://schemas.openxmlformats.org/drawingml/2006/table">
            <a:tbl>
              <a:tblPr/>
              <a:tblGrid>
                <a:gridCol w="2173729"/>
                <a:gridCol w="2173729"/>
                <a:gridCol w="1630272"/>
                <a:gridCol w="4891015"/>
              </a:tblGrid>
              <a:tr h="4757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Operandi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Operazione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Risultato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Spiegazione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884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 / 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int / int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parte decimale persa!</a:t>
                      </a:r>
                      <a:endParaRPr lang="en-US" sz="1300" dirty="0">
                        <a:latin typeface="Noto Color Emoji" charset="0"/>
                        <a:ea typeface="Noto Color Emoji" charset="0"/>
                        <a:cs typeface="Noto Color Emoji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17.0 / 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double / int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 double basta per il risultato reale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(double)17 / 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cast + div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cast esplicito: preferibile con variabili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4305383"/>
            <a:ext cx="10868745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Operatore modulo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(solo interi)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61475" y="4800302"/>
            <a:ext cx="3512653" cy="965597"/>
          </a:xfrm>
          <a:prstGeom prst="roundRect">
            <a:avLst>
              <a:gd name="adj" fmla="val 789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33119" y="4971951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17 % 5 = 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3119" y="5329634"/>
            <a:ext cx="31693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 = 5×3 + 2 → resto della divisione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9422" y="4800302"/>
            <a:ext cx="3512752" cy="965597"/>
          </a:xfrm>
          <a:prstGeom prst="roundRect">
            <a:avLst>
              <a:gd name="adj" fmla="val 789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11066" y="4971951"/>
            <a:ext cx="31694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10 % 2 = 0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11066" y="5329634"/>
            <a:ext cx="31694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Resto zero → numero pari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17468" y="4800302"/>
            <a:ext cx="3512653" cy="965597"/>
          </a:xfrm>
          <a:prstGeom prst="roundRect">
            <a:avLst>
              <a:gd name="adj" fmla="val 789"/>
            </a:avLst>
          </a:prstGeom>
          <a:solidFill>
            <a:srgbClr val="DBF0DD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1590" dir="2700000">
              <a:srgbClr val="c1d6c3">
                <a:alpha val="10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189112" y="4971951"/>
            <a:ext cx="31693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17 % 10 = 7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189112" y="5329634"/>
            <a:ext cx="31693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Estrae l'ultima cifra decimale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61475" y="5952451"/>
            <a:ext cx="11478330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Precedenza: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vengono valutati prima di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Le parentesi forzano l'ordine desiderato.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Operatori relazionali e logici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77177"/>
            <a:ext cx="1086874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 C non esiste un tipo booleano nativo: gli operatori relazionali e logici producono sempre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(falso) o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(vero)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un normale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salvabile in una variabile.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098278"/>
            <a:ext cx="10868745" cy="1389063"/>
          </a:xfrm>
          <a:prstGeom prst="roundRect">
            <a:avLst>
              <a:gd name="adj" fmla="val 549"/>
            </a:avLst>
          </a:prstGeom>
          <a:solidFill>
            <a:srgbClr val="F2EDED"/>
          </a:solidFill>
          <a:ln/>
        </p:spPr>
      </p:sp>
      <p:sp>
        <p:nvSpPr>
          <p:cNvPr id="5" name="Text 3"/>
          <p:cNvSpPr/>
          <p:nvPr/>
        </p:nvSpPr>
        <p:spPr>
          <a:xfrm>
            <a:off x="859907" y="2263577"/>
            <a:ext cx="1047188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maggiorenne = (eta &gt;= 18);               // 0 o 1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in_range    = (eta &gt;= 18) &amp;&amp; (eta &lt;= 65);// 0 o 1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fuori_range = (eta &lt; 0) || (eta &gt; 120); // 0 o 1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non_valido  = !in_range;                 // 0 o 1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3673376"/>
            <a:ext cx="5367231" cy="15484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2017" y="3857724"/>
            <a:ext cx="4906840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Corto circuito con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22017" y="4221758"/>
            <a:ext cx="4906840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 il primo operando è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(falso), il secondo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non viene valutato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Utile per evitare divisioni per zero o accessi a puntatori nulli.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3673376"/>
            <a:ext cx="5367231" cy="154843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39037" y="3857724"/>
            <a:ext cx="4906840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Corto circuito con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||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39037" y="4221758"/>
            <a:ext cx="4906840" cy="8001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 il primo operando è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(vero), il secondo 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non viene valutato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Il risultato è già determinato dal primo operando.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61475" y="5392341"/>
            <a:ext cx="10868745" cy="932259"/>
          </a:xfrm>
          <a:prstGeom prst="roundRect">
            <a:avLst>
              <a:gd name="adj" fmla="val 817"/>
            </a:avLst>
          </a:prstGeom>
          <a:solidFill>
            <a:srgbClr val="DBF0D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769" y="5632053"/>
            <a:ext cx="206667" cy="16529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98731" y="5599431"/>
            <a:ext cx="10166195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Non servono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if/else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calcolare un valore booleano: l'espressione relazionale è già un valore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/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direttamente assegnabile.</a:t>
            </a:r>
            <a:endParaRPr lang="en-US" sz="13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Operatori di assegnazione e incremento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77252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Operatori composti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903809"/>
          <a:ext cx="5232666" cy="914400"/>
        </p:xfrm>
        <a:graphic>
          <a:graphicData uri="http://schemas.openxmlformats.org/drawingml/2006/table">
            <a:tbl>
              <a:tblPr/>
              <a:tblGrid>
                <a:gridCol w="2093027"/>
                <a:gridCol w="3139639"/>
              </a:tblGrid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+= 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equivale a 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x + 3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-= 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equivale a 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x - 3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*= 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equivale a 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x * 2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/= 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equivale a 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x / 4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%= 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equivale a </a:t>
                      </a:r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 = x % 4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184844" y="1294011"/>
            <a:ext cx="5470785" cy="3219053"/>
          </a:xfrm>
          <a:prstGeom prst="roundRect">
            <a:avLst>
              <a:gd name="adj" fmla="val 237"/>
            </a:avLst>
          </a:prstGeom>
          <a:solidFill>
            <a:srgbClr val="4CB655"/>
          </a:solidFill>
          <a:ln/>
        </p:spPr>
      </p:sp>
      <p:sp>
        <p:nvSpPr>
          <p:cNvPr id="6" name="Text 3"/>
          <p:cNvSpPr/>
          <p:nvPr/>
        </p:nvSpPr>
        <p:spPr>
          <a:xfrm>
            <a:off x="6350139" y="1477252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Prefisso vs Postfisso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350139" y="1903809"/>
            <a:ext cx="5140196" cy="2182912"/>
          </a:xfrm>
          <a:prstGeom prst="roundRect">
            <a:avLst>
              <a:gd name="adj" fmla="val 349"/>
            </a:avLst>
          </a:prstGeom>
          <a:solidFill>
            <a:srgbClr val="3FA948"/>
          </a:solidFill>
          <a:ln/>
        </p:spPr>
      </p:sp>
      <p:sp>
        <p:nvSpPr>
          <p:cNvPr id="8" name="Text 5"/>
          <p:cNvSpPr/>
          <p:nvPr/>
        </p:nvSpPr>
        <p:spPr>
          <a:xfrm>
            <a:off x="6548571" y="2069108"/>
            <a:ext cx="4743331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5; b = ++a;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a=6, b=6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prima incrementa, poi assegna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5; b = a++;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a=6, b=5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prima assegna, poi incrementa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1475" y="4779053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Uso tipico come accumulatore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61475" y="5267623"/>
            <a:ext cx="10868745" cy="859830"/>
          </a:xfrm>
          <a:prstGeom prst="roundRect">
            <a:avLst>
              <a:gd name="adj" fmla="val 886"/>
            </a:avLst>
          </a:prstGeom>
          <a:solidFill>
            <a:srgbClr val="F2EDED"/>
          </a:solidFill>
          <a:ln/>
        </p:spPr>
      </p:sp>
      <p:sp>
        <p:nvSpPr>
          <p:cNvPr id="11" name="Text 8"/>
          <p:cNvSpPr/>
          <p:nvPr/>
        </p:nvSpPr>
        <p:spPr>
          <a:xfrm>
            <a:off x="859907" y="5432921"/>
            <a:ext cx="104718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somma += valore; // invece di somma = somma + valore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totale *= 1.22; // applica IVA al 22% in un solo passaggio</a:t>
            </a:r>
            <a:endParaRPr lang="en-US" sz="13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9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Operatore ternario e operatori bit a bit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477252"/>
            <a:ext cx="5232666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Operatore ternario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1889940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È un'</a:t>
            </a:r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espressione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(non un'istruzione) che restituisce un valore in base alla condizione: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604691"/>
            <a:ext cx="5232666" cy="1653679"/>
          </a:xfrm>
          <a:prstGeom prst="roundRect">
            <a:avLst>
              <a:gd name="adj" fmla="val 461"/>
            </a:avLst>
          </a:prstGeom>
          <a:solidFill>
            <a:srgbClr val="F2EDED"/>
          </a:solidFill>
          <a:ln/>
        </p:spPr>
      </p:sp>
      <p:sp>
        <p:nvSpPr>
          <p:cNvPr id="6" name="Text 4"/>
          <p:cNvSpPr/>
          <p:nvPr/>
        </p:nvSpPr>
        <p:spPr>
          <a:xfrm>
            <a:off x="859907" y="2769989"/>
            <a:ext cx="4835801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condizione ? valore_se_vero : valore_se_falso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prezzo =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(fascia == 1) ? 0.28 :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032F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(fascia == 2) ? 0.22 : 0.18;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1477252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Operatori bit a bit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03904" y="1883590"/>
            <a:ext cx="5842251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a=60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0011 1100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 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b=15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0000 1111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):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3904" y="2340074"/>
          <a:ext cx="5232666" cy="914400"/>
        </p:xfrm>
        <a:graphic>
          <a:graphicData uri="http://schemas.openxmlformats.org/drawingml/2006/table">
            <a:tbl>
              <a:tblPr/>
              <a:tblGrid>
                <a:gridCol w="2354705"/>
                <a:gridCol w="1308191"/>
                <a:gridCol w="1569770"/>
              </a:tblGrid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&amp; b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12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AND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| b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63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OR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^ b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51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XOR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&lt;&lt; 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120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×2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4820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&gt;&gt; 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 30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÷2</a:t>
                      </a:r>
                      <a:endParaRPr lang="en-US" sz="13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962"/>
            <a:ext cx="10868745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Errori comuni da evitare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358404"/>
            <a:ext cx="3531289" cy="21806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9437" y="1540173"/>
            <a:ext cx="3076300" cy="50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1. Divisione intera involontaria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19437" y="2229048"/>
            <a:ext cx="3076300" cy="1106785"/>
          </a:xfrm>
          <a:prstGeom prst="roundRect">
            <a:avLst>
              <a:gd name="adj" fmla="val 688"/>
            </a:avLst>
          </a:prstGeom>
          <a:solidFill>
            <a:srgbClr val="F2EDED"/>
          </a:solidFill>
          <a:ln/>
        </p:spPr>
      </p:sp>
      <p:sp>
        <p:nvSpPr>
          <p:cNvPr id="6" name="Text 3"/>
          <p:cNvSpPr/>
          <p:nvPr/>
        </p:nvSpPr>
        <p:spPr>
          <a:xfrm>
            <a:off x="1114794" y="2391767"/>
            <a:ext cx="2685586" cy="781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r = 7 / 2;         // r = 3.0, NON 3.5!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r = (double)7 / 2; // corretto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7735" y="1358404"/>
            <a:ext cx="3531388" cy="21806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95698" y="1540173"/>
            <a:ext cx="307639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2. Confondere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con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595698" y="1974751"/>
            <a:ext cx="3076399" cy="1367234"/>
          </a:xfrm>
          <a:prstGeom prst="roundRect">
            <a:avLst>
              <a:gd name="adj" fmla="val 557"/>
            </a:avLst>
          </a:prstGeom>
          <a:solidFill>
            <a:srgbClr val="F2EDED"/>
          </a:solidFill>
          <a:ln/>
        </p:spPr>
      </p:sp>
      <p:sp>
        <p:nvSpPr>
          <p:cNvPr id="10" name="Text 6"/>
          <p:cNvSpPr/>
          <p:nvPr/>
        </p:nvSpPr>
        <p:spPr>
          <a:xfrm>
            <a:off x="4791054" y="2137470"/>
            <a:ext cx="2685685" cy="104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(eta = 18) { ... }  // assegna 18, sempre vero!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(eta == 18) { ... } // corretto: confronta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4095" y="1358404"/>
            <a:ext cx="3531388" cy="218061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72057" y="1540173"/>
            <a:ext cx="3076399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3. Manca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in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scanf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8272057" y="1974751"/>
            <a:ext cx="3076399" cy="1106785"/>
          </a:xfrm>
          <a:prstGeom prst="roundRect">
            <a:avLst>
              <a:gd name="adj" fmla="val 688"/>
            </a:avLst>
          </a:prstGeom>
          <a:solidFill>
            <a:srgbClr val="F2EDED"/>
          </a:solidFill>
          <a:ln/>
        </p:spPr>
      </p:sp>
      <p:sp>
        <p:nvSpPr>
          <p:cNvPr id="14" name="Text 9"/>
          <p:cNvSpPr/>
          <p:nvPr/>
        </p:nvSpPr>
        <p:spPr>
          <a:xfrm>
            <a:off x="8467414" y="2137470"/>
            <a:ext cx="2685685" cy="781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scanf("%d", eta);   // comportamento indefinito!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scanf("%d", &amp;eta);  // corretto</a:t>
            </a:r>
            <a:endParaRPr lang="en-US" sz="12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683992"/>
            <a:ext cx="3531289" cy="243491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19437" y="3865761"/>
            <a:ext cx="3076300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4.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%f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per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 in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scanf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919437" y="4300339"/>
            <a:ext cx="3076300" cy="1106785"/>
          </a:xfrm>
          <a:prstGeom prst="roundRect">
            <a:avLst>
              <a:gd name="adj" fmla="val 688"/>
            </a:avLst>
          </a:prstGeom>
          <a:solidFill>
            <a:srgbClr val="F2EDED"/>
          </a:solidFill>
          <a:ln/>
        </p:spPr>
      </p:sp>
      <p:sp>
        <p:nvSpPr>
          <p:cNvPr id="18" name="Text 12"/>
          <p:cNvSpPr/>
          <p:nvPr/>
        </p:nvSpPr>
        <p:spPr>
          <a:xfrm>
            <a:off x="1114794" y="4463058"/>
            <a:ext cx="2685586" cy="781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scanf("%f", &amp;peso);  // sbagliato: peso è double!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E362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scanf("%lf", &amp;peso); // corretto</a:t>
            </a:r>
            <a:endParaRPr lang="en-US" sz="125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37735" y="3683992"/>
            <a:ext cx="3531388" cy="243491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595698" y="3865761"/>
            <a:ext cx="3076399" cy="50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5. Confronto tra reali con </a:t>
            </a:r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4595698" y="4554637"/>
            <a:ext cx="3076399" cy="1367234"/>
          </a:xfrm>
          <a:prstGeom prst="roundRect">
            <a:avLst>
              <a:gd name="adj" fmla="val 557"/>
            </a:avLst>
          </a:prstGeom>
          <a:solidFill>
            <a:srgbClr val="F2EDED"/>
          </a:solidFill>
          <a:ln/>
        </p:spPr>
      </p:sp>
      <p:sp>
        <p:nvSpPr>
          <p:cNvPr id="22" name="Text 15"/>
          <p:cNvSpPr/>
          <p:nvPr/>
        </p:nvSpPr>
        <p:spPr>
          <a:xfrm>
            <a:off x="4791054" y="4717355"/>
            <a:ext cx="2685685" cy="1041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(x == 0.3) { ... } // può non entrare mai!</a:t>
            </a:r>
            <a:endParaRPr lang="en-US" sz="12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(fabs(x-0.3) &lt; 1e-9) {} // corretto: tolleranza</a:t>
            </a:r>
            <a:endParaRPr lang="en-US" sz="12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9100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Riepilogo concetti</a:t>
            </a:r>
            <a:endParaRPr lang="en-US" sz="27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207393"/>
          <a:ext cx="10868745" cy="914400"/>
        </p:xfrm>
        <a:graphic>
          <a:graphicData uri="http://schemas.openxmlformats.org/drawingml/2006/table">
            <a:tbl>
              <a:tblPr/>
              <a:tblGrid>
                <a:gridCol w="1956368"/>
                <a:gridCol w="3804066"/>
                <a:gridCol w="5108311"/>
              </a:tblGrid>
              <a:tr h="364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Argomento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Concetto chiave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Da ricordare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703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Hello world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Struttura minima: include, main, return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 solo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main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per programma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703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Tipi interi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short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,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,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long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,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unsigned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Scegliere il tipo giusto per l'intervallo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703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Tipi reali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float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,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,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long double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Non usare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==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per confrontare reali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703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Intero a 8 bit, codice ASCII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%c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carattere,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%d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codice numerico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703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Costanti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#define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(testo) vs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const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(tipizzato)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MAIUSCOLO per i nomi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#define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703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printf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Specificatori + larghezza/precisione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%lf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in scanf,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%f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o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%lf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in printf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703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scanf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&amp;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obbligatorio, spazio prima di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%c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%lf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per double, non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703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Aritmetici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tra int tronca;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solo per interi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Cast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(double)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per divisione reale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703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Relaz./logici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Risultato sempre 0 o 1 (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)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&amp;&amp;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e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||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con corto circuito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703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Assegnazione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+=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-=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*=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/=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%=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;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++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/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--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Prefisso incrementa prima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3703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Ternario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condizione ? vero : falso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Espressione, non istruzione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5F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3703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Bit a bit</a:t>
                      </a:r>
                      <a:endParaRPr lang="en-US" sz="11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&amp;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|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^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&lt;&lt;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&lt;&lt;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×2; 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&gt;&gt;</a:t>
                      </a:r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 ÷2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AF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233"/>
            <a:ext cx="2249134" cy="251420"/>
          </a:xfrm>
          <a:prstGeom prst="roundRect">
            <a:avLst>
              <a:gd name="adj" fmla="val 3031"/>
            </a:avLst>
          </a:prstGeom>
          <a:solidFill>
            <a:srgbClr val="DBF0DD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582140"/>
            <a:ext cx="266028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CAPITOLO 01 – HELLO WORLD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794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Hello World (concetti base)</a:t>
            </a:r>
            <a:endParaRPr lang="en-US" sz="3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11511"/>
            <a:ext cx="3528158" cy="34731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93781" y="172035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845819" y="2291953"/>
            <a:ext cx="3143965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010-hello-world.c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5819" y="2655987"/>
            <a:ext cx="3143965" cy="222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Obiettivo: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scrivere il programma più semplice possibile e verificare che l'ambiente di sviluppo funzioni correttamente.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struttura minima con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&lt;stdio.h&gt;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main(void)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una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 0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Nessuna variabile dichiarata.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1611511"/>
            <a:ext cx="3528257" cy="34731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71728" y="172035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4523766" y="2291953"/>
            <a:ext cx="31440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020-struttura-programma.c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23766" y="2655987"/>
            <a:ext cx="3144064" cy="197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Obiettivo: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mostrare tutte le parti di un programma C con etichette e commenti esplicativi su ogni sezione.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direttive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#define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dichiarazione di variabili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%.2f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commenti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/* */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su ogni sezione.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1611511"/>
            <a:ext cx="3528158" cy="34731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49774" y="172035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8201812" y="2291953"/>
            <a:ext cx="3143965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030-commenti.c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201812" y="2655987"/>
            <a:ext cx="3143965" cy="1964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Obiettivo: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illustrare le due sintassi di commento e le buone pratiche di documentazione del codice.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commento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/* */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multi-riga; commento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 singola riga; esempio di commento utile (spiega il perché) vs inutile (ripete il cosa).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233"/>
            <a:ext cx="2249134" cy="251420"/>
          </a:xfrm>
          <a:prstGeom prst="roundRect">
            <a:avLst>
              <a:gd name="adj" fmla="val 3031"/>
            </a:avLst>
          </a:prstGeom>
          <a:solidFill>
            <a:srgbClr val="DBF0DD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582140"/>
            <a:ext cx="266028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CAPITOLO 01 – HELLO WORLD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794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Hello World (problemi)</a:t>
            </a:r>
            <a:endParaRPr lang="en-US" sz="3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11511"/>
            <a:ext cx="3528158" cy="37504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93781" y="172035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845819" y="2291953"/>
            <a:ext cx="3143965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040-saluto-personalizzato.c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5819" y="2655987"/>
            <a:ext cx="3143965" cy="2506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chiedere giorno, mese, anno di nascita e anno corrente; calcolare l'età e stampare un saluto con riepilogo formattato.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quattro variabili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scanf("%d", &amp;var)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ogni dato;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eta = anno_corrente - anno_nascita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formattazione data con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%02d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Nessun array, nessuna stringa.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1611511"/>
            <a:ext cx="3528257" cy="37504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71728" y="172035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4523766" y="2291953"/>
            <a:ext cx="31440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050-biglietto-da-visita.c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23766" y="2655987"/>
            <a:ext cx="3144064" cy="197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chiedere dati numerici e stamparli dentro un biglietto da visita con bordo ASCII.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testo fisso nelle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%03d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il prefisso;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%06d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il codice; costante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LARGHEZZA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la dimensione del bordo.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1611511"/>
            <a:ext cx="3528158" cy="37504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49774" y="172035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8201812" y="2291953"/>
            <a:ext cx="3143965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060-intestazione-documento.c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201812" y="2655987"/>
            <a:ext cx="3143965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chiedere anno scolastico, classe, sezione, numero documento e data; produrre un'intestazione scolastica formattata.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anno_fine = anno_inizio + 1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(calcolato, non inserito);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%03d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il numero documento;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%02d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giorno e mese; sezione come intero.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233"/>
            <a:ext cx="2166784" cy="226219"/>
          </a:xfrm>
          <a:prstGeom prst="roundRect">
            <a:avLst>
              <a:gd name="adj" fmla="val 3368"/>
            </a:avLst>
          </a:prstGeom>
          <a:solidFill>
            <a:srgbClr val="DBF0DD"/>
          </a:solidFill>
          <a:ln/>
        </p:spPr>
      </p:sp>
      <p:sp>
        <p:nvSpPr>
          <p:cNvPr id="3" name="Text 1"/>
          <p:cNvSpPr/>
          <p:nvPr/>
        </p:nvSpPr>
        <p:spPr>
          <a:xfrm>
            <a:off x="750769" y="577885"/>
            <a:ext cx="2597780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CAPITOLO 02 – VARIABILI E TIPI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41961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Variabili e Tipi (concetti base)</a:t>
            </a:r>
            <a:endParaRPr lang="en-US" sz="2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475085"/>
            <a:ext cx="5381357" cy="23246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33557" y="1574602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29349" y="2074565"/>
            <a:ext cx="503165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010-tipi-interi.c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9349" y="2387402"/>
            <a:ext cx="5031654" cy="997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Obiettivo:</a:t>
            </a:r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mostrare dimensioni, limiti e valori delle principali variabili intere.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sizeof(tipo)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%zu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costanti di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&lt;limits.h&gt;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INT_MAX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SHRT_MIN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…); suffissi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LL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overflow mostrato nei commenti.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2818" y="1475085"/>
            <a:ext cx="5381357" cy="23246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34901" y="1574602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330692" y="2074565"/>
            <a:ext cx="503165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020-tipi-reali.c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330692" y="2387402"/>
            <a:ext cx="5031654" cy="1230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Obiettivo:</a:t>
            </a:r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confrontare la precisione di </a:t>
            </a:r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 </a:t>
            </a:r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long double</a:t>
            </a:r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su un caso concreto.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FLT_DIG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DBL_DIG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da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&lt;float.h&gt;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stampa con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%.20f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notazione scientifica con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1.496e8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dimostrazione del pericolo di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tra reali.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19736"/>
            <a:ext cx="5381357" cy="23373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33557" y="4019252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829349" y="4519216"/>
            <a:ext cx="503165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030-caratteri-e-booleani.c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829349" y="4832052"/>
            <a:ext cx="5031654" cy="1243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Obiettivo:</a:t>
            </a:r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mostrare che </a:t>
            </a:r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è un intero e come si simula il booleano senza </a:t>
            </a:r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&lt;stdbool.h&gt;</a:t>
            </a:r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stampa con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%c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%d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sullo stesso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aritmetica ASCII; sequenze di escape; espressione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(eta &gt;= 18)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assegnata a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maggiorenne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1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62818" y="3919736"/>
            <a:ext cx="5381357" cy="23373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34901" y="4019252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4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6330692" y="4519216"/>
            <a:ext cx="503165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040-costanti.c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330692" y="4832052"/>
            <a:ext cx="5031654" cy="1004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Obiettivo:</a:t>
            </a:r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confrontare </a:t>
            </a:r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#define</a:t>
            </a:r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 </a:t>
            </a:r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 esempi pratici.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costanti matematiche (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PI_GRECO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GRAVITA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 e applicative (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ETA_MINIMA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IVA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); tentativo di modifica mostrato come errore di compilazione.</a:t>
            </a:r>
            <a:endParaRPr lang="en-US" sz="11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233"/>
            <a:ext cx="2406987" cy="251420"/>
          </a:xfrm>
          <a:prstGeom prst="roundRect">
            <a:avLst>
              <a:gd name="adj" fmla="val 3031"/>
            </a:avLst>
          </a:prstGeom>
          <a:solidFill>
            <a:srgbClr val="DBF0DD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582140"/>
            <a:ext cx="281813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CAPITOLO 02 – VARIABILI E TIPI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794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Variabili e Tipi (problemi)</a:t>
            </a:r>
            <a:endParaRPr lang="en-US" sz="3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11511"/>
            <a:ext cx="3528158" cy="34860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93781" y="172035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845819" y="2291953"/>
            <a:ext cx="3143965" cy="529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050-conversione-temperature.c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5819" y="2920802"/>
            <a:ext cx="3143965" cy="1976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leggere una temperatura in Celsius e stamparla convertita in Fahrenheit e Kelvin.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FATTORE_F (9.0/5.0)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OFFSET_K 273.15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divisione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9.0/5.0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reale (non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9/5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intera!);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%lf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%.2f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1611511"/>
            <a:ext cx="3528257" cy="348607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71728" y="172035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4523766" y="2291953"/>
            <a:ext cx="31440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060-calcolo-area.c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23766" y="2655987"/>
            <a:ext cx="3144064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scegliere una figura (1=quadrato, 2=rettangolo, 3=cerchio) e calcolarne area e perimetro.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if/else if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la selezione; costante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PI_GRECO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#define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scanf("%lf", &amp;raggio)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 1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scelta non valida.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1611511"/>
            <a:ext cx="3528158" cy="348607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49774" y="172035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8201812" y="2291953"/>
            <a:ext cx="3143965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070-scheda-prodotto.c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201812" y="2655987"/>
            <a:ext cx="3143965" cy="224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inserire codice, prezzo, quantità e sconto; calcolare prezzo scontato e valore totale di magazzino.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tipi misti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fattore_sconto = sconto / 100.0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cast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(double)quantita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prima della moltiplicazione;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%06d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il codice.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233"/>
            <a:ext cx="2396867" cy="251420"/>
          </a:xfrm>
          <a:prstGeom prst="roundRect">
            <a:avLst>
              <a:gd name="adj" fmla="val 3031"/>
            </a:avLst>
          </a:prstGeom>
          <a:solidFill>
            <a:srgbClr val="DBF0DD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582140"/>
            <a:ext cx="280801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CAPITOLO 03 – INPUT E 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794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Input/Output (concetti base)</a:t>
            </a:r>
            <a:endParaRPr lang="en-US" sz="3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11511"/>
            <a:ext cx="3528158" cy="3485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93781" y="172035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845819" y="2291953"/>
            <a:ext cx="3143965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010-printf-basi.c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5819" y="2655987"/>
            <a:ext cx="3143965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Obiettivo: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mostrare sistematicamente tutti i principali specificatori di formato con esempi concreti.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%u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%ld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%c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%%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sequenze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\t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\\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\"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più valori nella stessa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 ordine degli argomenti corrispondente.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1611511"/>
            <a:ext cx="3528257" cy="3485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71728" y="172035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4523766" y="2291953"/>
            <a:ext cx="31440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020-scanf-basi.c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23766" y="2655987"/>
            <a:ext cx="3144064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Obiettivo: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leggere variabili di tipo diverso dalla tastiera e riepilogarle a schermo.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come "indirizzo dove salvare";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%lf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obbligatorio per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spazio prima di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 %c"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saltare il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\n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residuo; errori comuni mostrati in commento.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1611511"/>
            <a:ext cx="3528158" cy="3485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49774" y="172035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8201812" y="2291953"/>
            <a:ext cx="3143965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030-formattazione-avanzata.c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201812" y="2655987"/>
            <a:ext cx="3143965" cy="224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Obiettivo: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costruire output tabellare allineato usando le opzioni di formato di 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%5d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padding,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%-5d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allineamento sinistro,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%05d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zeri,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%.2f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precisione,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%10.3f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combinazione; tabella prodotti con quattro colonne allineate.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233"/>
            <a:ext cx="2396867" cy="251420"/>
          </a:xfrm>
          <a:prstGeom prst="roundRect">
            <a:avLst>
              <a:gd name="adj" fmla="val 3031"/>
            </a:avLst>
          </a:prstGeom>
          <a:solidFill>
            <a:srgbClr val="DBF0DD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582140"/>
            <a:ext cx="2808019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CAPITOLO 03 – INPUT E OUTPUT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794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Input/Output (problemi)</a:t>
            </a:r>
            <a:endParaRPr lang="en-US" sz="3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11511"/>
            <a:ext cx="3528158" cy="37568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93781" y="172035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845819" y="2291953"/>
            <a:ext cx="3143965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040-scheda-studente.c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5819" y="2655987"/>
            <a:ext cx="3143965" cy="222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inserire matricola, anno di corso, tre voti e voto di laurea; calcolare la media e stampare una scheda formattata.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%07d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 la matricola;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media = (v1+v2+v3)/3.0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scanf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 tipi misti; larghezze di campo per allineare le colonne.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1611511"/>
            <a:ext cx="3528257" cy="375684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71728" y="172035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4523766" y="2291953"/>
            <a:ext cx="31440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050-scontrino.c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23766" y="2655987"/>
            <a:ext cx="3144064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inserire prezzo e quantità di tre articoli; calcolare subtotali, totale imponibile, IVA al 22% e totale ivato; stampare uno scontrino con bordo ASCII.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cast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(double)quantita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IVA 0.22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bordo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+---+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 colonne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%-18s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%4d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%8.2f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1611511"/>
            <a:ext cx="3528158" cy="375684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49774" y="172035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8201812" y="2291953"/>
            <a:ext cx="3143965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060-dati-veicolo.c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201812" y="2655987"/>
            <a:ext cx="3143965" cy="2512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inserire dati di un veicolo e stampare una scheda tecnica con anzianità e conversione potenza kW→CV.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ANNO_CORRENTE 2024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KW_IN_CV 1.35962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anzianita = ANNO_CORRENTE - anno_immatricolazione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scheda con separatori e colonne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%8.1f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233"/>
            <a:ext cx="1835799" cy="226219"/>
          </a:xfrm>
          <a:prstGeom prst="roundRect">
            <a:avLst>
              <a:gd name="adj" fmla="val 3368"/>
            </a:avLst>
          </a:prstGeom>
          <a:solidFill>
            <a:srgbClr val="DBF0DD"/>
          </a:solidFill>
          <a:ln/>
        </p:spPr>
      </p:sp>
      <p:sp>
        <p:nvSpPr>
          <p:cNvPr id="3" name="Text 1"/>
          <p:cNvSpPr/>
          <p:nvPr/>
        </p:nvSpPr>
        <p:spPr>
          <a:xfrm>
            <a:off x="750769" y="577885"/>
            <a:ext cx="2266794" cy="1369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CAPITOLO 04 – OPERATORI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841961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Operatori (concetti base)</a:t>
            </a:r>
            <a:endParaRPr lang="en-US" sz="2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475085"/>
            <a:ext cx="5381357" cy="23246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33557" y="1574602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29349" y="2074565"/>
            <a:ext cx="503165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010-operatori-aritmetici.c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9349" y="2387402"/>
            <a:ext cx="5031654" cy="1224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Obiettivo:</a:t>
            </a:r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mostrare il comportamento di tutti gli operatori aritmetici, con enfasi sulla divisione intera.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confronto diretto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17/5=3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vs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17.0/5=3.4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cast esplicito; modulo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 applicazioni pratiche (parità, ultima cifra); precedenza con e senza parentesi.</a:t>
            </a:r>
            <a:endParaRPr lang="en-US" sz="11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62818" y="1475085"/>
            <a:ext cx="5381357" cy="23246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34901" y="1574602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330692" y="2074565"/>
            <a:ext cx="503165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020-operatori-relazionali-e-logici.c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330692" y="2387402"/>
            <a:ext cx="5031654" cy="1230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Obiettivo:</a:t>
            </a:r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dimostrare che gli operatori relazionali e logici producono valori interi 0/1 salvabili in variabili.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maggiorenne = (eta &gt;= 18)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condizioni composte con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&amp;&amp;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e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||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operatore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corto circuito spiegato nei commenti; nessun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if/else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19736"/>
            <a:ext cx="5381357" cy="23246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33557" y="4019252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829349" y="4519216"/>
            <a:ext cx="503165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030-operatori-di-assegnazione.c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829349" y="4832052"/>
            <a:ext cx="5031654" cy="991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Obiettivo:</a:t>
            </a:r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confrontare le forme compatte con quelle estese e mostrare la differenza tra prefisso e postfisso.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-=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*=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/=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%=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 sequenza;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 = ++a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vs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 = a++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pericolo del doppio incremento nella stessa espressione.</a:t>
            </a:r>
            <a:endParaRPr lang="en-US" sz="11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62818" y="3919736"/>
            <a:ext cx="5381357" cy="232466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34901" y="4019252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4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6330692" y="4519216"/>
            <a:ext cx="5031654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040-operatori-bit-a-bit.c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6330692" y="4832052"/>
            <a:ext cx="5031654" cy="1230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Obiettivo:</a:t>
            </a:r>
            <a:pPr algn="l" indent="0" marL="0">
              <a:lnSpc>
                <a:spcPct val="127000"/>
              </a:lnSpc>
              <a:spcAft>
                <a:spcPts val="600"/>
              </a:spcAft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visualizzare l'effetto di ogni operatore bit a bit con rappresentazione binaria nei commenti.</a:t>
            </a:r>
            <a:endParaRPr lang="en-US" sz="115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a=60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0011 1100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 e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b=15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0000 1111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); schema binario per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,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^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shift come ×2 e ÷2; test/set/clear di un bit con maschera 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1u &lt;&lt; 2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1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233"/>
            <a:ext cx="2039291" cy="251420"/>
          </a:xfrm>
          <a:prstGeom prst="roundRect">
            <a:avLst>
              <a:gd name="adj" fmla="val 3031"/>
            </a:avLst>
          </a:prstGeom>
          <a:solidFill>
            <a:srgbClr val="DBF0DD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582140"/>
            <a:ext cx="2450443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CAPITOLO 04 – OPERATORI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794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Operatori (problemi)</a:t>
            </a:r>
            <a:endParaRPr lang="en-US" sz="3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611511"/>
            <a:ext cx="3528158" cy="375684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93781" y="172035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845819" y="2291953"/>
            <a:ext cx="3143965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050-calcolo-bolletta.c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5819" y="2655987"/>
            <a:ext cx="3143965" cy="224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calcolare la bolletta elettrica da letture del contatore, potenza impegnata e fascia oraria.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prezzo per fascia con ternario annidato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(fascia==1)?F1:(fascia==2)?F2:F3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kwh = lettura_attuale - lettura_precedente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IVA domestica al 10%; zero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if/else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9422" y="1611511"/>
            <a:ext cx="3528257" cy="375684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71728" y="172035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4523766" y="2291953"/>
            <a:ext cx="314406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060-indice-massa-corporea.c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523766" y="2655987"/>
            <a:ext cx="3144064" cy="1976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calcolare l'IMC e determinare la categoria (sottopeso / normopeso / sovrappeso / obesità).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imc = peso / (altezza * altezza)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quattro flag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 sottopeso = (imc &lt; 18.5)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categoria con ternario annidato su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%s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zero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if/else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17468" y="1611511"/>
            <a:ext cx="3528158" cy="375684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49774" y="172035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0"/>
          <p:cNvSpPr/>
          <p:nvPr/>
        </p:nvSpPr>
        <p:spPr>
          <a:xfrm>
            <a:off x="8201812" y="2291953"/>
            <a:ext cx="3143965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070-cambio-valuta.c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201812" y="2655987"/>
            <a:ext cx="3143965" cy="2512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33000"/>
              </a:lnSpc>
              <a:spcAft>
                <a:spcPts val="750"/>
              </a:spcAft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convertire un importo in EUR nella valuta scelta (USD, GBP, JPY, CHF) sottraendo la commissione.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tasso selezionato con ternario annidato su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scelta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importo_commissione *= COMMISSIONE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simbolo valuta con secondo ternario in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; zero 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highlight>
                  <a:srgbClr val="F2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if/else</a:t>
            </a:r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6" y="107851"/>
            <a:ext cx="475841" cy="3135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2026-10-11T14:14:32Z</dcterms:created>
  <dcterms:modified xsi:type="dcterms:W3CDTF">2026-10-11T14:14:32Z</dcterms:modified>
</cp:coreProperties>
</file>