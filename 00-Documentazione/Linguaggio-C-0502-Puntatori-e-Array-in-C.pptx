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064411"/>
            <a:ext cx="6299042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Puntatori e Array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7987" y="3486071"/>
            <a:ext cx="629904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Aritmetica dei puntatori, array come puntatori, stringhe e puntatori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7987" y="4349948"/>
            <a:ext cx="6299042" cy="473373"/>
          </a:xfrm>
          <a:prstGeom prst="rect">
            <a:avLst/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711182" y="4451548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817840" y="450863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10330" y="4451548"/>
            <a:ext cx="1031849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216988" y="4508639"/>
            <a:ext cx="142811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1077" y="4451548"/>
            <a:ext cx="687073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337734" y="4508639"/>
            <a:ext cx="108334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ARRAY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 + i: Spostarsi in un Array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167388"/>
            <a:ext cx="509683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p punta a un elemento di un array, p + i punta all'elemento che si trova i posizioni più avanti. L'indirizzo non cresce di i byte ma di i × sizeof(*p) byte: il compilatore conosce il tipo puntato.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305943"/>
            <a:ext cx="509683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442151"/>
            <a:ext cx="47412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parentesi sono necessarie: *(p + 2) è l'elemento di indice 2, *p + 2 è il valore di v[0] più 2.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8912" y="1158180"/>
            <a:ext cx="5367799" cy="3007420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5110" y="1234380"/>
            <a:ext cx="5215402" cy="28550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8912" y="4492625"/>
            <a:ext cx="5367799" cy="1208980"/>
          </a:xfrm>
          <a:prstGeom prst="roundRect">
            <a:avLst>
              <a:gd name="adj" fmla="val 945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2227" y="4670742"/>
            <a:ext cx="494116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v[5] = {12, 0, 7, 25, 3};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*p = &amp;v[0];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*(p + 2) = 9;        /* v[2] vale 9 */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Scorrere un Array con p++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460863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elaborare tutti gli elementi di un array senza usare un indice.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puntatore che avanza con p++ e un secondo puntatore, fine, che contiene l'indirizzo subito dopo l'ultimo elemento.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405559"/>
          <a:ext cx="5460863" cy="914400"/>
        </p:xfrm>
        <a:graphic>
          <a:graphicData uri="http://schemas.openxmlformats.org/drawingml/2006/table">
            <a:tbl>
              <a:tblPr/>
              <a:tblGrid>
                <a:gridCol w="1911302"/>
                <a:gridCol w="354956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Effetto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p++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elemento successivo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p--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elemento precedente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&lt; fine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 sono ancora elementi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4115296"/>
            <a:ext cx="5460863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4251504"/>
            <a:ext cx="5105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fine si calcola e si confronta, ma non si dereferenzia mai: dopo l'ultimo elemento non c'è nulla che appartenga all'array.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4442" y="1129605"/>
            <a:ext cx="5460863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6537757" y="1307723"/>
            <a:ext cx="5034233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*fine = &amp;passi[0] + GIORNI;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*p;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(p = &amp;passi[0]; p &lt; fine; p++)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totale = totale + *p;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Differenza e Confronto tra Puntatori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8248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puntatori allo stesso array si possono sottrarre e confrontare.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554262"/>
          <a:ext cx="5824888" cy="914400"/>
        </p:xfrm>
        <a:graphic>
          <a:graphicData uri="http://schemas.openxmlformats.org/drawingml/2006/table">
            <a:tbl>
              <a:tblPr/>
              <a:tblGrid>
                <a:gridCol w="2329896"/>
                <a:gridCol w="349499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Espressione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 - 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quanti elementi separano p da q (non quanti byte)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- &amp;v[0]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l'indice dell'elemento puntato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&lt; q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viene prima di q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== q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stesso 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3910112"/>
            <a:ext cx="5824888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4046319"/>
            <a:ext cx="546929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Esempio: sul profilo di un sentiero, cima - inizio è il chilometro della cima e oltre_bosco &lt; cima dice se si esce dal bosco prima della cima.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88367" y="1129605"/>
            <a:ext cx="5096938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6901682" y="1307723"/>
            <a:ext cx="4670308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cima = inizio;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(p = inizio; p &lt; fine; p++)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(*p &gt; *cima)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cima = 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= cima - inizio;        /* km della cima */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6802"/>
            <a:ext cx="11378915" cy="439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Due Puntatori sullo Stesso Array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06390" y="1144786"/>
            <a:ext cx="5096839" cy="1314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6000"/>
              </a:lnSpc>
              <a:spcAft>
                <a:spcPts val="75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invertire l'ordine delle tappe di una gita per preparare il percorso di ritorno, senza un secondo array.</a:t>
            </a:r>
            <a:endParaRPr lang="en-US" sz="14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due puntatori partono dagli estremi, scambiano i valori e si avvicinano finché sinistra &lt; destra.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611834"/>
            <a:ext cx="5096839" cy="982067"/>
          </a:xfrm>
          <a:prstGeom prst="roundRect">
            <a:avLst>
              <a:gd name="adj" fmla="val 6207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744831"/>
            <a:ext cx="4741248" cy="728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più puntatori si risolvono anche la media mobile (un puntatore alla finestra di 3 letture) e la fusione di due classifiche ordinate (pa, pb, pc).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942953"/>
            <a:ext cx="5096839" cy="2307530"/>
          </a:xfrm>
          <a:prstGeom prst="roundRect">
            <a:avLst>
              <a:gd name="adj" fmla="val 495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616133" y="4119283"/>
            <a:ext cx="4677353" cy="195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(sinistra &lt; destra)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scambio = *sinistra;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*sinistra = *destra;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*destra = scambio;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sinistra++;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destra--;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8912" y="1144786"/>
            <a:ext cx="5367799" cy="5302349"/>
          </a:xfrm>
          <a:prstGeom prst="roundRect">
            <a:avLst>
              <a:gd name="adj" fmla="val 1150"/>
            </a:avLst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5110" y="1220986"/>
            <a:ext cx="5215402" cy="514994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Nome dell'Array è un Indirizzo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1137891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quasi tutte le espressioni il nome di un array diventa l'indirizzo del primo elemento: indici e puntatori sono due modi di scrivere la stessa cosa.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554262"/>
          <a:ext cx="5537062" cy="914400"/>
        </p:xfrm>
        <a:graphic>
          <a:graphicData uri="http://schemas.openxmlformats.org/drawingml/2006/table">
            <a:tbl>
              <a:tblPr/>
              <a:tblGrid>
                <a:gridCol w="2768531"/>
                <a:gridCol w="276853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 gli indici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 i puntatori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&amp;v[0]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&amp;v[i]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 + 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v[i]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*(v + i)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554262"/>
          <a:ext cx="5537062" cy="914400"/>
        </p:xfrm>
        <a:graphic>
          <a:graphicData uri="http://schemas.openxmlformats.org/drawingml/2006/table">
            <a:tbl>
              <a:tblPr/>
              <a:tblGrid>
                <a:gridCol w="1882529"/>
                <a:gridCol w="1827167"/>
                <a:gridCol w="1827365"/>
              </a:tblGrid>
              <a:tr h="397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v[5]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*p = v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 byte: tutto l'array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 byte: un indirizzo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 può spostare?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no: v++ è un errore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sì: p++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06390" y="3396159"/>
            <a:ext cx="11378915" cy="502841"/>
          </a:xfrm>
          <a:prstGeom prst="roundRect">
            <a:avLst>
              <a:gd name="adj" fmla="val 12123"/>
            </a:avLst>
          </a:prstGeom>
          <a:solidFill>
            <a:srgbClr val="DCEFDC"/>
          </a:solidFill>
          <a:ln/>
        </p:spPr>
      </p:sp>
      <p:sp>
        <p:nvSpPr>
          <p:cNvPr id="7" name="Text 3"/>
          <p:cNvSpPr/>
          <p:nvPr/>
        </p:nvSpPr>
        <p:spPr>
          <a:xfrm>
            <a:off x="584185" y="3532366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Dopo p = v si può scrivere anche p[i]: la scrittura con le parentesi quadre funziona con qualsiasi puntatore.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come Parametri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460863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funzione che riceve un array non conosce la sua dimensione e sembra lavorare su una copia.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alla funzione arriva solo l'indirizzo del primo elemento. Come parametro int v[] e int *v sono equivalenti; il numero di elementi va passato a parte.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430959"/>
            <a:ext cx="5460863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567166"/>
            <a:ext cx="5105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Dentro la funzione sizeof(v) dà 8, la dimensione di un indirizzo: il conto sizeof(v) / sizeof(v[0]) funziona solo dove l'array è dichiarato.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2" y="1129605"/>
            <a:ext cx="5460863" cy="1493441"/>
          </a:xfrm>
          <a:prstGeom prst="roundRect">
            <a:avLst>
              <a:gd name="adj" fmla="val 765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6537757" y="1307723"/>
            <a:ext cx="503423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totale(const int v[], int 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massimo(const int *v, int 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correggi_mancanti(int *v, int n);  /* modifica l'array del chiamante */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Passare Solo una Parte dell'Array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158180"/>
            <a:ext cx="5096839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confrontare gli incassi dei giorni feriali con quelli del fine settimana usando le stesse funzioni.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passa l'indirizzo da cui partire e il numero di elementi. Dentro la funzione gli indici ripartono da 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659559"/>
            <a:ext cx="5096839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795766"/>
            <a:ext cx="474124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posizione restituita dalla funzione è relativa al sottoarray: il chiamante aggiunge lo scostamento (5 + pos).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8912" y="1158180"/>
            <a:ext cx="5367799" cy="2831703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5110" y="1234380"/>
            <a:ext cx="5215402" cy="26793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8912" y="4316909"/>
            <a:ext cx="5367799" cy="1208980"/>
          </a:xfrm>
          <a:prstGeom prst="roundRect">
            <a:avLst>
              <a:gd name="adj" fmla="val 945"/>
            </a:avLst>
          </a:prstGeom>
          <a:solidFill>
            <a:srgbClr val="F2EDED"/>
          </a:solidFill>
          <a:ln/>
        </p:spPr>
      </p:sp>
      <p:sp>
        <p:nvSpPr>
          <p:cNvPr id="9" name="Text 6"/>
          <p:cNvSpPr/>
          <p:nvPr/>
        </p:nvSpPr>
        <p:spPr>
          <a:xfrm>
            <a:off x="6402227" y="4495026"/>
            <a:ext cx="494116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totale(incassi, 5);          /* lunedì-venerdì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totale(incassi + 5, 2);      /* sabato e domenica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occupa(posti + i, posti + i + k);   /* intervallo [inizio, fine) */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Scorrere una Stringa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167388"/>
            <a:ext cx="509683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stringa è un array di char terminato da '\0'. Si scorre con un puntatore che avanza finché il carattere puntato non è il terminatore.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082502"/>
            <a:ext cx="509683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218710"/>
            <a:ext cx="47412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char occupa 1 byte: gli indirizzi dei caratteri crescono di 1.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186609"/>
            <a:ext cx="5096839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19705" y="3364726"/>
            <a:ext cx="4670209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 *p = citta;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(*p != '\0')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lunghezza = p - citta;       /* 6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printf("%s", citta + 2);     /* rino */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8912" y="1158180"/>
            <a:ext cx="5367799" cy="4575274"/>
          </a:xfrm>
          <a:prstGeom prst="roundRect">
            <a:avLst>
              <a:gd name="adj" fmla="val 1332"/>
            </a:avLst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5110" y="1234380"/>
            <a:ext cx="5215402" cy="442287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 char e Letterali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6188912" cy="914400"/>
        </p:xfrm>
        <a:graphic>
          <a:graphicData uri="http://schemas.openxmlformats.org/drawingml/2006/table">
            <a:tbl>
              <a:tblPr/>
              <a:tblGrid>
                <a:gridCol w="2104179"/>
                <a:gridCol w="2042268"/>
                <a:gridCol w="2042466"/>
              </a:tblGrid>
              <a:tr h="646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char giorno[] = "lunedi";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const char *stato = "APERTO";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che cos'è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array con una copia del testo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puntatore a un testo costante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 (6 lettere + '\0')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 (un indirizzo)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modificare i caratteri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sì: giorno[0] = 'L'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no: sola lettura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cambiare testo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copiando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sì: stato = "CHIUSO";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06390" y="4031952"/>
            <a:ext cx="6188912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5" name="Text 2"/>
          <p:cNvSpPr/>
          <p:nvPr/>
        </p:nvSpPr>
        <p:spPr>
          <a:xfrm>
            <a:off x="584185" y="4168160"/>
            <a:ext cx="583332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puntatore a un letterale si dichiara sempre const char *: un tentativo di modifica diventa un errore di compilazione invece di un'interruzione del programma.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052392" y="1129605"/>
            <a:ext cx="4732914" cy="1777901"/>
          </a:xfrm>
          <a:prstGeom prst="roundRect">
            <a:avLst>
              <a:gd name="adj" fmla="val 643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265707" y="1307723"/>
            <a:ext cx="4306284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(ora &gt;= APERTURA &amp;&amp; ora &lt; CHIUSURA)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stato = "APERTO";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stato = "CHIUSO";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Puntatore di strchr e strstr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09683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Nel capitolo 4 il risultato di strchr e strstr si confrontava solo con NULL. Ora il puntatore restituito si usa davvero.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05062"/>
            <a:ext cx="5096839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741269"/>
            <a:ext cx="474124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printf("%.*s", n, p) stampa al massimo n caratteri a partire da p: la parola non si copia, basta sapere dove inizia e quanto è lunga.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60318" y="1129605"/>
            <a:ext cx="5824987" cy="3769122"/>
          </a:xfrm>
          <a:prstGeom prst="roundRect">
            <a:avLst>
              <a:gd name="adj" fmla="val 303"/>
            </a:avLst>
          </a:prstGeom>
          <a:solidFill>
            <a:srgbClr val="F2EDED"/>
          </a:solidFill>
          <a:ln/>
        </p:spPr>
      </p:sp>
      <p:sp>
        <p:nvSpPr>
          <p:cNvPr id="7" name="Text 5"/>
          <p:cNvSpPr/>
          <p:nvPr/>
        </p:nvSpPr>
        <p:spPr>
          <a:xfrm>
            <a:off x="6173633" y="1307723"/>
            <a:ext cx="5398357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 *chiocciola = strchr(email, '@');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(chiocciola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 = chiocciola - email;              /* 12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printf("%s", chiocciola + 1);          /* scuola.it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printf("%.*s", pos, email);            /* giulia.rossi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*a_capo = strchr(riga, '\n');         /* dopo fgets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(a_capo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*a_capo = '\0';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Lettura e Scrittura sulla Stessa Stringa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158180"/>
            <a:ext cx="5096839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togliere gli spazi in eccesso da un testo senza usare un secondo array.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puntatore di lettura esamina tutti i caratteri, un puntatore di scrittura indica dove copiare il prossimo carattere da tenere.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684959"/>
            <a:ext cx="5096839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821166"/>
            <a:ext cx="474124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scrittura non supera mai lettura: si copia solo verso sinistra e non si sovrascrive nulla che debba ancora essere letto. Alla fine si scrive '\0' in *scrittura.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8912" y="1158180"/>
            <a:ext cx="5367799" cy="3895328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510" y="1259780"/>
            <a:ext cx="5164604" cy="369212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4" name="Shape 2"/>
          <p:cNvSpPr/>
          <p:nvPr/>
        </p:nvSpPr>
        <p:spPr>
          <a:xfrm>
            <a:off x="584185" y="1056580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9433" y="1123255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84185" y="1449963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*p + 2 invece di *(p + 2).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929580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8" name="Shape 6"/>
          <p:cNvSpPr/>
          <p:nvPr/>
        </p:nvSpPr>
        <p:spPr>
          <a:xfrm>
            <a:off x="6349841" y="1056580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5089" y="1123255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841" y="1449963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Dereferenziare fine, l'indirizzo dopo l'ultimo elemento.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390" y="1968996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185" y="2095996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9433" y="2162671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4185" y="2489379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Far uscire dall'array un gruppo di elementi (la finestra si ferma a fine - 3).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046" y="1968996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9841" y="2095996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5089" y="2162671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49841" y="2489379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Calcolare la dimensione dell'array con sizeof dentro la funzione.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6390" y="3257252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20" name="Shape 18"/>
          <p:cNvSpPr/>
          <p:nvPr/>
        </p:nvSpPr>
        <p:spPr>
          <a:xfrm>
            <a:off x="584185" y="3384252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9433" y="3450927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185" y="3777635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Tentare v++ sul nome di un array.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046" y="3257252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9841" y="3384252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5089" y="3450927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49841" y="3777635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lo scostamento di una posizione restituita su un sottoarray.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6390" y="4545509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28" name="Shape 26"/>
          <p:cNvSpPr/>
          <p:nvPr/>
        </p:nvSpPr>
        <p:spPr>
          <a:xfrm>
            <a:off x="584185" y="4672509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9433" y="4739184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4185" y="5065891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Modificare un letterale o usare strchr senza controllare NULL.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046" y="4545509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32" name="Shape 30"/>
          <p:cNvSpPr/>
          <p:nvPr/>
        </p:nvSpPr>
        <p:spPr>
          <a:xfrm>
            <a:off x="6349841" y="4672509"/>
            <a:ext cx="316897" cy="311150"/>
          </a:xfrm>
          <a:prstGeom prst="roundRect">
            <a:avLst>
              <a:gd name="adj" fmla="val 17142"/>
            </a:avLst>
          </a:prstGeom>
          <a:solidFill>
            <a:srgbClr val="4CB655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5089" y="4739184"/>
            <a:ext cx="73598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49841" y="5065891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Dimenticare il '\0' finale quando si copia una stringa con i puntatori.</a:t>
            </a:r>
            <a:endParaRPr lang="en-US" sz="14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768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878780"/>
          <a:ext cx="11378916" cy="914400"/>
        </p:xfrm>
        <a:graphic>
          <a:graphicData uri="http://schemas.openxmlformats.org/drawingml/2006/table">
            <a:tbl>
              <a:tblPr/>
              <a:tblGrid>
                <a:gridCol w="3413635"/>
                <a:gridCol w="3982541"/>
                <a:gridCol w="3982739"/>
              </a:tblGrid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Elemento i posizioni dopo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*(p + i)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avanza di i × sizeof(*p) byte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Scorrere un array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for (p = &amp;v[0]; p &lt; fine; p++)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fine = &amp;v[0] + N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 di un elemento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- &amp;v[0]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differenza tra puntatori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Posizione relativa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&lt; q, p == q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stesso array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Inversione, fusione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due o tre puntatori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sinistra / destra, pa / pb / pc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Nome dell'array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 == &amp;v[0]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non si sposta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come parametro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const int *v, int n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passato a parte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Parte di un array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f(v + k, n)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indici da 0 nella funzione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Scorrere una stringa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while (*p != '\0')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lunghezza p - s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Testo costante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const char *s = "..."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sola lettura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 di strchr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- s, p + 1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dopo il controllo NULL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Correzione sul posto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lettura e scrittura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scrittura ≤ lettura</a:t>
                      </a:r>
                      <a:endParaRPr lang="en-US" sz="9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0485" marR="90485" marT="48259" marB="48259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Aritmetica dei Puntatori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p + i, p++ e differenza tra puntatori.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321322"/>
          </a:xfrm>
          <a:prstGeom prst="roundRect">
            <a:avLst>
              <a:gd name="adj" fmla="val 492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3834"/>
            <a:ext cx="34119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010-somma-di-un-intero.c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4185" y="2150467"/>
            <a:ext cx="3234153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60322"/>
            <a:ext cx="298015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posti liberi e tariffe ai piani di un parcheggio.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871788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882" y="2994343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 + i e *(p + i) con array di int e di double.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321322"/>
          </a:xfrm>
          <a:prstGeom prst="roundRect">
            <a:avLst>
              <a:gd name="adj" fmla="val 492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3834"/>
            <a:ext cx="32341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020-incremento-e-scorrimento.c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78722" y="2399308"/>
            <a:ext cx="3234153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509163"/>
            <a:ext cx="298015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passi giornalieri di un contapassi.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120628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8418" y="3243183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p++ fino a fine, all'indietro con p--.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321322"/>
          </a:xfrm>
          <a:prstGeom prst="roundRect">
            <a:avLst>
              <a:gd name="adj" fmla="val 492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3834"/>
            <a:ext cx="32341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030-differenza-e-confronto.c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73258" y="2399308"/>
            <a:ext cx="3234153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509163"/>
            <a:ext cx="298015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profilo di un sentiero di montagna.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120628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2954" y="3243183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cima - inizio, oltre_bosco &lt; cima, cima == fine - 1.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di Aritmetica dei Puntatori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Media mobile della CO2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3590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Puntatore alla finestra di 3 letture: quando aprire le finestre dell'aula.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Ora di punta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35902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Consumi elettrici della scuola: puntatore al massimo e fascia di alto consumo.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798068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93831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Percorso di ritorno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297754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Gita in bicicletta: inversione dei tratti con due puntatori agli estremi.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798068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93831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Serie di vittorie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297754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Puntatore all'inizio della serie in corso, serie più lunga del campionato.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76435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904604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Classifica unita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264045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batterie di 100 metri fuse in una classifica con tre puntatori.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Array come Puntatori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 nome dell'array e sui parametri.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0477"/>
            <a:ext cx="3589744" cy="49627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77484"/>
            <a:ext cx="32341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010-nome-array-e-indirizzo.c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4185" y="2392958"/>
            <a:ext cx="3234153" cy="398760"/>
          </a:xfrm>
          <a:prstGeom prst="roundRect">
            <a:avLst>
              <a:gd name="adj" fmla="val 15287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502813"/>
            <a:ext cx="310715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posti liberi nelle aule studio.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918718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882" y="3041273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 e &amp;v[0], quattro modi di leggere un elemento, sizeof.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0477"/>
            <a:ext cx="3589744" cy="49627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77484"/>
            <a:ext cx="32341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020-parametri-array-e-puntatori.c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78722" y="2392958"/>
            <a:ext cx="3234153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502813"/>
            <a:ext cx="298015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pioggia di una settimana con misure mancanti.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114278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8418" y="3236833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 v[] e int *v come parametri, modifica dell'array.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0477"/>
            <a:ext cx="3589744" cy="49627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77484"/>
            <a:ext cx="34119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030-sottoarray.c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73258" y="2144117"/>
            <a:ext cx="3234153" cy="398760"/>
          </a:xfrm>
          <a:prstGeom prst="roundRect">
            <a:avLst>
              <a:gd name="adj" fmla="val 15287"/>
            </a:avLst>
          </a:prstGeom>
          <a:solidFill>
            <a:srgbClr val="DCEFD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53972"/>
            <a:ext cx="3107156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ingressi mensili in palestra.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669877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2954" y="2792432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somma(v + 3, 3) e intervalli [inizio, fine).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Array e Puntatori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Vendite settimanali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stesse funzioni su feriali (incassi, 5) e fine settimana (incassi + 5, 2).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Posti sul treno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di k posti liberi vicini e prenotazione di un intervallo.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Primo giorno di gelo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su un periodo scelto, passato come sottoarray.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Backup del registro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Copia di un blocco con due puntatori, confronto e ripristino dei voti.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Istogramma dei voti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Array dei conteggi riempito da una funzione tramite int *.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Stringhe e Puntatori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stringhe, letterali e funzioni.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0477"/>
            <a:ext cx="3589744" cy="49627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77484"/>
            <a:ext cx="34119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010-scorrere-una-stringa.c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4185" y="2144117"/>
            <a:ext cx="3234153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53972"/>
            <a:ext cx="298015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annuncio del tabellone di una stazione.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865438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882" y="2987993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while (*p != '\0'), lunghezza p - s, stampa al contrario.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0477"/>
            <a:ext cx="3589744" cy="49627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77484"/>
            <a:ext cx="32341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020-letterali-e-array-di-char.c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78722" y="2392958"/>
            <a:ext cx="3234153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502813"/>
            <a:ext cx="298015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cartello APERTO / CHIUSO di un negozio.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114278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8418" y="3236833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char s[] e const char *s, scelta di un letterale.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0477"/>
            <a:ext cx="3589744" cy="4962723"/>
          </a:xfrm>
          <a:prstGeom prst="roundRect">
            <a:avLst>
              <a:gd name="adj" fmla="val 318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77484"/>
            <a:ext cx="323415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030-funzioni-con-puntatori.c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73258" y="2392958"/>
            <a:ext cx="3234153" cy="594320"/>
          </a:xfrm>
          <a:prstGeom prst="roundRect">
            <a:avLst>
              <a:gd name="adj" fmla="val 10257"/>
            </a:avLst>
          </a:prstGeom>
          <a:solidFill>
            <a:srgbClr val="DCEFD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502813"/>
            <a:ext cx="298015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indirizzo e-mail di uno studente.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114278"/>
            <a:ext cx="3234153" cy="61972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2954" y="3236833"/>
            <a:ext cx="295476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lunghezza, copia e confronto con i puntatori; puntatore di strchr.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Stringhe e Puntatori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Sigle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25766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Iniziali delle parole lunghe: Istituto Tecnico Industriale Statale diventa ITIS.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1009551"/>
          </a:xfrm>
          <a:prstGeom prst="roundRect">
            <a:avLst>
              <a:gd name="adj" fmla="val 1132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Spazi in eccesso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Normalizzazione dei testi di un modulo con lettura e scrittura.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351088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49133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Campi CSV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85077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Scomposizione di righe cognome;nome;classe;voto e media dei voti.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351088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49133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Parola più lunga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85077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Titoli del giornalino: parola più lunga stampata con %.*s.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31737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45762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Filtro della chat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81706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Parole vietate trovate con strstr e sostituite con asterischi.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2026-10-11T16:26:57Z</dcterms:created>
  <dcterms:modified xsi:type="dcterms:W3CDTF">2026-10-11T16:26:57Z</dcterms:modified>
</cp:coreProperties>
</file>