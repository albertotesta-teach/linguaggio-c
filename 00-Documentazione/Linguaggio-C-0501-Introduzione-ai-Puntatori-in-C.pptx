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064411"/>
            <a:ext cx="6502237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Introduzione ai Puntatori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3486071"/>
            <a:ext cx="65022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Indirizzi e memoria, dichiarazione e dereferenziazione, errori e puntatori sicuri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4299148"/>
            <a:ext cx="6502237" cy="524173"/>
          </a:xfrm>
          <a:prstGeom prst="roundRect">
            <a:avLst>
              <a:gd name="adj" fmla="val 11629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442614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16242" y="448323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08733" y="4426148"/>
            <a:ext cx="1031849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115390" y="4483239"/>
            <a:ext cx="142811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29480" y="4426148"/>
            <a:ext cx="91021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236137" y="4483239"/>
            <a:ext cx="130648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MEMORIA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Memoria e gli Indirizzi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memoria del computer è una lunga sequenza di celle da 1 byte. Ogni cella ha un numero: il suo indirizzo. Una variabile occupa alcune celle consecutive e il suo indirizzo è quello della prima.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029718"/>
          <a:ext cx="5167977" cy="914400"/>
        </p:xfrm>
        <a:graphic>
          <a:graphicData uri="http://schemas.openxmlformats.org/drawingml/2006/table">
            <a:tbl>
              <a:tblPr/>
              <a:tblGrid>
                <a:gridCol w="1550353"/>
                <a:gridCol w="361762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 della variabile 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specifica di printf per gli indirizzi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(void *)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conversione richiesta da %p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3764855"/>
            <a:ext cx="5167977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3901063"/>
            <a:ext cx="481238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indirizzi cambiano a ogni esecuzione: il sistema operativo colloca il programma in punti diversi della memoria.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79060" y="929580"/>
            <a:ext cx="5906245" cy="274270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060" y="929580"/>
            <a:ext cx="5906245" cy="27427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79060" y="3872309"/>
            <a:ext cx="5906245" cy="924520"/>
          </a:xfrm>
          <a:prstGeom prst="roundRect">
            <a:avLst>
              <a:gd name="adj" fmla="val 1236"/>
            </a:avLst>
          </a:prstGeom>
          <a:solidFill>
            <a:srgbClr val="F2EDED"/>
          </a:solidFill>
          <a:ln/>
        </p:spPr>
      </p:sp>
      <p:sp>
        <p:nvSpPr>
          <p:cNvPr id="10" name="Text 6"/>
          <p:cNvSpPr/>
          <p:nvPr/>
        </p:nvSpPr>
        <p:spPr>
          <a:xfrm>
            <a:off x="6092375" y="4050427"/>
            <a:ext cx="547961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eta = 17;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printf("%p\n", (void *) &amp;eta);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scanf e l'Operatore &amp;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537061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scanf deve scrivere il valore letto in una variabile del chiamante. Per farlo le serve sapere dove si trova quella variabile.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passa a scanf l'indirizzo della variabile.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134493"/>
          <a:ext cx="5537062" cy="914400"/>
        </p:xfrm>
        <a:graphic>
          <a:graphicData uri="http://schemas.openxmlformats.org/drawingml/2006/table">
            <a:tbl>
              <a:tblPr/>
              <a:tblGrid>
                <a:gridCol w="2491618"/>
                <a:gridCol w="304544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Effetto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scanf("%d", &amp;eta)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 in eta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5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scanf("%d", eta)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passa il VALORE di eta come se fosse un indirizzo: scrittura in un punto casuale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3970040"/>
            <a:ext cx="5537061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4106247"/>
            <a:ext cx="518147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-Wall il compilatore segnala la &amp; mancante: gli avvisi vanno sempre letti e corretti.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8244" y="1129605"/>
            <a:ext cx="5537061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6461559" y="1307723"/>
            <a:ext cx="5110432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&amp;eta);          /* indirizzo di eta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scanf("%19s", nickname);    /* nickname è un array: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il nome indica già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l'indirizzo del primo elemento */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sizeof: Quanto Occupa una Variabile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sizeof(int)              /* dimensione del tipo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sizeof(media)            /* dimensione della variabile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sizeof(v)                /* dimensione dell'intero array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sizeof(v) / sizeof(v[0]);   /* numero di elementi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90" y="2832279"/>
            <a:ext cx="59061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Esempio: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datalogger con 32 KB registra per 9.5 giorni con misure in double, per 45.5 giorni con interi in decimi di grado.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425527"/>
            <a:ext cx="5906146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3561735"/>
            <a:ext cx="555055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dimensioni non sono fissate dal linguaggio: si usa sempre sizeof invece di scrivere 4 o 8 a mano.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Byte tipici (64 bit)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(garantito)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int, float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long, double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 (qualsiasi tipo)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Variabili e Array in Memoria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537061" cy="790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L'ordine delle variabili in memoria è scelto dal compilatore: non si può fare alcuna ipotesi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elementi di un array sono sempre consecutivi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825327"/>
          <a:ext cx="5537062" cy="914400"/>
        </p:xfrm>
        <a:graphic>
          <a:graphicData uri="http://schemas.openxmlformats.org/drawingml/2006/table">
            <a:tbl>
              <a:tblPr/>
              <a:tblGrid>
                <a:gridCol w="1937892"/>
                <a:gridCol w="359916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Domanda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== 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 due variabili hanno lo stesso valore?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&amp;a == &amp;b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sono la stessa variabile?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3412034"/>
            <a:ext cx="5537061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3548241"/>
            <a:ext cx="518147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Esempio: un trasferimento di credito da una tessera a se stessa si riconosce confrontando gli indirizzi, non i saldi.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8244" y="929580"/>
            <a:ext cx="5537061" cy="41172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244" y="929580"/>
            <a:ext cx="5537061" cy="41172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Puntatore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puntatore è una variabile che contiene un indirizzo.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283196"/>
          <a:ext cx="5167977" cy="914400"/>
        </p:xfrm>
        <a:graphic>
          <a:graphicData uri="http://schemas.openxmlformats.org/drawingml/2006/table">
            <a:tbl>
              <a:tblPr/>
              <a:tblGrid>
                <a:gridCol w="1963788"/>
                <a:gridCol w="320418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Espressione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dichiarazione di un puntatore a int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= &amp;x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contiene l'indirizzo di 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variabile puntata: si legge e si scrive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3516015"/>
            <a:ext cx="5167977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3652222"/>
            <a:ext cx="481238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simbolo * ha due significati: nella dichiarazione dice che p è un puntatore, in un'espressione indica la variabile puntata.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79060" y="1129605"/>
            <a:ext cx="5906245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092375" y="1307723"/>
            <a:ext cx="5479615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livello = 70;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*p;              /* p: puntatore a int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&amp;livello;        /* p punta a livello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 = 85;             /* livello vale 85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*p;              /* legge livello */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79060" y="3391991"/>
            <a:ext cx="5906245" cy="298271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060" y="3391991"/>
            <a:ext cx="5906245" cy="2982714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Copiare Puntatori e Copiare Valori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537061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110432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cassa_1 = &amp;sala_a;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cassa_2 = cassa_1;     /* stesso indirizzo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*cassa_1 = *cassa_1 - 4;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*cassa_2 = *cassa_2 - 2;   /* sala_a: 120 - 4 - 2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cassa_2 = &amp;sala_b;     /* punta a un'altra variabile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*cassa_2 = *cassa_1;   /* copia il valore */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929580"/>
          <a:ext cx="5537062" cy="914400"/>
        </p:xfrm>
        <a:graphic>
          <a:graphicData uri="http://schemas.openxmlformats.org/drawingml/2006/table">
            <a:tbl>
              <a:tblPr/>
              <a:tblGrid>
                <a:gridCol w="1937892"/>
                <a:gridCol w="359916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Istruzione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Effetto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 = 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 punta alla stessa variabile di 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*q = 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variabile puntata da q prende il valore di quella puntata da 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= &amp;y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punta a un'altra 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48244" y="2938959"/>
            <a:ext cx="5537061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7" name="Text 4"/>
          <p:cNvSpPr/>
          <p:nvPr/>
        </p:nvSpPr>
        <p:spPr>
          <a:xfrm>
            <a:off x="6426039" y="3075166"/>
            <a:ext cx="518147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due puntatori indicano la stessa variabile, una modifica fatta tramite uno si vede anche tramite l'altro.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 Che Cosa Serve un Puntatore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537061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il pannello di un termostato ha un solo paio di tasti + e − per tre zone. Senza puntatori servirebbero tre copie delle stesse istruzioni, una per zona.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puntatore indica la variabile "selezionata" e le istruzioni si scrivono una volta sola.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2383334"/>
            <a:ext cx="5537061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giocatore di turno in una gara di dadi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salvadanaio scelto: attivo = &amp;saldi[k]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scorta più bassa tra tre variabili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miglior tempo di una gara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616821"/>
            <a:ext cx="5537061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753029"/>
            <a:ext cx="518147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puntatore a un elemento di un array (&amp;saldi[k]) si confronta con &amp;saldi[j] per sapere quale elemento è selezionato.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129605"/>
            <a:ext cx="5537061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1307723"/>
            <a:ext cx="5110432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*zona_attiva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(comando == 'S')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zona_attiva = &amp;soggiorno;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(comando == 'C')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zona_attiva = &amp;camera;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*zona_attiva = *zona_attiva + PASSO;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NULL: Nessuna Variabile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537061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puntatore dichiarato e non inizializzato contiene un indirizzo casuale. Usarlo significa leggere o scrivere in un punto qualsiasi della memoria.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quando un puntatore non punta ancora a nulla gli si assegna NULL, e prima di usarlo si controlla.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2383334"/>
            <a:ext cx="5537061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NULL per "nessuna selezione": codice inesistente, badge non letto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NULL per "nessun risultato": nessun atleta ha concluso la gara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527921"/>
            <a:ext cx="5537061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664129"/>
            <a:ext cx="518147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Regola: ogni puntatore si inizializza alla dichiarazione, con un indirizzo valido oppure con NULL.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129605"/>
            <a:ext cx="5537061" cy="3484662"/>
          </a:xfrm>
          <a:prstGeom prst="roundRect">
            <a:avLst>
              <a:gd name="adj" fmla="val 328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1307723"/>
            <a:ext cx="5110432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*scelta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(codice == 'C')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scelta = &amp;caffe;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(scelta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*scelta = *scelta + 1;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printf("codice inesistente\n");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 Quattro Errori Tipici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4429709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spesso il programma non si ferma subito. Scrive in un punto sbagliato e l'errore si manifesta più tardi, in un'altra parte del codice.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due regole.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2134493"/>
            <a:ext cx="4429709" cy="790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Inizializzare sempre i puntatori.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che riceve un puntatore che può essere NULL lo controlla prima di usarlo.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030240"/>
            <a:ext cx="4429709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166447"/>
            <a:ext cx="407411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blocco { } di una variabile ne delimita la vita: fuori dal blocco il suo indirizzo non va più usato.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0792" y="929580"/>
          <a:ext cx="6644514" cy="914400"/>
        </p:xfrm>
        <a:graphic>
          <a:graphicData uri="http://schemas.openxmlformats.org/drawingml/2006/table">
            <a:tbl>
              <a:tblPr/>
              <a:tblGrid>
                <a:gridCol w="2214805"/>
                <a:gridCol w="2214805"/>
                <a:gridCol w="221490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Errore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Codice sbagliato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Conseguenza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non inizializzato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*p; *p = 5;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scrittura in un punto casuale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Dereferenziazione di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= NULL; *p = 5;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interruzione del programma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scanf senza &amp;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scanf("%d", n);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scrittura in un punto casuale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Variabile che non esiste più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int t; p = &amp;t; } *p = 1;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 non più valido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NULL come Scelta: Parametri Facoltativi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167977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funzione calcola minimo, massimo e media dei voti, ma non tutti i chiamanti hanno bisogno di tutti i risultati.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 non vuole un risultato passa NULL; la funzione scrive solo nei puntatori diversi da NULL.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56359"/>
            <a:ext cx="5167977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592566"/>
            <a:ext cx="481238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n vale 0 la funzione non scrive nulla e restituisce 0: la media di zero voti non esiste.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79060" y="1129605"/>
            <a:ext cx="5906245" cy="3200202"/>
          </a:xfrm>
          <a:prstGeom prst="roundRect">
            <a:avLst>
              <a:gd name="adj" fmla="val 357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6092375" y="1307723"/>
            <a:ext cx="5479615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statistiche(const int voti[], int n,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int *minimo, int *massimo, double *media);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statistiche(v, n, &amp;min, &amp;max, &amp;media);  /* tutto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statistiche(v, n, NULL, NULL, &amp;media);  /* solo la media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statistiche(v, n, &amp;min, NULL, NULL);    /* solo il minimo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(media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*media = (double) somma / n;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Tipo del Puntatore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Tutti gli indirizzi hanno la stessa dimensione, ma *p legge sizeof(*p) byte e li interpreta secondo il tipo.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532037"/>
          <a:ext cx="5167977" cy="914400"/>
        </p:xfrm>
        <a:graphic>
          <a:graphicData uri="http://schemas.openxmlformats.org/drawingml/2006/table">
            <a:tbl>
              <a:tblPr/>
              <a:tblGrid>
                <a:gridCol w="2067171"/>
                <a:gridCol w="310080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*p legge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*pi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 byte come intero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 *pd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 byte come numero con virgola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 *pc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byte come carattere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3490615"/>
            <a:ext cx="5167977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3626822"/>
            <a:ext cx="481238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Copiare valori tra tipi diversi è una normale conversione; far puntare un int * a un double è un errore.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79060" y="1129605"/>
            <a:ext cx="5906245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6092375" y="1307723"/>
            <a:ext cx="5479615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media = 7.5;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 = &amp;media;      /* avviso: tipi incompatibili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*pd = *pi;            /* corretto: copia di un valore,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l'int diventa double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*pi = (int) *pd;      /* la parte decimale si perde */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const e Puntatori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537061" cy="3769122"/>
          </a:xfrm>
          <a:prstGeom prst="roundRect">
            <a:avLst>
              <a:gd name="adj" fmla="val 30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110432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limita(int *valore, const int *massimo)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(*valore &gt; *massimo)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*valore = *massimo;     /* permesso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*massimo = 0;   errore di compilazione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*const sensore = &amp;pressione;          /* sempre la stessa variabile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*const soglia = &amp;ARRESTO;       /* nulla si può cambiare */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929580"/>
          <a:ext cx="5537062" cy="914400"/>
        </p:xfrm>
        <a:graphic>
          <a:graphicData uri="http://schemas.openxmlformats.org/drawingml/2006/table">
            <a:tbl>
              <a:tblPr/>
              <a:tblGrid>
                <a:gridCol w="2546981"/>
                <a:gridCol w="1494991"/>
                <a:gridCol w="1495090"/>
              </a:tblGrid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Dichiarazione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 può cambiare *p?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 può cambiare p?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int 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*const p = &amp;x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int *const p = &amp;x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48244" y="3162399"/>
            <a:ext cx="5537061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7" name="Text 4"/>
          <p:cNvSpPr/>
          <p:nvPr/>
        </p:nvSpPr>
        <p:spPr>
          <a:xfrm>
            <a:off x="6426039" y="3298607"/>
            <a:ext cx="518147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Nei parametri, const int * dice che la funzione legge la variabile del chiamante ma non la modifica: un errore di logica diventa un errore di compilazione.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4" name="Shape 2"/>
          <p:cNvSpPr/>
          <p:nvPr/>
        </p:nvSpPr>
        <p:spPr>
          <a:xfrm>
            <a:off x="584185" y="1056580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9433" y="1123255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4185" y="1449963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&amp; in scanf.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929580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349841" y="1056580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5089" y="1123255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841" y="1449963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Stampare un indirizzo con %d invece che con %p e (void *).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390" y="2217837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185" y="2344837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9433" y="2411512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4185" y="2738219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Supporre l'ordine delle variabili in memoria o la dimensione dei tipi.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046" y="2217837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9841" y="2344837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5089" y="2411512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49841" y="2738219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Dereferenziare un puntatore non inizializzato.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6390" y="3506093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584185" y="3633093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9433" y="3699768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185" y="402647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Dereferenziare NULL senza controllo.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046" y="3506093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9841" y="3633093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5089" y="3699768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49841" y="402647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Confondere p (indirizzo) e *p (variabile puntata).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6390" y="4545509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28" name="Shape 26"/>
          <p:cNvSpPr/>
          <p:nvPr/>
        </p:nvSpPr>
        <p:spPr>
          <a:xfrm>
            <a:off x="584185" y="4672509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9433" y="4739184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4185" y="5065891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Far puntare un int * a una variabile di un altro tipo.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046" y="4545509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32" name="Shape 30"/>
          <p:cNvSpPr/>
          <p:nvPr/>
        </p:nvSpPr>
        <p:spPr>
          <a:xfrm>
            <a:off x="6349841" y="4672509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5089" y="4739184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49841" y="5065891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Conservare l'indirizzo di una variabile che non esiste più.</a:t>
            </a:r>
            <a:endParaRPr lang="en-US" sz="14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3413635"/>
                <a:gridCol w="3413635"/>
                <a:gridCol w="455164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 di 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stampato con %p e (void *)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sizeof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tipi, variabili, 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Dichiarare un puntatore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variabile per riga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Puntare a 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= &amp;x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stesso tipo di 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Leggere/scrivere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dereferenziazione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Nessuna 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controllare prima dell'uso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Stessa variabile?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== q, &amp;a == &amp;b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 di indirizzi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Risultati facoltativi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parametro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funzione controlla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Sola lettura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int 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parametri protetti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fisso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*const 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 sempre alla stessa 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Indirizzi e Memoria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indirizzi e dimensioni.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3345259"/>
          </a:xfrm>
          <a:prstGeom prst="roundRect">
            <a:avLst>
              <a:gd name="adj" fmla="val 342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834634"/>
            <a:ext cx="313255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010-indirizzo-di-una-variabile.c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4984" y="2427883"/>
            <a:ext cx="3132555" cy="954881"/>
          </a:xfrm>
          <a:prstGeom prst="roundRect">
            <a:avLst>
              <a:gd name="adj" fmla="val 6384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2665690"/>
            <a:ext cx="26753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dove si trova una variabile.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4984" y="3509764"/>
            <a:ext cx="3132555" cy="1203722"/>
          </a:xfrm>
          <a:prstGeom prst="roundRect">
            <a:avLst>
              <a:gd name="adj" fmla="val 5064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863578" y="3747572"/>
            <a:ext cx="26753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&amp;, %p, indirizzo costante al cambiare del valore, scanf.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3345259"/>
          </a:xfrm>
          <a:prstGeom prst="roundRect">
            <a:avLst>
              <a:gd name="adj" fmla="val 342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529520" y="1834634"/>
            <a:ext cx="33611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020-sizeof-e-tipi.c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9520" y="2179042"/>
            <a:ext cx="3132555" cy="954881"/>
          </a:xfrm>
          <a:prstGeom prst="roundRect">
            <a:avLst>
              <a:gd name="adj" fmla="val 6384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758115" y="2416850"/>
            <a:ext cx="26753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quanto occupa ogni tipo.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29520" y="3260923"/>
            <a:ext cx="3132555" cy="954881"/>
          </a:xfrm>
          <a:prstGeom prst="roundRect">
            <a:avLst>
              <a:gd name="adj" fmla="val 638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8115" y="3498731"/>
            <a:ext cx="26753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sizeof di tipi, array, stringhe e indirizzi.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3345259"/>
          </a:xfrm>
          <a:prstGeom prst="roundRect">
            <a:avLst>
              <a:gd name="adj" fmla="val 342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424056" y="1834634"/>
            <a:ext cx="313255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030-variabili-e-array-in-memoria.c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24056" y="2427883"/>
            <a:ext cx="3132555" cy="954881"/>
          </a:xfrm>
          <a:prstGeom prst="roundRect">
            <a:avLst>
              <a:gd name="adj" fmla="val 6384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52651" y="2665690"/>
            <a:ext cx="26753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è disposto un array.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24056" y="3509764"/>
            <a:ext cx="3132555" cy="1203722"/>
          </a:xfrm>
          <a:prstGeom prst="roundRect">
            <a:avLst>
              <a:gd name="adj" fmla="val 5064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652651" y="3747572"/>
            <a:ext cx="26753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elementi consecutivi in array di int e di double.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Indirizzi e Memoria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Mappa della memoria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987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Tipo, indirizzo e byte dei dati di una scheda studente e memoria per 1000 schede.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Memoria del datalogger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987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Scelta dei tipi per registrare più giorni di misure meteo in 32 KB.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45764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59789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Lettura con scanf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95828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Modulo di iscrizione a un torneo: perché scanf vuole gli indirizzi.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45764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59789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Salvataggio della partita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95828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Dimensione del salvataggio e slot disponibili, livelli in int o in char.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726061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86630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Trasferimento tra tessere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22669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Stesso valore o stessa variabile: il confronto degli indirizzi.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Dichiarazione e Dereferenziazione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sull'uso dei puntatori.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495637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783834"/>
            <a:ext cx="338654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010-dichiarazione-e-uso.c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5" y="3422352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3533160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leggere e scrivere tramite un indirizzo.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4275634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36582" y="4386441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 *p, p = &amp;x, *p in lettura e scrittura.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495637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504121" y="1783834"/>
            <a:ext cx="318335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020-piu-puntatori-stessa-variabile.c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04121" y="3422352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31118" y="3533160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due casse che vendono per la stessa sala.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04121" y="4275634"/>
            <a:ext cx="3183354" cy="949722"/>
          </a:xfrm>
          <a:prstGeom prst="roundRect">
            <a:avLst>
              <a:gd name="adj" fmla="val 6419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31118" y="4386441"/>
            <a:ext cx="292936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copia di puntatori, cambio di variabile, copia del valore.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495637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98657" y="1783834"/>
            <a:ext cx="338654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030-puntatore-null.c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98657" y="3422352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25654" y="3533160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codice di una bevanda inesistente.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98657" y="4275634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25654" y="4386441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NULL come "nessuna selezione" e controllo.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i Puntatori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Termostato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Tasti + e − che agiscono sulla zona selezionata.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Giocatore di turno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Punteggio e nome del giocatore di turno tramite puntatori.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20880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3490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Salvadanaio attivo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70944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Versamenti e prelievi sull'elemento selezionato di un array.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20880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3490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Riordino delle scorte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70944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alla scorta più bassa di un distributore automatico.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477220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61746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Record della gara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977858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al miglior tempo, NULL se nessuno, record aggiornato.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Errori e Puntatori Sicuri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sull'uso corretto dei puntatori.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486819"/>
          </a:xfrm>
          <a:prstGeom prst="roundRect">
            <a:avLst>
              <a:gd name="adj" fmla="val 460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783834"/>
            <a:ext cx="318335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010-non-inizializzato-e-null.c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5" y="2377083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2487890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tornelli con badge non letti.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204964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36582" y="3315772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inizializzazione e controllo di NULL nelle funzioni.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486819"/>
          </a:xfrm>
          <a:prstGeom prst="roundRect">
            <a:avLst>
              <a:gd name="adj" fmla="val 460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504121" y="1783834"/>
            <a:ext cx="338654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020-tipi-dei-puntatori.c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04121" y="2128242"/>
            <a:ext cx="3183354" cy="452041"/>
          </a:xfrm>
          <a:prstGeom prst="roundRect">
            <a:avLst>
              <a:gd name="adj" fmla="val 13485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31118" y="2239050"/>
            <a:ext cx="305635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che cosa legge *p.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04121" y="2707283"/>
            <a:ext cx="3183354" cy="949722"/>
          </a:xfrm>
          <a:prstGeom prst="roundRect">
            <a:avLst>
              <a:gd name="adj" fmla="val 6419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31118" y="2818090"/>
            <a:ext cx="292936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sizeof(*p), tipi incompatibili, copia di valori tra tipi.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486819"/>
          </a:xfrm>
          <a:prstGeom prst="roundRect">
            <a:avLst>
              <a:gd name="adj" fmla="val 460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98657" y="1783834"/>
            <a:ext cx="338654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030-puntatori-const.c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98657" y="2128242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25654" y="2239050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proteggere dati da modifiche.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98657" y="2956123"/>
            <a:ext cx="3183354" cy="700881"/>
          </a:xfrm>
          <a:prstGeom prst="roundRect">
            <a:avLst>
              <a:gd name="adj" fmla="val 8697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25654" y="3066931"/>
            <a:ext cx="29293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const int *, int *const, parametri const.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sui Puntatori Sicuri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Configurazione in sola lettura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Limiti di una cassa audio passati come const int *.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Statistiche facoltative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987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Parametri OUT facoltativi: NULL per i risultati non richiesti.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45764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59789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Correzione degli errori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95828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quattro errori tipici riconosciuti e corretti nel programma di una palestra.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45764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59789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Selezione sicura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95828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Impostazioni di una lavatrice con puntatori e limiti controllati.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726061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86630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Limiti di sicurezza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22669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Pressa industriale: puntatore costante al sensore e soglie di sola lettura.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2026-10-11T15:47:58Z</dcterms:created>
  <dcterms:modified xsi:type="dcterms:W3CDTF">2026-10-11T15:47:58Z</dcterms:modified>
</cp:coreProperties>
</file>