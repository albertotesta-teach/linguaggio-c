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1.png"/><Relationship Id="rId4" Type="http://schemas.openxmlformats.org/officeDocument/2006/relationships/image" Target="../media/image-16-2.svg"/><Relationship Id="rId5" Type="http://schemas.openxmlformats.org/officeDocument/2006/relationships/image" Target="../media/image-16-1.png"/><Relationship Id="rId6" Type="http://schemas.openxmlformats.org/officeDocument/2006/relationships/image" Target="../media/image-16-2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7.png"/><Relationship Id="rId10" Type="http://schemas.openxmlformats.org/officeDocument/2006/relationships/image" Target="../media/image-16-8.svg"/><Relationship Id="rId11" Type="http://schemas.openxmlformats.org/officeDocument/2006/relationships/image" Target="../media/image-1-2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1.png"/><Relationship Id="rId4" Type="http://schemas.openxmlformats.org/officeDocument/2006/relationships/image" Target="../media/image-18-2.svg"/><Relationship Id="rId5" Type="http://schemas.openxmlformats.org/officeDocument/2006/relationships/image" Target="../media/image-18-1.png"/><Relationship Id="rId6" Type="http://schemas.openxmlformats.org/officeDocument/2006/relationships/image" Target="../media/image-18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1.png"/><Relationship Id="rId4" Type="http://schemas.openxmlformats.org/officeDocument/2006/relationships/image" Target="../media/image-20-2.svg"/><Relationship Id="rId5" Type="http://schemas.openxmlformats.org/officeDocument/2006/relationships/image" Target="../media/image-20-1.png"/><Relationship Id="rId6" Type="http://schemas.openxmlformats.org/officeDocument/2006/relationships/image" Target="../media/image-20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1.png"/><Relationship Id="rId4" Type="http://schemas.openxmlformats.org/officeDocument/2006/relationships/image" Target="../media/image-22-2.svg"/><Relationship Id="rId5" Type="http://schemas.openxmlformats.org/officeDocument/2006/relationships/image" Target="../media/image-22-1.png"/><Relationship Id="rId6" Type="http://schemas.openxmlformats.org/officeDocument/2006/relationships/image" Target="../media/image-22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1.png"/><Relationship Id="rId4" Type="http://schemas.openxmlformats.org/officeDocument/2006/relationships/image" Target="../media/image-24-2.svg"/><Relationship Id="rId5" Type="http://schemas.openxmlformats.org/officeDocument/2006/relationships/image" Target="../media/image-24-1.png"/><Relationship Id="rId6" Type="http://schemas.openxmlformats.org/officeDocument/2006/relationships/image" Target="../media/image-24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1.png"/><Relationship Id="rId4" Type="http://schemas.openxmlformats.org/officeDocument/2006/relationships/image" Target="../media/image-26-2.svg"/><Relationship Id="rId5" Type="http://schemas.openxmlformats.org/officeDocument/2006/relationships/image" Target="../media/image-26-1.png"/><Relationship Id="rId6" Type="http://schemas.openxmlformats.org/officeDocument/2006/relationships/image" Target="../media/image-26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07126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Gli Array Monodimensionali in C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75644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Dichiarazione, accesso, operazioni, funzioni e array a tappo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206577"/>
            <a:ext cx="1219566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4CB6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0691" y="4259485"/>
            <a:ext cx="163071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CB6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3688" y="4206577"/>
            <a:ext cx="1358271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4CB6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62905" y="4259485"/>
            <a:ext cx="176942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CB6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STRUTTURE DATI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04606" y="4206577"/>
            <a:ext cx="1505508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4CB6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03823" y="4259485"/>
            <a:ext cx="191666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CB6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PROGRAMMAZIONE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Cos'è un Array Monodimensionale?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294011"/>
            <a:ext cx="5470785" cy="3299222"/>
          </a:xfrm>
          <a:prstGeom prst="roundRect">
            <a:avLst>
              <a:gd name="adj" fmla="val 231"/>
            </a:avLst>
          </a:prstGeom>
          <a:solidFill>
            <a:srgbClr val="4CB655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1477252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Definizione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1883590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array monodimensionale è una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sequenza di variabili dello stesso tipo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memorizzate in posizioni di memoria contigue. Si dichiara con: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7710" y="2862957"/>
            <a:ext cx="5140196" cy="595213"/>
          </a:xfrm>
          <a:prstGeom prst="roundRect">
            <a:avLst>
              <a:gd name="adj" fmla="val 1280"/>
            </a:avLst>
          </a:prstGeom>
          <a:solidFill>
            <a:srgbClr val="3FA948"/>
          </a:solidFill>
          <a:ln/>
        </p:spPr>
      </p:sp>
      <p:sp>
        <p:nvSpPr>
          <p:cNvPr id="7" name="Text 5"/>
          <p:cNvSpPr/>
          <p:nvPr/>
        </p:nvSpPr>
        <p:spPr>
          <a:xfrm>
            <a:off x="906142" y="3028255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voti[5];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710" y="3644722"/>
            <a:ext cx="5140196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Gli indici validi vanno da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dimensione−1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Ogni cella occupa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sizeof(tipo)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byte e le celle sono fisicamente adiacenti in memoria.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147725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Schema visivo a celle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3904" y="1903809"/>
          <a:ext cx="5232666" cy="914400"/>
        </p:xfrm>
        <a:graphic>
          <a:graphicData uri="http://schemas.openxmlformats.org/drawingml/2006/table">
            <a:tbl>
              <a:tblPr/>
              <a:tblGrid>
                <a:gridCol w="889583"/>
                <a:gridCol w="889583"/>
                <a:gridCol w="889583"/>
                <a:gridCol w="889583"/>
                <a:gridCol w="837167"/>
                <a:gridCol w="837167"/>
              </a:tblGrid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[0]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[1]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[2]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[3]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[4]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9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303904" y="3054569"/>
            <a:ext cx="5232666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Accedere 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voti[2]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restituisce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Tentare di accedere 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voti[5]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provoca un comportamento indefinito: il linguaggio C non esegue nessun controllo automatico sui limiti.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03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Dichiarazione e Inizializzazione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60652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Esistono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cinque modi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principali per dichiarare e inizializzare un array in C: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1463873"/>
            <a:ext cx="2637863" cy="1604665"/>
          </a:xfrm>
          <a:prstGeom prst="roundRect">
            <a:avLst>
              <a:gd name="adj" fmla="val 475"/>
            </a:avLst>
          </a:prstGeom>
          <a:solidFill>
            <a:srgbClr val="FFFAFA"/>
          </a:solidFill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6510" dir="2700000">
              <a:srgbClr val="c1d6c3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2780" y="1615182"/>
            <a:ext cx="23352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Lista completa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780" y="1940917"/>
            <a:ext cx="2335253" cy="476250"/>
          </a:xfrm>
          <a:prstGeom prst="roundRect">
            <a:avLst>
              <a:gd name="adj" fmla="val 1600"/>
            </a:avLst>
          </a:prstGeom>
          <a:solidFill>
            <a:srgbClr val="F2EDED"/>
          </a:solidFill>
          <a:ln/>
        </p:spPr>
      </p:sp>
      <p:sp>
        <p:nvSpPr>
          <p:cNvPr id="7" name="Text 5"/>
          <p:cNvSpPr/>
          <p:nvPr/>
        </p:nvSpPr>
        <p:spPr>
          <a:xfrm>
            <a:off x="971526" y="2073176"/>
            <a:ext cx="201776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a[3] = {10, 20, 30};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2780" y="2536230"/>
            <a:ext cx="23352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Tutti i valori specificati esplicitamente.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05102" y="1463873"/>
            <a:ext cx="2637863" cy="1604665"/>
          </a:xfrm>
          <a:prstGeom prst="roundRect">
            <a:avLst>
              <a:gd name="adj" fmla="val 475"/>
            </a:avLst>
          </a:prstGeom>
          <a:solidFill>
            <a:srgbClr val="FFFAFA"/>
          </a:solidFill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6510" dir="2700000">
              <a:srgbClr val="c1d6c3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56407" y="1615182"/>
            <a:ext cx="23352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Dimensione dedotta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56407" y="1940917"/>
            <a:ext cx="2335253" cy="476250"/>
          </a:xfrm>
          <a:prstGeom prst="roundRect">
            <a:avLst>
              <a:gd name="adj" fmla="val 1600"/>
            </a:avLst>
          </a:prstGeom>
          <a:solidFill>
            <a:srgbClr val="F2EDED"/>
          </a:solidFill>
          <a:ln/>
        </p:spPr>
      </p:sp>
      <p:sp>
        <p:nvSpPr>
          <p:cNvPr id="12" name="Text 10"/>
          <p:cNvSpPr/>
          <p:nvPr/>
        </p:nvSpPr>
        <p:spPr>
          <a:xfrm>
            <a:off x="3715153" y="2073176"/>
            <a:ext cx="201776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b[] = {10, 20, 30};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56407" y="2536230"/>
            <a:ext cx="23352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compilatore conta gli elementi.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48730" y="1463873"/>
            <a:ext cx="2637863" cy="1604665"/>
          </a:xfrm>
          <a:prstGeom prst="roundRect">
            <a:avLst>
              <a:gd name="adj" fmla="val 475"/>
            </a:avLst>
          </a:prstGeom>
          <a:solidFill>
            <a:srgbClr val="FFFAFA"/>
          </a:solidFill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6510" dir="2700000">
              <a:srgbClr val="c1d6c3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0035" y="1615182"/>
            <a:ext cx="23352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Lista parziale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0035" y="1940917"/>
            <a:ext cx="2335253" cy="476250"/>
          </a:xfrm>
          <a:prstGeom prst="roundRect">
            <a:avLst>
              <a:gd name="adj" fmla="val 1600"/>
            </a:avLst>
          </a:prstGeom>
          <a:solidFill>
            <a:srgbClr val="F2EDED"/>
          </a:solidFill>
          <a:ln/>
        </p:spPr>
      </p:sp>
      <p:sp>
        <p:nvSpPr>
          <p:cNvPr id="17" name="Text 15"/>
          <p:cNvSpPr/>
          <p:nvPr/>
        </p:nvSpPr>
        <p:spPr>
          <a:xfrm>
            <a:off x="6458781" y="2073176"/>
            <a:ext cx="201776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c[10] = {1, 2, 3};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0035" y="2536230"/>
            <a:ext cx="23352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rimanenti 7 elementi vengono azzerati automaticamente a 0.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92357" y="1463873"/>
            <a:ext cx="2637863" cy="1604665"/>
          </a:xfrm>
          <a:prstGeom prst="roundRect">
            <a:avLst>
              <a:gd name="adj" fmla="val 475"/>
            </a:avLst>
          </a:prstGeom>
          <a:solidFill>
            <a:srgbClr val="FFFAFA"/>
          </a:solidFill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6510" dir="2700000">
              <a:srgbClr val="c1d6c3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43662" y="1615182"/>
            <a:ext cx="23352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 – Tutto a zero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43662" y="1940917"/>
            <a:ext cx="2335253" cy="476250"/>
          </a:xfrm>
          <a:prstGeom prst="roundRect">
            <a:avLst>
              <a:gd name="adj" fmla="val 160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9202408" y="2073176"/>
            <a:ext cx="201776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d[8] = {0};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43662" y="2536230"/>
            <a:ext cx="23352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Modo rapido per azzerare l'intero array.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1475" y="3174305"/>
            <a:ext cx="10868745" cy="1625898"/>
          </a:xfrm>
          <a:prstGeom prst="roundRect">
            <a:avLst>
              <a:gd name="adj" fmla="val 469"/>
            </a:avLst>
          </a:prstGeom>
          <a:solidFill>
            <a:srgbClr val="FFFAFA"/>
          </a:solidFill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6510" dir="2700000">
              <a:srgbClr val="c1d6c3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2780" y="3325614"/>
            <a:ext cx="105661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 – Costante simbolica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2780" y="3651349"/>
            <a:ext cx="10566136" cy="687983"/>
          </a:xfrm>
          <a:prstGeom prst="roundRect">
            <a:avLst>
              <a:gd name="adj" fmla="val 1108"/>
            </a:avLst>
          </a:prstGeom>
          <a:solidFill>
            <a:srgbClr val="F2EDED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26" y="3783608"/>
            <a:ext cx="10248644" cy="423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N 5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e[N] = {...};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2780" y="4458395"/>
            <a:ext cx="105661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Rende la dimensione facile da modificare ovunque.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1475" y="4925607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Schema per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c[10] = {1, 2, 3}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le prime 3 celle ricevono i valori espliciti, le restanti 7 vengono azzerate automaticamente dal compilatore.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5228828"/>
          <a:ext cx="10868745" cy="914400"/>
        </p:xfrm>
        <a:graphic>
          <a:graphicData uri="http://schemas.openxmlformats.org/drawingml/2006/table">
            <a:tbl>
              <a:tblPr/>
              <a:tblGrid>
                <a:gridCol w="1383539"/>
                <a:gridCol w="948848"/>
                <a:gridCol w="948848"/>
                <a:gridCol w="948848"/>
                <a:gridCol w="948848"/>
                <a:gridCol w="948848"/>
                <a:gridCol w="948848"/>
                <a:gridCol w="948848"/>
                <a:gridCol w="947756"/>
                <a:gridCol w="947756"/>
                <a:gridCol w="947756"/>
              </a:tblGrid>
              <a:tr h="330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[0]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[1]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[2]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[3]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[4]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[5]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[6]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[7]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[8]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[9]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30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16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Dichiarazione Senza Inizializzazione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54321" y="1195288"/>
            <a:ext cx="5467114" cy="3041650"/>
          </a:xfrm>
          <a:prstGeom prst="roundRect">
            <a:avLst>
              <a:gd name="adj" fmla="val 251"/>
            </a:avLst>
          </a:prstGeom>
          <a:solidFill>
            <a:srgbClr val="4CB655"/>
          </a:solidFill>
          <a:ln/>
        </p:spPr>
      </p:sp>
      <p:sp>
        <p:nvSpPr>
          <p:cNvPr id="4" name="Text 2"/>
          <p:cNvSpPr/>
          <p:nvPr/>
        </p:nvSpPr>
        <p:spPr>
          <a:xfrm>
            <a:off x="703146" y="1344112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Cosa succede in memoria?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03146" y="1699408"/>
            <a:ext cx="516946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Quando si dichiara un array specificando solo la dimensione, come nell'esempio: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03146" y="2298799"/>
            <a:ext cx="5169465" cy="535781"/>
          </a:xfrm>
          <a:prstGeom prst="roundRect">
            <a:avLst>
              <a:gd name="adj" fmla="val 1422"/>
            </a:avLst>
          </a:prstGeom>
          <a:solidFill>
            <a:srgbClr val="3FA948"/>
          </a:solidFill>
          <a:ln/>
        </p:spPr>
      </p:sp>
      <p:sp>
        <p:nvSpPr>
          <p:cNvPr id="7" name="Text 5"/>
          <p:cNvSpPr/>
          <p:nvPr/>
        </p:nvSpPr>
        <p:spPr>
          <a:xfrm>
            <a:off x="881735" y="2447627"/>
            <a:ext cx="542187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v[5];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3146" y="2989054"/>
            <a:ext cx="5169465" cy="1131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compilatore alloca lo spazio necessario in memoria (ad esempio,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 × sizeof(int) = 20 byte contigui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Tuttavia,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NON inizializza i valori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di queste celle. Questo significa che esse conterranno qualsiasi dato si trovasse precedentemente in quelle locazioni di memoria.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83763" y="1344112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Contenuto delle celle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3763" y="1712416"/>
          <a:ext cx="5252807" cy="914400"/>
        </p:xfrm>
        <a:graphic>
          <a:graphicData uri="http://schemas.openxmlformats.org/drawingml/2006/table">
            <a:tbl>
              <a:tblPr/>
              <a:tblGrid>
                <a:gridCol w="892973"/>
                <a:gridCol w="892973"/>
                <a:gridCol w="892973"/>
                <a:gridCol w="892973"/>
                <a:gridCol w="840457"/>
                <a:gridCol w="840457"/>
              </a:tblGrid>
              <a:tr h="3996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[0]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[1]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[2]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[3]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[4]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???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???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???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???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???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283763" y="2678896"/>
            <a:ext cx="5252807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Questi "valori spazzatura" (</a:t>
            </a:r>
            <a:pPr algn="l" indent="0" marL="0">
              <a:lnSpc>
                <a:spcPct val="127000"/>
              </a:lnSpc>
              <a:buNone/>
            </a:pPr>
            <a:r>
              <a:rPr lang="en-US" sz="1150" i="1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garbage values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sono imprevedibili e dipendono dal contenuto precedente della memoria. Il linguaggio C non effettua alcuna inizializzazione automatica per le variabili locali dichiarate in questo modo.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387652"/>
            <a:ext cx="3547542" cy="20261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5547" y="4555530"/>
            <a:ext cx="3121641" cy="464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Attenzione: Comportamento Indefinito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905547" y="5100836"/>
            <a:ext cx="3121641" cy="1131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Leggere il contenuto di un array non inizializzato porta a un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comportamento indefinito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(undefined behavior), che può causare errori imprevedibili o crash del programma.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004" y="4387652"/>
            <a:ext cx="3547542" cy="20261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3076" y="4555530"/>
            <a:ext cx="312164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Soluzioni Consigliate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573076" y="4868366"/>
            <a:ext cx="3121641" cy="1137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È fondamentale inizializzare sempre gli array prima del loro utilizzo. Puoi farlo con un ciclo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 usando la sintassi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 {0}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al momento della dichiarazione per azzerare tutte le celle.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6534" y="4387652"/>
            <a:ext cx="3547542" cy="202611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40606" y="4555530"/>
            <a:ext cx="312164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Unica Eccezione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240606" y="4868366"/>
            <a:ext cx="3121641" cy="911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variabili globali e quelle dichiarate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sono un'eccezione: vengono automaticamente inizializzate a zero dal compilatore.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Struttura in Memoria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77252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Layout per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v[4]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10159"/>
          <a:ext cx="5232666" cy="914400"/>
        </p:xfrm>
        <a:graphic>
          <a:graphicData uri="http://schemas.openxmlformats.org/drawingml/2006/table">
            <a:tbl>
              <a:tblPr/>
              <a:tblGrid>
                <a:gridCol w="1308191"/>
                <a:gridCol w="994198"/>
                <a:gridCol w="994198"/>
                <a:gridCol w="994198"/>
                <a:gridCol w="941882"/>
              </a:tblGrid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[0]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[1]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[2]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[3]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Offset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+4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+8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+12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3536673"/>
            <a:ext cx="523266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sizeof(int) = 4 byte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ogni elemento occupa 4 byte e le celle si trovano in indirizzi consecutivi.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184844" y="1294011"/>
            <a:ext cx="5470785" cy="3712666"/>
          </a:xfrm>
          <a:prstGeom prst="roundRect">
            <a:avLst>
              <a:gd name="adj" fmla="val 205"/>
            </a:avLst>
          </a:prstGeom>
          <a:solidFill>
            <a:srgbClr val="4CB655"/>
          </a:solidFill>
          <a:ln/>
        </p:spPr>
      </p:sp>
      <p:sp>
        <p:nvSpPr>
          <p:cNvPr id="7" name="Text 4"/>
          <p:cNvSpPr/>
          <p:nvPr/>
        </p:nvSpPr>
        <p:spPr>
          <a:xfrm>
            <a:off x="6350139" y="1477252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Calcoli utili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50139" y="1883590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Numero di elementi: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0139" y="2333724"/>
            <a:ext cx="5140196" cy="595213"/>
          </a:xfrm>
          <a:prstGeom prst="roundRect">
            <a:avLst>
              <a:gd name="adj" fmla="val 1280"/>
            </a:avLst>
          </a:prstGeom>
          <a:solidFill>
            <a:srgbClr val="3FA948"/>
          </a:solidFill>
          <a:ln/>
        </p:spPr>
      </p:sp>
      <p:sp>
        <p:nvSpPr>
          <p:cNvPr id="10" name="Text 7"/>
          <p:cNvSpPr/>
          <p:nvPr/>
        </p:nvSpPr>
        <p:spPr>
          <a:xfrm>
            <a:off x="6548571" y="2499023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sizeof(arr) / sizeof(arr[0])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50139" y="3114973"/>
            <a:ext cx="5140196" cy="1742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Questo calcolo funziona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solo nel blocco dove l'array è dichiarato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Attenzione nelle funzioni: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passando un array a una funzione,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sizeof(arr)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restituisce la dimensione del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puntatore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(tipicamente 8 byte), non dell'intero array. Bisogna quindi passare la dimensione come parametro separato.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053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Accesso e Scorrimento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20838"/>
            <a:ext cx="1147833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Schema di accesso per indice su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v[5] = {3, 7, 1, 9, 4}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38015"/>
          <a:ext cx="10868745" cy="914400"/>
        </p:xfrm>
        <a:graphic>
          <a:graphicData uri="http://schemas.openxmlformats.org/drawingml/2006/table">
            <a:tbl>
              <a:tblPr/>
              <a:tblGrid>
                <a:gridCol w="2173789"/>
                <a:gridCol w="1738991"/>
                <a:gridCol w="1738991"/>
                <a:gridCol w="1738991"/>
                <a:gridCol w="1738991"/>
                <a:gridCol w="1738991"/>
              </a:tblGrid>
              <a:tr h="436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[0]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[1]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[2]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[3]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[4]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36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9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2959536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Operazioni di lettura e scrittura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1475" y="3336330"/>
            <a:ext cx="5242687" cy="858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Lettura: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v[2];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→ x vale 1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Scrittura: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v[2] = 99;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→ la cella [2] diventa 99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Indice espressione: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 = v[i + 1];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1475" y="4362489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Ciclo for standard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61475" y="4757936"/>
            <a:ext cx="5242687" cy="565547"/>
          </a:xfrm>
          <a:prstGeom prst="roundRect">
            <a:avLst>
              <a:gd name="adj" fmla="val 1347"/>
            </a:avLst>
          </a:prstGeom>
          <a:solidFill>
            <a:srgbClr val="F2EDED"/>
          </a:solidFill>
          <a:ln/>
        </p:spPr>
      </p:sp>
      <p:sp>
        <p:nvSpPr>
          <p:cNvPr id="9" name="Text 6"/>
          <p:cNvSpPr/>
          <p:nvPr/>
        </p:nvSpPr>
        <p:spPr>
          <a:xfrm>
            <a:off x="849986" y="4914999"/>
            <a:ext cx="547525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N; i++) { ... }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1475" y="5493582"/>
            <a:ext cx="5242687" cy="496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Varianti: ordine inverso (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= N-1; i &gt;= 0; i--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), passo 2 (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+= 2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), scorrimento parziale.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80677" y="2792313"/>
            <a:ext cx="5469098" cy="3330079"/>
          </a:xfrm>
          <a:prstGeom prst="roundRect">
            <a:avLst>
              <a:gd name="adj" fmla="val 229"/>
            </a:avLst>
          </a:prstGeom>
          <a:solidFill>
            <a:srgbClr val="4CB655"/>
          </a:solidFill>
          <a:ln/>
        </p:spPr>
      </p:sp>
      <p:sp>
        <p:nvSpPr>
          <p:cNvPr id="12" name="Text 9"/>
          <p:cNvSpPr/>
          <p:nvPr/>
        </p:nvSpPr>
        <p:spPr>
          <a:xfrm>
            <a:off x="6337737" y="2959536"/>
            <a:ext cx="5154980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Errore tipico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37737" y="3351251"/>
            <a:ext cx="5154980" cy="1232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L'accesso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fuori range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ad esempio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v[5]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su un array di 5 elementi — provoca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comportamento indefinito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Il linguaggio C non esegue nessun controllo automatico a runtime: il programma può crashare, restituire valori casuali o sembrare funzionare correttamente.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053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Lettura da Tastiera e Validazione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11227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Lettura base con </a:t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1806674"/>
            <a:ext cx="5242687" cy="1068388"/>
          </a:xfrm>
          <a:prstGeom prst="roundRect">
            <a:avLst>
              <a:gd name="adj" fmla="val 713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49986" y="1963738"/>
            <a:ext cx="486566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N; i++) {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scanf("%d", &amp;arr[i]);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3045161"/>
            <a:ext cx="5242687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L'operatore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è obbligatorio: passa l'indirizzo della cella all'array dove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scriverà il valore.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3713202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Validazione con flag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1475" y="4108648"/>
            <a:ext cx="5242687" cy="2074069"/>
          </a:xfrm>
          <a:prstGeom prst="roundRect">
            <a:avLst>
              <a:gd name="adj" fmla="val 367"/>
            </a:avLst>
          </a:prstGeom>
          <a:solidFill>
            <a:srgbClr val="F2EDED"/>
          </a:solidFill>
          <a:ln/>
        </p:spPr>
      </p:sp>
      <p:sp>
        <p:nvSpPr>
          <p:cNvPr id="9" name="Text 7"/>
          <p:cNvSpPr/>
          <p:nvPr/>
        </p:nvSpPr>
        <p:spPr>
          <a:xfrm>
            <a:off x="849986" y="4265712"/>
            <a:ext cx="4865665" cy="1759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(!valido) {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scanf("%d", &amp;arr[i]);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(arr[i] &gt;= 1 &amp;&amp; arr[i] &lt;= 10)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valido = 1;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printf("Valore non valido.\n");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0677" y="1244005"/>
            <a:ext cx="5469098" cy="5106591"/>
          </a:xfrm>
          <a:prstGeom prst="roundRect">
            <a:avLst>
              <a:gd name="adj" fmla="val 149"/>
            </a:avLst>
          </a:prstGeom>
          <a:solidFill>
            <a:srgbClr val="4CB655"/>
          </a:solidFill>
          <a:ln/>
        </p:spPr>
      </p:sp>
      <p:sp>
        <p:nvSpPr>
          <p:cNvPr id="11" name="Text 9"/>
          <p:cNvSpPr/>
          <p:nvPr/>
        </p:nvSpPr>
        <p:spPr>
          <a:xfrm>
            <a:off x="6337737" y="1411227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Regola del flag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37737" y="1790242"/>
            <a:ext cx="5154980" cy="993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condizione di uscita dal ciclo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 gestisce tramite una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variabile flag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(es.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valido = 0;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Non usare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uscire dal ciclo: il flag rende il codice più leggibile, facilita il debug e segue le buone pratiche didattiche della programmazione strutturata.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1943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Operazioni Fondamentali: Somma e Media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1810742"/>
            <a:ext cx="3065783" cy="2633861"/>
          </a:xfrm>
          <a:prstGeom prst="roundRect">
            <a:avLst>
              <a:gd name="adj" fmla="val 28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33119" y="1982391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Pattern accumulatore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33119" y="2426891"/>
            <a:ext cx="2722494" cy="1124446"/>
          </a:xfrm>
          <a:prstGeom prst="roundRect">
            <a:avLst>
              <a:gd name="adj" fmla="val 678"/>
            </a:avLst>
          </a:prstGeom>
          <a:solidFill>
            <a:srgbClr val="F2EDED"/>
          </a:solidFill>
          <a:ln/>
        </p:spPr>
      </p:sp>
      <p:sp>
        <p:nvSpPr>
          <p:cNvPr id="7" name="Text 4"/>
          <p:cNvSpPr/>
          <p:nvPr/>
        </p:nvSpPr>
        <p:spPr>
          <a:xfrm>
            <a:off x="1031552" y="2592189"/>
            <a:ext cx="232562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somma = 0;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N; i++)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somma += arr[i];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3119" y="3737372"/>
            <a:ext cx="272249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Inizializzare sempre a 0 prima del ciclo.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92552" y="1810742"/>
            <a:ext cx="3065783" cy="2633861"/>
          </a:xfrm>
          <a:prstGeom prst="roundRect">
            <a:avLst>
              <a:gd name="adj" fmla="val 28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064196" y="1982391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Calcolo della media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64196" y="2426891"/>
            <a:ext cx="2722494" cy="595213"/>
          </a:xfrm>
          <a:prstGeom prst="roundRect">
            <a:avLst>
              <a:gd name="adj" fmla="val 1280"/>
            </a:avLst>
          </a:prstGeom>
          <a:solidFill>
            <a:srgbClr val="F2EDED"/>
          </a:solidFill>
          <a:ln/>
        </p:spPr>
      </p:sp>
      <p:sp>
        <p:nvSpPr>
          <p:cNvPr id="12" name="Text 9"/>
          <p:cNvSpPr/>
          <p:nvPr/>
        </p:nvSpPr>
        <p:spPr>
          <a:xfrm>
            <a:off x="4262629" y="2592189"/>
            <a:ext cx="23256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(double)somma / N;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64196" y="3208139"/>
            <a:ext cx="2722494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cast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(double)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è indispensabile: senza di esso la divisione sarebbe intera e si perderebbe la parte decimale.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4609902"/>
            <a:ext cx="6296860" cy="1623219"/>
          </a:xfrm>
          <a:prstGeom prst="roundRect">
            <a:avLst>
              <a:gd name="adj" fmla="val 46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3119" y="4781550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Varianti utili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3119" y="5139234"/>
            <a:ext cx="5953571" cy="922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Somma solo dei positivi: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(arr[i] &gt; 0)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Somma per posizioni pari: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(i % 2 == 0)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Somma cumulativa: stampa l'accumulatore a ogni passo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Ricerca di Minimo, Massimo e Valore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77177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Schema "ipotesi + smentita" su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v[6] = {14, 7, 23, 5, 18, 9}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33662"/>
          <a:ext cx="10868745" cy="914400"/>
        </p:xfrm>
        <a:graphic>
          <a:graphicData uri="http://schemas.openxmlformats.org/drawingml/2006/table">
            <a:tbl>
              <a:tblPr/>
              <a:tblGrid>
                <a:gridCol w="2173749"/>
                <a:gridCol w="1412942"/>
                <a:gridCol w="1412942"/>
                <a:gridCol w="1412942"/>
                <a:gridCol w="1521614"/>
                <a:gridCol w="1412942"/>
                <a:gridCol w="1521614"/>
              </a:tblGrid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[0]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[1]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[2]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[3]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[4]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[5]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14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23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18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9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316714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Pattern "ipotesi + smentita"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3572966"/>
            <a:ext cx="5232666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Inizializzare con il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primo elemento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(indice 0)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Scorrere dal secondo elemento (indice 1)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si trova un valore migliore, aggiornare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Salvare l'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indice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(non solo il valore): permette di risalire alla posizione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84844" y="2983905"/>
            <a:ext cx="5470785" cy="3133923"/>
          </a:xfrm>
          <a:prstGeom prst="roundRect">
            <a:avLst>
              <a:gd name="adj" fmla="val 243"/>
            </a:avLst>
          </a:prstGeom>
          <a:solidFill>
            <a:srgbClr val="4CB655"/>
          </a:solidFill>
          <a:ln/>
        </p:spPr>
      </p:sp>
      <p:sp>
        <p:nvSpPr>
          <p:cNvPr id="8" name="Text 5"/>
          <p:cNvSpPr/>
          <p:nvPr/>
        </p:nvSpPr>
        <p:spPr>
          <a:xfrm>
            <a:off x="6350139" y="316714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Ricerca con flag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50139" y="3593703"/>
            <a:ext cx="5140196" cy="1389063"/>
          </a:xfrm>
          <a:prstGeom prst="roundRect">
            <a:avLst>
              <a:gd name="adj" fmla="val 549"/>
            </a:avLst>
          </a:prstGeom>
          <a:solidFill>
            <a:srgbClr val="3FA948"/>
          </a:solidFill>
          <a:ln/>
        </p:spPr>
      </p:sp>
      <p:sp>
        <p:nvSpPr>
          <p:cNvPr id="10" name="Text 7"/>
          <p:cNvSpPr/>
          <p:nvPr/>
        </p:nvSpPr>
        <p:spPr>
          <a:xfrm>
            <a:off x="6548571" y="3759002"/>
            <a:ext cx="474333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(arr[i] != cercato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&amp;&amp; !trovato) {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50139" y="5169318"/>
            <a:ext cx="5140196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Nessun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usare il flag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trovato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Per il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conteggio delle occorrenze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serve invece uno scorrimento completo senza uscita anticipata.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053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Trasformazioni In-Place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20838"/>
            <a:ext cx="1147833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Schema inversione con swap su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v[6] = {A, B, C, D, E, F}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38015"/>
          <a:ext cx="10868745" cy="914400"/>
        </p:xfrm>
        <a:graphic>
          <a:graphicData uri="http://schemas.openxmlformats.org/drawingml/2006/table">
            <a:tbl>
              <a:tblPr/>
              <a:tblGrid>
                <a:gridCol w="1630302"/>
                <a:gridCol w="1521628"/>
                <a:gridCol w="1521628"/>
                <a:gridCol w="1521628"/>
                <a:gridCol w="1521628"/>
                <a:gridCol w="1630302"/>
                <a:gridCol w="1521628"/>
              </a:tblGrid>
              <a:tr h="4368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[0]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[1]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[2]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[3]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[4]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[5]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36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Prima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36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Dopo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3396396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Regole dello swap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1475" y="3773190"/>
            <a:ext cx="5242687" cy="1045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ciclo arriva solo a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N/2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ogni coppia viene scambiata una volta sola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swap richiede una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variabile d'appoggio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non perdere un valore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1475" y="4986635"/>
            <a:ext cx="5242687" cy="1068388"/>
          </a:xfrm>
          <a:prstGeom prst="roundRect">
            <a:avLst>
              <a:gd name="adj" fmla="val 713"/>
            </a:avLst>
          </a:prstGeom>
          <a:solidFill>
            <a:srgbClr val="F2EDED"/>
          </a:solidFill>
          <a:ln/>
        </p:spPr>
      </p:sp>
      <p:sp>
        <p:nvSpPr>
          <p:cNvPr id="8" name="Text 5"/>
          <p:cNvSpPr/>
          <p:nvPr/>
        </p:nvSpPr>
        <p:spPr>
          <a:xfrm>
            <a:off x="849986" y="5143698"/>
            <a:ext cx="486566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 v[i];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v[i] = v[N-1-i];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v[N-1-i] = temp;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80677" y="3229173"/>
            <a:ext cx="5469098" cy="2993727"/>
          </a:xfrm>
          <a:prstGeom prst="roundRect">
            <a:avLst>
              <a:gd name="adj" fmla="val 255"/>
            </a:avLst>
          </a:prstGeom>
          <a:solidFill>
            <a:srgbClr val="4CB655"/>
          </a:solidFill>
          <a:ln/>
        </p:spPr>
      </p:sp>
      <p:sp>
        <p:nvSpPr>
          <p:cNvPr id="10" name="Text 7"/>
          <p:cNvSpPr/>
          <p:nvPr/>
        </p:nvSpPr>
        <p:spPr>
          <a:xfrm>
            <a:off x="6337737" y="3396396"/>
            <a:ext cx="5154980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Copia di array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37737" y="3788111"/>
            <a:ext cx="5154980" cy="496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C è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vietato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scrivere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arr2 = arr1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La copia deve avvenire elemento per elemento con un ciclo: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37737" y="4450457"/>
            <a:ext cx="5154980" cy="816967"/>
          </a:xfrm>
          <a:prstGeom prst="roundRect">
            <a:avLst>
              <a:gd name="adj" fmla="val 933"/>
            </a:avLst>
          </a:prstGeom>
          <a:solidFill>
            <a:srgbClr val="3FA948"/>
          </a:solidFill>
          <a:ln/>
        </p:spPr>
      </p:sp>
      <p:sp>
        <p:nvSpPr>
          <p:cNvPr id="13" name="Text 10"/>
          <p:cNvSpPr/>
          <p:nvPr/>
        </p:nvSpPr>
        <p:spPr>
          <a:xfrm>
            <a:off x="6526248" y="4607520"/>
            <a:ext cx="4777958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N; i++)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arr2[i] = arr1[i];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37737" y="5437523"/>
            <a:ext cx="515498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Altre trasformazioni in-place: valore assoluto, azzeramento selettivo dei negativi, applicazione di formula su ogni elemento.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e Funzioni: Passaggio per Riferimento</a:t>
            </a:r>
            <a:endParaRPr lang="en-US" sz="3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76660"/>
          <a:ext cx="10868745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Scalare (per valore)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Array (per riferimento)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main: x = 5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main: v = [3, 7, 1, 9]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f(x): x_locale = 5 (copia)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f(v): stessa memoria dell'originale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x_locale = 999 → x in main: ancora 5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v[0] = 99 → v in main: [99, 7, 1, 9]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3478411"/>
            <a:ext cx="3512653" cy="1501180"/>
          </a:xfrm>
          <a:prstGeom prst="roundRect">
            <a:avLst>
              <a:gd name="adj" fmla="val 508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33119" y="3650059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→ per riferimento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3119" y="4007743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funzione modifica l'array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originale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Le modifiche sono visibili nel chiamante.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39422" y="3478411"/>
            <a:ext cx="3512752" cy="1501180"/>
          </a:xfrm>
          <a:prstGeom prst="roundRect">
            <a:avLst>
              <a:gd name="adj" fmla="val 508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11066" y="3650059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Dimensione separata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11066" y="4007743"/>
            <a:ext cx="3169464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dimensione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non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viene passata automaticamente: serve un parametro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17468" y="3478411"/>
            <a:ext cx="3512653" cy="1501180"/>
          </a:xfrm>
          <a:prstGeom prst="roundRect">
            <a:avLst>
              <a:gd name="adj" fmla="val 508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89112" y="3650059"/>
            <a:ext cx="31693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Uso di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89112" y="4014093"/>
            <a:ext cx="3169364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arr[]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indica che la funzione non modificherà l'array.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339"/>
            <a:ext cx="10868745" cy="369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Funzioni che Restituiscono Valori Aggregati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074669"/>
            <a:ext cx="11478330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pattern comune: ricevono array + 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scorrono, restituiscono un </a:t>
            </a:r>
            <a:pPr algn="l"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singolo valore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1475" y="1324868"/>
            <a:ext cx="10868745" cy="4398963"/>
          </a:xfrm>
          <a:prstGeom prst="roundRect">
            <a:avLst>
              <a:gd name="adj" fmla="val 173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03255" y="1443370"/>
            <a:ext cx="10585185" cy="4162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somma(const int arr[], int n)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tot = 0;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i++) tot += arr[i];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media(const int arr[], int n)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somma(arr, n) / (double)n;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indice_massimo(const int arr[], int n)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idx = 0;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1; i &lt; n; i++)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(arr[i] &gt; arr[idx]) idx = i;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idx;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cerca(const int arr[], int n, int val)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i++)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(arr[i] == val) return i;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  /* non trovato */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1475" y="5818882"/>
            <a:ext cx="10868745" cy="543818"/>
          </a:xfrm>
          <a:prstGeom prst="roundRect">
            <a:avLst>
              <a:gd name="adj" fmla="val 1401"/>
            </a:avLst>
          </a:prstGeom>
          <a:solidFill>
            <a:srgbClr val="DBF0D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641" y="5937250"/>
            <a:ext cx="147733" cy="1181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5541" y="5939860"/>
            <a:ext cx="10366513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Restituire l'indice, non il valore: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permette al chiamante di accedere sia alla posizione che al dato. Il valore 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sentinella di "non trovato" è una convenzione consolidata in C.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053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a Tappo: Il Concetto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11227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a dimensione fissa (n=5)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06674"/>
          <a:ext cx="5242687" cy="914400"/>
        </p:xfrm>
        <a:graphic>
          <a:graphicData uri="http://schemas.openxmlformats.org/drawingml/2006/table">
            <a:tbl>
              <a:tblPr/>
              <a:tblGrid>
                <a:gridCol w="1048498"/>
                <a:gridCol w="838838"/>
                <a:gridCol w="838838"/>
                <a:gridCol w="838838"/>
                <a:gridCol w="838838"/>
                <a:gridCol w="838838"/>
              </a:tblGrid>
              <a:tr h="436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[0]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[1]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[2]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[3]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[4]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36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20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30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40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50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2860973"/>
            <a:ext cx="5242687" cy="565547"/>
          </a:xfrm>
          <a:prstGeom prst="roundRect">
            <a:avLst>
              <a:gd name="adj" fmla="val 1347"/>
            </a:avLst>
          </a:prstGeom>
          <a:solidFill>
            <a:srgbClr val="F2EDED"/>
          </a:solidFill>
          <a:ln/>
        </p:spPr>
      </p:sp>
      <p:sp>
        <p:nvSpPr>
          <p:cNvPr id="6" name="Text 3"/>
          <p:cNvSpPr/>
          <p:nvPr/>
        </p:nvSpPr>
        <p:spPr>
          <a:xfrm>
            <a:off x="849986" y="3018036"/>
            <a:ext cx="547525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5; i++) { ... }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1475" y="3612395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a tappo (TAPPO = -1)</a:t>
            </a:r>
            <a:endParaRPr lang="en-US" sz="15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007842"/>
          <a:ext cx="5242687" cy="914400"/>
        </p:xfrm>
        <a:graphic>
          <a:graphicData uri="http://schemas.openxmlformats.org/drawingml/2006/table">
            <a:tbl>
              <a:tblPr/>
              <a:tblGrid>
                <a:gridCol w="733964"/>
                <a:gridCol w="629126"/>
                <a:gridCol w="629126"/>
                <a:gridCol w="629126"/>
                <a:gridCol w="629126"/>
                <a:gridCol w="629126"/>
                <a:gridCol w="681545"/>
                <a:gridCol w="681545"/>
              </a:tblGrid>
              <a:tr h="6820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[0]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[1]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[2]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[3]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[4]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[5]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...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6820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20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30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-1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??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??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??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61475" y="5552480"/>
            <a:ext cx="5242687" cy="565547"/>
          </a:xfrm>
          <a:prstGeom prst="roundRect">
            <a:avLst>
              <a:gd name="adj" fmla="val 1347"/>
            </a:avLst>
          </a:prstGeom>
          <a:solidFill>
            <a:srgbClr val="F2EDED"/>
          </a:solidFill>
          <a:ln/>
        </p:spPr>
      </p:sp>
      <p:sp>
        <p:nvSpPr>
          <p:cNvPr id="10" name="Text 6"/>
          <p:cNvSpPr/>
          <p:nvPr/>
        </p:nvSpPr>
        <p:spPr>
          <a:xfrm>
            <a:off x="849986" y="5709543"/>
            <a:ext cx="547525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(arr[i] != -1) { ... }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80677" y="1244005"/>
            <a:ext cx="5469098" cy="5041900"/>
          </a:xfrm>
          <a:prstGeom prst="roundRect">
            <a:avLst>
              <a:gd name="adj" fmla="val 151"/>
            </a:avLst>
          </a:prstGeom>
          <a:solidFill>
            <a:srgbClr val="4CB655"/>
          </a:solidFill>
          <a:ln/>
        </p:spPr>
      </p:sp>
      <p:sp>
        <p:nvSpPr>
          <p:cNvPr id="12" name="Text 8"/>
          <p:cNvSpPr/>
          <p:nvPr/>
        </p:nvSpPr>
        <p:spPr>
          <a:xfrm>
            <a:off x="6337737" y="1411227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Cos'è il tappo?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37737" y="1790242"/>
            <a:ext cx="5154980" cy="741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a tappo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usa un valore speciale detto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sentinella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segnare la fine dei dati utili. Il ciclo si ferma quando incontra il tappo: non serve passare la dimensione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337737" y="2697102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Scelta del tappo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37737" y="3073896"/>
            <a:ext cx="5154980" cy="858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interi non negativi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codici sempre positivi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char → le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stringhe C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!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Operazioni con Array a Tappo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7725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Inserimento in fondo (prima del tappo)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03809"/>
          <a:ext cx="5232666" cy="914400"/>
        </p:xfrm>
        <a:graphic>
          <a:graphicData uri="http://schemas.openxmlformats.org/drawingml/2006/table">
            <a:tbl>
              <a:tblPr/>
              <a:tblGrid>
                <a:gridCol w="1046593"/>
                <a:gridCol w="837215"/>
                <a:gridCol w="837215"/>
                <a:gridCol w="837215"/>
                <a:gridCol w="837215"/>
                <a:gridCol w="837215"/>
              </a:tblGrid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Prima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-1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??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Dopo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-1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3054569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tappo si sposta di una posizione in avanti.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350191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Rimozione per indice (shift)</a:t>
            </a:r>
            <a:endParaRPr lang="en-US" sz="16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928467"/>
          <a:ext cx="5232666" cy="914400"/>
        </p:xfrm>
        <a:graphic>
          <a:graphicData uri="http://schemas.openxmlformats.org/drawingml/2006/table">
            <a:tbl>
              <a:tblPr/>
              <a:tblGrid>
                <a:gridCol w="1046593"/>
                <a:gridCol w="837215"/>
                <a:gridCol w="837215"/>
                <a:gridCol w="837215"/>
                <a:gridCol w="837215"/>
                <a:gridCol w="837215"/>
              </a:tblGrid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Prima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-1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Dopo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-1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??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61475" y="5079227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Rimuovo posizione 1 (valore 20): gli elementi successivi shiftano a sinistra, trascinando con sé il tappo.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184844" y="1294011"/>
            <a:ext cx="5470785" cy="4462760"/>
          </a:xfrm>
          <a:prstGeom prst="roundRect">
            <a:avLst>
              <a:gd name="adj" fmla="val 171"/>
            </a:avLst>
          </a:prstGeom>
          <a:solidFill>
            <a:srgbClr val="4CB655"/>
          </a:solidFill>
          <a:ln/>
        </p:spPr>
      </p:sp>
      <p:sp>
        <p:nvSpPr>
          <p:cNvPr id="10" name="Text 6"/>
          <p:cNvSpPr/>
          <p:nvPr/>
        </p:nvSpPr>
        <p:spPr>
          <a:xfrm>
            <a:off x="6350139" y="1477252"/>
            <a:ext cx="5140196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Controllo della capacità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50139" y="1896290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 di ogni inserimento verificare: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50139" y="2346424"/>
            <a:ext cx="5140196" cy="1389063"/>
          </a:xfrm>
          <a:prstGeom prst="roundRect">
            <a:avLst>
              <a:gd name="adj" fmla="val 549"/>
            </a:avLst>
          </a:prstGeom>
          <a:solidFill>
            <a:srgbClr val="3FA948"/>
          </a:solidFill>
          <a:ln/>
        </p:spPr>
      </p:sp>
      <p:sp>
        <p:nvSpPr>
          <p:cNvPr id="13" name="Text 9"/>
          <p:cNvSpPr/>
          <p:nvPr/>
        </p:nvSpPr>
        <p:spPr>
          <a:xfrm>
            <a:off x="6548571" y="2511723"/>
            <a:ext cx="474333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(pos + 1 &lt; MAX) {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arr[pos] = nuovo_valore;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arr[pos+1] = TAPPO;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350139" y="3922039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L'array deve avere spazio per i dati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più il tappo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Dimenticare questo controllo porta a scrivere fuori dai limiti dell'array.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053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Collegamento con le Stringhe C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20838"/>
            <a:ext cx="1147833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stringa in C è semplicemente un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di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con tappo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38015"/>
          <a:ext cx="10868745" cy="914400"/>
        </p:xfrm>
        <a:graphic>
          <a:graphicData uri="http://schemas.openxmlformats.org/drawingml/2006/table">
            <a:tbl>
              <a:tblPr/>
              <a:tblGrid>
                <a:gridCol w="2173789"/>
                <a:gridCol w="1738991"/>
                <a:gridCol w="1738991"/>
                <a:gridCol w="1738991"/>
                <a:gridCol w="1738991"/>
                <a:gridCol w="1738991"/>
              </a:tblGrid>
              <a:tr h="436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[0]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[1]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[2]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[3]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[4]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431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 s[] = "Ciao"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\0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2798663"/>
            <a:ext cx="10868745" cy="2479477"/>
          </a:xfrm>
          <a:prstGeom prst="roundRect">
            <a:avLst>
              <a:gd name="adj" fmla="val 307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0320" dir="2700000">
              <a:srgbClr val="c1d6c3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7825" y="2805013"/>
            <a:ext cx="5428023" cy="2466777"/>
          </a:xfrm>
          <a:custGeom>
            <a:avLst/>
            <a:gdLst/>
            <a:ahLst/>
            <a:cxnLst/>
            <a:rect l="l" t="t" r="r" b="b"/>
            <a:pathLst>
              <a:path w="5428023" h="2466777">
                <a:moveTo>
                  <a:pt x="6350" y="0"/>
                </a:moveTo>
                <a:lnTo>
                  <a:pt x="5428023" y="0"/>
                </a:lnTo>
                <a:lnTo>
                  <a:pt x="5428023" y="2466777"/>
                </a:lnTo>
                <a:lnTo>
                  <a:pt x="6350" y="2466777"/>
                </a:lnTo>
                <a:arcTo hR="6350" wR="6350" stAng="5400000" swAng="5400000"/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DBF0DD"/>
          </a:solidFill>
          <a:ln/>
        </p:spPr>
      </p:sp>
      <p:sp>
        <p:nvSpPr>
          <p:cNvPr id="7" name="Text 4"/>
          <p:cNvSpPr/>
          <p:nvPr/>
        </p:nvSpPr>
        <p:spPr>
          <a:xfrm>
            <a:off x="824884" y="2962077"/>
            <a:ext cx="511390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int a tappo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4884" y="3375521"/>
            <a:ext cx="5113904" cy="1319808"/>
          </a:xfrm>
          <a:prstGeom prst="roundRect">
            <a:avLst>
              <a:gd name="adj" fmla="val 577"/>
            </a:avLst>
          </a:prstGeom>
          <a:solidFill>
            <a:srgbClr val="F2EDED"/>
          </a:solidFill>
          <a:ln/>
        </p:spPr>
      </p:sp>
      <p:sp>
        <p:nvSpPr>
          <p:cNvPr id="9" name="Text 6"/>
          <p:cNvSpPr/>
          <p:nvPr/>
        </p:nvSpPr>
        <p:spPr>
          <a:xfrm>
            <a:off x="1013395" y="3532584"/>
            <a:ext cx="4736882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(arr[i] != -1) {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elabora arr[i] */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4884" y="4863207"/>
            <a:ext cx="5113904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Tappo: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95848" y="2805013"/>
            <a:ext cx="5428023" cy="2466777"/>
          </a:xfrm>
          <a:custGeom>
            <a:avLst/>
            <a:gdLst/>
            <a:ahLst/>
            <a:cxnLst/>
            <a:rect l="l" t="t" r="r" b="b"/>
            <a:pathLst>
              <a:path w="5428023" h="2466777">
                <a:moveTo>
                  <a:pt x="0" y="0"/>
                </a:moveTo>
                <a:lnTo>
                  <a:pt x="5421673" y="0"/>
                </a:lnTo>
                <a:arcTo hR="6350" wR="6350" stAng="16200000" swAng="5400000"/>
                <a:lnTo>
                  <a:pt x="5428023" y="2460427"/>
                </a:lnTo>
                <a:arcTo hR="6350" wR="6350" stAng="0" swAng="5400000"/>
                <a:lnTo>
                  <a:pt x="0" y="2466777"/>
                </a:lnTo>
                <a:lnTo>
                  <a:pt x="0" y="0"/>
                </a:lnTo>
                <a:close/>
              </a:path>
            </a:pathLst>
          </a:custGeom>
          <a:solidFill>
            <a:srgbClr val="DBF0DD"/>
          </a:solidFill>
          <a:ln/>
        </p:spPr>
      </p:sp>
      <p:sp>
        <p:nvSpPr>
          <p:cNvPr id="12" name="Shape 9"/>
          <p:cNvSpPr/>
          <p:nvPr/>
        </p:nvSpPr>
        <p:spPr>
          <a:xfrm>
            <a:off x="6095848" y="2805013"/>
            <a:ext cx="19050" cy="2466777"/>
          </a:xfrm>
          <a:prstGeom prst="roundRect">
            <a:avLst>
              <a:gd name="adj" fmla="val 39999"/>
            </a:avLst>
          </a:prstGeom>
          <a:solidFill>
            <a:srgbClr val="C1D6C3"/>
          </a:solidFill>
          <a:ln/>
        </p:spPr>
      </p:sp>
      <p:sp>
        <p:nvSpPr>
          <p:cNvPr id="13" name="Text 10"/>
          <p:cNvSpPr/>
          <p:nvPr/>
        </p:nvSpPr>
        <p:spPr>
          <a:xfrm>
            <a:off x="6252907" y="2962077"/>
            <a:ext cx="511390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Stringa C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52907" y="3375521"/>
            <a:ext cx="5113904" cy="1319808"/>
          </a:xfrm>
          <a:prstGeom prst="roundRect">
            <a:avLst>
              <a:gd name="adj" fmla="val 577"/>
            </a:avLst>
          </a:prstGeom>
          <a:solidFill>
            <a:srgbClr val="F2EDED"/>
          </a:solidFill>
          <a:ln/>
        </p:spPr>
      </p:sp>
      <p:sp>
        <p:nvSpPr>
          <p:cNvPr id="15" name="Text 12"/>
          <p:cNvSpPr/>
          <p:nvPr/>
        </p:nvSpPr>
        <p:spPr>
          <a:xfrm>
            <a:off x="6441418" y="3532584"/>
            <a:ext cx="4736882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(str[i] != '\0') {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elabora str[i] */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52907" y="4863207"/>
            <a:ext cx="5113904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Tappo: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(ASCII 0)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1475" y="5446018"/>
            <a:ext cx="10868745" cy="858639"/>
          </a:xfrm>
          <a:prstGeom prst="roundRect">
            <a:avLst>
              <a:gd name="adj" fmla="val 887"/>
            </a:avLst>
          </a:prstGeom>
          <a:solidFill>
            <a:srgbClr val="DBF0DD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34" y="5662017"/>
            <a:ext cx="196349" cy="15706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71943" y="5636655"/>
            <a:ext cx="10201218" cy="496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Stesso pattern, tappo diverso.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Capire gli array a tappo su interi significa capire il meccanismo alla base di tutte le stringhe C e delle funzioni come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strlen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strcpy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strcmp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76660"/>
            <a:ext cx="3528158" cy="15484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1561009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Indice fuori range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1918692"/>
            <a:ext cx="3067767" cy="80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(i=0; i&lt;=N; i++)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→ quando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== 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l'accesso è fuori limite. Usare sempre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non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1376660"/>
            <a:ext cx="3528257" cy="15484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9964" y="1561009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Array non inizializzato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99964" y="1918692"/>
            <a:ext cx="3067866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a[5]; printf("%d", a[0]);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→ valore indeterminato (spazzatura in memoria).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1376660"/>
            <a:ext cx="3528158" cy="15484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8010" y="1561009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Ciclo infinito nel while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278010" y="1918692"/>
            <a:ext cx="3067767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Dimenticare di aggiornare l'indice (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i++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dentro il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→ il ciclo non termina mai.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074888"/>
            <a:ext cx="3528158" cy="20588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2017" y="3259237"/>
            <a:ext cx="306776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 – Indice unsigned decrescente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22017" y="3875385"/>
            <a:ext cx="3067767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int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un ciclo decrescente: non può diventare negativo, il ciclo va all'infinito.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422" y="3074888"/>
            <a:ext cx="3528257" cy="205881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99964" y="3259237"/>
            <a:ext cx="306786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 – Array a tappo: tappo mancante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599964" y="3875385"/>
            <a:ext cx="30678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Dimenticare di posizionare il tappo dopo un inserimento, oppure non verificare che ci sia spazio prima di inserire.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76660"/>
          <a:ext cx="10868745" cy="914400"/>
        </p:xfrm>
        <a:graphic>
          <a:graphicData uri="http://schemas.openxmlformats.org/drawingml/2006/table">
            <a:tbl>
              <a:tblPr/>
              <a:tblGrid>
                <a:gridCol w="2391072"/>
                <a:gridCol w="3586658"/>
                <a:gridCol w="4891015"/>
              </a:tblGrid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Dichiarazione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arr[N] = {…}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Dimensione fissa, indici da 0 a N-1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Scorrimento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(i=0; i&lt;N; i++)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Variante: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per condizioni complesse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Somma / media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Accumulatore + divisione float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Cast con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(double)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Min / max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Ipotesi + smentita con indice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Inizializzare dall'elemento 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Ricerca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Flag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trovato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niente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break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Restituisce indice o -1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Inversione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Swap con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ciclo a N/2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In-place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Passaggio per riferimento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Aggiungere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se non si modifica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Array a tappo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 (arr[i] != TAPPO)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Tappo: -1, 0 o '\0'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1006053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14172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Dichiarazione e Inizializzazione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12875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di esempio che esplorano la struttura fondamentale degli array.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78894"/>
            <a:ext cx="3528158" cy="34668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93781" y="268773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45819" y="3259336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010-dichiarazione-base.c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19" y="3617020"/>
            <a:ext cx="3143965" cy="1964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si dichiara un array, come si assegnano i valori e come si stampano.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assegnazione per indice; stampa diretta e con ciclo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calcolo del numero di elementi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sizeof(arr)/sizeof(arr[0])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578894"/>
            <a:ext cx="3528257" cy="34668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71728" y="268773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4523766" y="3259336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020-inizializzazione.c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3766" y="3617020"/>
            <a:ext cx="3144064" cy="222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quali sono i modi per inizializzare un array alla dichiarazione.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lista completa, dimensione dedotta, lista parziale con azzeramento automatico,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{0}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azzerare tutto,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#define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dimensione.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578894"/>
            <a:ext cx="3528158" cy="34668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9774" y="268773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8201812" y="3259336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030-array-in-memoria.c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01812" y="3617020"/>
            <a:ext cx="3143965" cy="197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è organizzato un array nella memoria del computer.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stampa degli indirizzi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&amp;arr[i]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%p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calcolo dell'offset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* sizeof(arr[0])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verifica che la distanza tra celle consecutive sia sempre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sizeof(int)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byte.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1006053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14172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Dichiarazione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611511"/>
            <a:ext cx="2593216" cy="2566194"/>
          </a:xfrm>
          <a:prstGeom prst="roundRect">
            <a:avLst>
              <a:gd name="adj" fmla="val 297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311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Lancio del dado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2399308"/>
            <a:ext cx="2249927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Contare quante volte esce ogni faccia in 30 lanci. Array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frequenze[6]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tabella di conteggio; indice: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frequenze[lancio-1]++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19985" y="1611511"/>
            <a:ext cx="2593216" cy="2566194"/>
          </a:xfrm>
          <a:prstGeom prst="roundRect">
            <a:avLst>
              <a:gd name="adj" fmla="val 297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162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Distribuzione voti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91629" y="2399308"/>
            <a:ext cx="2249927" cy="132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Classificare 20 voti in 6 fasce. Mappatura voto→indice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 if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istogramma percentuale con asterischi.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8495" y="1611511"/>
            <a:ext cx="2593216" cy="2566194"/>
          </a:xfrm>
          <a:prstGeom prst="roundRect">
            <a:avLst>
              <a:gd name="adj" fmla="val 297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0139" y="1783159"/>
            <a:ext cx="22499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Registro voti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0139" y="2140843"/>
            <a:ext cx="2249927" cy="160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Gestire voti di 8 studenti con nome e statistiche. Array paralleli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nomi[][]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voti[]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minimo e massimo con salvataggio dell'indice per risalire al nome.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37005" y="1611511"/>
            <a:ext cx="2593216" cy="2566194"/>
          </a:xfrm>
          <a:prstGeom prst="roundRect">
            <a:avLst>
              <a:gd name="adj" fmla="val 297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0864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Inventario magazzino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08649" y="2399308"/>
            <a:ext cx="224992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Gestire 6 prodotti con codice, nome, quantità e prezzo. Quattro array paralleli; valore calcolato al volo senza array aggiuntivo.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343003"/>
            <a:ext cx="10868745" cy="971947"/>
          </a:xfrm>
          <a:prstGeom prst="roundRect">
            <a:avLst>
              <a:gd name="adj" fmla="val 78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119" y="4514652"/>
            <a:ext cx="105254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Temperature settimanali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119" y="4872335"/>
            <a:ext cx="10525457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Analizzare temperature max di 7 giorni. Array di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variazione consecutiva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temperature[i] - temperature[i-1]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ciclo da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i=1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1006053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14172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Accesso e Scorrimento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61202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che approfondiscono le modalità di accesso e lettura.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62163"/>
            <a:ext cx="3528158" cy="32085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93781" y="217100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45819" y="2742605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010-accesso-per-indice.c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19" y="3100288"/>
            <a:ext cx="3143965" cy="197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mostrare tutte le forme di accesso a un elemento di un array.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indice costante, variabile ed espressione; verifica esplicita dei limiti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(indice &gt;= 0 &amp;&amp; indice &lt; DIMENSIONE)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passaggio di porzione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&amp;arr[i]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062163"/>
            <a:ext cx="3528257" cy="32085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71728" y="217100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4523766" y="2742605"/>
            <a:ext cx="31440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020-scorrimento-con-cicli.c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3766" y="3358753"/>
            <a:ext cx="3144064" cy="1441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confrontare le tre forme di ciclo per scorrere un array.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(con rischio ciclo infinito),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scorrimento inverso; passo 2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+= 2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062163"/>
            <a:ext cx="3528158" cy="32085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9774" y="217100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8201812" y="2742605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030-lettura-da-tastiera.c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01812" y="3100288"/>
            <a:ext cx="3143965" cy="1705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leggere valori da tastiera con validazione.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&amp;arr[i])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validazione con flag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valido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ciclo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annidato; barra grafica ASCII proporzionale al valore.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1006053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14172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Accesso e Scorrimento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2128242"/>
            <a:ext cx="2593216" cy="2559844"/>
          </a:xfrm>
          <a:prstGeom prst="roundRect">
            <a:avLst>
              <a:gd name="adj" fmla="val 298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3119" y="2299891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Rilevazioni pluviometriche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2916039"/>
            <a:ext cx="2249927" cy="159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Analisi precipitazioni mensili di un anno. Mese più piovoso/secco con indice; barra proporzionale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(int)(pioggia[i] / 5.0)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asterischi.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19985" y="2128242"/>
            <a:ext cx="2593216" cy="2559844"/>
          </a:xfrm>
          <a:prstGeom prst="roundRect">
            <a:avLst>
              <a:gd name="adj" fmla="val 298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1629" y="2299891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Cassa automatica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91629" y="2916039"/>
            <a:ext cx="2249927" cy="132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Resto con minor numero di monete (greedy). Tagli in centesimi interi;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monete[i] = resto / tagli[i]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aggiornamento residuo.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8495" y="2128242"/>
            <a:ext cx="2593216" cy="2559844"/>
          </a:xfrm>
          <a:prstGeom prst="roundRect">
            <a:avLst>
              <a:gd name="adj" fmla="val 298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0139" y="2299891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Rubrica telefonica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0139" y="2916039"/>
            <a:ext cx="2249927" cy="1335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Ricerca per prefisso nome e filtro per tipo. Array paralleli; doppio ciclo con flag; filtro su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telefoni[i][0] == '3'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37005" y="2128242"/>
            <a:ext cx="2593216" cy="2559844"/>
          </a:xfrm>
          <a:prstGeom prst="roundRect">
            <a:avLst>
              <a:gd name="adj" fmla="val 298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08649" y="2299891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Sensori industriali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08649" y="2916039"/>
            <a:ext cx="2249927" cy="160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Dashboard di 8 sensori di temperatura con allarmi. Due cicli separati; due condizioni di allarme distinte (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 SOGLIA_MIN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 SOGLIA_MAX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853384"/>
            <a:ext cx="10868745" cy="1236563"/>
          </a:xfrm>
          <a:prstGeom prst="roundRect">
            <a:avLst>
              <a:gd name="adj" fmla="val 616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119" y="5025033"/>
            <a:ext cx="105254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Questionario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119" y="5382716"/>
            <a:ext cx="1052545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Correggere risposta multipla con chiave. Due array di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paralleli; conversione minuscolo→maiuscolo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 - 32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punteggio percentuale.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1006053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14172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Operazioni su Array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61202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che implementano le operazioni fondamentali.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62163"/>
            <a:ext cx="3528158" cy="37379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93781" y="217100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45819" y="2742605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010-somma-e-media.c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19" y="3100288"/>
            <a:ext cx="3143965" cy="2487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illustrare il pattern accumulatore nelle sue varianti principali.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accumulatore inizializzato a 0; somma condizionale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(solo positivi, solo negativi); passo 2 per posizioni pari/dispari; somma cumulativa per osservare il valore crescere passo per passo.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062163"/>
            <a:ext cx="3528257" cy="37379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71728" y="217100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4523766" y="2742605"/>
            <a:ext cx="31440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020-minimo-massimo-e-ricerca.c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3766" y="3358753"/>
            <a:ext cx="3144064" cy="224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trovare minimo, massimo, secondo massimo e cercare un valore.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inizializzazione 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indice_max = 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(non al valore); secondo massimo con condizione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!= indice_max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ricerca con flag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!trovato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conteggio occorrenze con ciclo completo.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062163"/>
            <a:ext cx="3528158" cy="37379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9774" y="217100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8201812" y="2742605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030-trasformazione-elementi.c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01812" y="3358753"/>
            <a:ext cx="3143965" cy="1964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modificare il contenuto di un array in diversi modi.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inversione con swap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ciclo di inversione fino 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N/2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funzione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elemento per elemento; scarto dalla media come parametro per evitare ricalcoli.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1006053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14172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Operazioni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611511"/>
            <a:ext cx="2593216" cy="2811760"/>
          </a:xfrm>
          <a:prstGeom prst="roundRect">
            <a:avLst>
              <a:gd name="adj" fmla="val 29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311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Andamento borsa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2399308"/>
            <a:ext cx="2249927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Analisi giornaliera titolo azionario su 10 giorni. Variazioni calcolate al volo senza secondo array; guadagno/perdita massima dalla prima variazione.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19985" y="1611511"/>
            <a:ext cx="2593216" cy="2811760"/>
          </a:xfrm>
          <a:prstGeom prst="roundRect">
            <a:avLst>
              <a:gd name="adj" fmla="val 29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162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Contatore caratteri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91629" y="2399308"/>
            <a:ext cx="2249927" cy="134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Occorrenze di ogni lettera in un testo. Indice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 - 'a'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scorrimento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(testo[i] != '\0')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stampa solo lettere presenti.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8495" y="1611511"/>
            <a:ext cx="2593216" cy="2811760"/>
          </a:xfrm>
          <a:prstGeom prst="roundRect">
            <a:avLst>
              <a:gd name="adj" fmla="val 29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013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Classifica gara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0139" y="2399308"/>
            <a:ext cx="2249927" cy="160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Classifica di 8 atleti con distacco dal vincitore. Minimo (tempo più basso);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%02d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i secondi; confronto con cast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(double)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37005" y="1611511"/>
            <a:ext cx="2593216" cy="2811760"/>
          </a:xfrm>
          <a:prstGeom prst="roundRect">
            <a:avLst>
              <a:gd name="adj" fmla="val 29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0864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Paghe dipendenti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08649" y="2399308"/>
            <a:ext cx="2249927" cy="159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Paghe lorde di 6 dipendenti vs media aziendale. Array calcolato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paghe[i] = ore[i] * tariffe[i]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tre rami di confronto con la media.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588570"/>
            <a:ext cx="10868745" cy="1236563"/>
          </a:xfrm>
          <a:prstGeom prst="roundRect">
            <a:avLst>
              <a:gd name="adj" fmla="val 616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119" y="4760218"/>
            <a:ext cx="105254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Rilevamento traffico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119" y="5117902"/>
            <a:ext cx="1052545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Top 3 strade più trafficate tra 8 senza ordinamento. Array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selezionato[]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flag; ricerca ripetuta del massimo escludendo già scelti.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1006053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14172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Array e Funzioni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61202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che dimostrano il passaggio di array a funzioni.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62163"/>
            <a:ext cx="3528158" cy="37316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93781" y="217100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45819" y="2742605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010-passaggio-array-a-funzione.c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19" y="3358753"/>
            <a:ext cx="3143965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mostrare la differenza tra passaggio per valore (scalari) e per riferimento (array).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raddoppia(int arr[], int n)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modifica l'originale;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sizeof(arr)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dentro la funzione = dimensione del puntatore (8 byte); passaggio di porzione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&amp;valori[3]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062163"/>
            <a:ext cx="3528257" cy="37316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71728" y="217100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4523766" y="2742605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020-funzioni-su-array.c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3766" y="3100288"/>
            <a:ext cx="3144064" cy="1705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organizzare le operazioni fondamentali in funzioni riusabili.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media()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richiama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somma()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internamente; tutte le funzioni di sola lettura dichiarano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arr[]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cerca()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restituisce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sentinella.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062163"/>
            <a:ext cx="3528158" cy="373164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9774" y="217100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8201812" y="2742605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030-funzioni-che-modificano-array.c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01812" y="3358753"/>
            <a:ext cx="3143965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incapsulare le trasformazioni in-place in funzioni riusabili.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copia(src, dst, n)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dimostra che le modifiche 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dst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non toccano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il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prima di ogni trasformazione per ripartire dall'originale.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1006053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14172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Array e Funzioni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611511"/>
            <a:ext cx="2593216" cy="2830810"/>
          </a:xfrm>
          <a:prstGeom prst="roundRect">
            <a:avLst>
              <a:gd name="adj" fmla="val 29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3119" y="1783159"/>
            <a:ext cx="224992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Normalizzazione misure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2657773"/>
            <a:ext cx="2249927" cy="159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Normalizzare tensione in [0.0, 1.0] e calcolare scarti.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normalizza(src, dst, n)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costruisce array di output; guardia contro massimo = 0.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19985" y="1611511"/>
            <a:ext cx="2593216" cy="2830810"/>
          </a:xfrm>
          <a:prstGeom prst="roundRect">
            <a:avLst>
              <a:gd name="adj" fmla="val 29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162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Cifrario Cesare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91629" y="2399308"/>
            <a:ext cx="2249927" cy="160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Cifrare e decifrare spostando ogni lettera di N posizioni.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cifra()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decifra()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in-place; formula cifratura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 26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+26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evitare indici negativi.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8495" y="1611511"/>
            <a:ext cx="2593216" cy="2830810"/>
          </a:xfrm>
          <a:prstGeom prst="roundRect">
            <a:avLst>
              <a:gd name="adj" fmla="val 29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013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Gestione magazzino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0139" y="2399308"/>
            <a:ext cx="2249927" cy="1871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Ricerca, carico e scarico prodotti.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trova_prodotto()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restituisce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aggiorna_quantita()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rifiuta operazioni che porterebbero a quantità negative.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37005" y="1611511"/>
            <a:ext cx="2593216" cy="2830810"/>
          </a:xfrm>
          <a:prstGeom prst="roundRect">
            <a:avLst>
              <a:gd name="adj" fmla="val 29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0864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Analisi partita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08649" y="2399308"/>
            <a:ext cx="2249927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Statistiche marcatori squadra di calcio.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media_gol()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richiama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totale_gol()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stampa_classifica()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top-k configurabile.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607620"/>
            <a:ext cx="10868745" cy="1236563"/>
          </a:xfrm>
          <a:prstGeom prst="roundRect">
            <a:avLst>
              <a:gd name="adj" fmla="val 616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119" y="4779268"/>
            <a:ext cx="105254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Registro presenze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119" y="5136952"/>
            <a:ext cx="1052545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Presenze mensili di 6 dipendenti vs soglia.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percentuale_presenza(giorni, totale)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riusata da più funzioni; indice come valore di ritorno.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1006053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14172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Array a Tappo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61202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che introducono e approfondiscono la tecnica del tappo.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62163"/>
            <a:ext cx="3528158" cy="40026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93781" y="217100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45819" y="2742605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010-introduzione-al-tappo.c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19" y="3358753"/>
            <a:ext cx="3143965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confrontare direttamente la tecnica a dimensione fissa con quella a tappo.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somma_con_n(arr, n)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vs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somma_con_tappo(arr)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aggiunta manuale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dati[pos] = 25; dati[pos+1] = TAPPO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collegamento con le stringhe: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(parola[j] != '\0')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062163"/>
            <a:ext cx="3528257" cy="40026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71728" y="217100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4523766" y="2742605"/>
            <a:ext cx="31440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020-operazioni-con-tappo.c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3766" y="3358753"/>
            <a:ext cx="3144064" cy="2506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implementare le operazioni fondamentali su un array a tappo.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lunghezza()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restituisce l'indice del tappo;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inserisci_in_fondo()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verifica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 + 1 &lt; MAX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rimuovi()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shift include il tappo nel ciclo; riempimento progressivo da array vuoto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{TAPPO}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062163"/>
            <a:ext cx="3528158" cy="400261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9774" y="217100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8201812" y="2742605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030-tappo-su-array-di-char.c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01812" y="3358753"/>
            <a:ext cx="3143965" cy="1976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reimplementare le funzioni standard delle stringhe.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lunghezza_stringa()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strlen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copia_stringa()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copia anche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confronta_stringhe()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restituisce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a[i] - b[i]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concatena()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trova prima il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di dst.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1006053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14172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Array a Tappo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611511"/>
            <a:ext cx="2593216" cy="2824460"/>
          </a:xfrm>
          <a:prstGeom prst="roundRect">
            <a:avLst>
              <a:gd name="adj" fmla="val 29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311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Lista della spesa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2399308"/>
            <a:ext cx="2249927" cy="160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Gestire una lista di prezzi a tappo. Prezzi in centesimi per evitare errori floating point; tappo =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conversione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 100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 100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nella stampa.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19985" y="1611511"/>
            <a:ext cx="2593216" cy="2824460"/>
          </a:xfrm>
          <a:prstGeom prst="roundRect">
            <a:avLst>
              <a:gd name="adj" fmla="val 29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1629" y="1783159"/>
            <a:ext cx="22499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Log eventi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91629" y="2140843"/>
            <a:ext cx="2249927" cy="1865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Analisi log con classificazione per codice. Tappo =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classificazione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codice / 100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(divisione intera); scorrimento al contrario per l'ultimo evento.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8495" y="1611511"/>
            <a:ext cx="2593216" cy="2824460"/>
          </a:xfrm>
          <a:prstGeom prst="roundRect">
            <a:avLst>
              <a:gd name="adj" fmla="val 29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013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Coda prenotazioni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0139" y="2399308"/>
            <a:ext cx="2249927" cy="1865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Coda FIFO di prenotazioni mediche con due array paralleli. Tappi sincronizzati su entrambi; shift parallelo; conversione minuti→HH:MM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 60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 60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37005" y="1611511"/>
            <a:ext cx="2593216" cy="2824460"/>
          </a:xfrm>
          <a:prstGeom prst="roundRect">
            <a:avLst>
              <a:gd name="adj" fmla="val 294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08649" y="1783159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Sensori attivi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08649" y="2399308"/>
            <a:ext cx="2249927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Registro dinamico dei soli sensori attivi. Tre valori di ritorno (1=OK, 0=pieno, -1=duplicato);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rimuovi()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cerca()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trovare l'indice; guardia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 &gt; 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601270"/>
            <a:ext cx="10868745" cy="1236563"/>
          </a:xfrm>
          <a:prstGeom prst="roundRect">
            <a:avLst>
              <a:gd name="adj" fmla="val 616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119" y="4772918"/>
            <a:ext cx="105254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Playlist musicale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119" y="5130602"/>
            <a:ext cx="1052545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Inserimento in posizione e rimozione per ID. Shift in avanti dal fondo per inserimento; range valido di pos: [0, len]; controllo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 + 1 &gt;= MAX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2026-10-11T14:14:34Z</dcterms:created>
  <dcterms:modified xsi:type="dcterms:W3CDTF">2026-10-11T14:14:34Z</dcterms:modified>
</cp:coreProperties>
</file>