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4630400" cy="8229600"/>
  <p:notesSz cx="8229600" cy="146304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4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8141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80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393037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Le Stringhe in C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3310771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Dichiarazione, input/output, lunghezza e accesso ai caratteri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793790" y="3851553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Alberto Testa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793790" y="4392335"/>
            <a:ext cx="2214563" cy="373142"/>
          </a:xfrm>
          <a:prstGeom prst="roundRect">
            <a:avLst>
              <a:gd name="adj" fmla="val 2451"/>
            </a:avLst>
          </a:prstGeom>
          <a:solidFill>
            <a:srgbClr val="DBF0D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912852" y="4451866"/>
            <a:ext cx="1976438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PROGRAMMAZIONE IN C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5211961"/>
            <a:ext cx="1123950" cy="401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409468" y="5167313"/>
            <a:ext cx="594824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endParaRPr lang="en-US" sz="15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9063" y="7800856"/>
            <a:ext cx="2013347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786574" y="7800856"/>
            <a:ext cx="23836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35079"/>
            <a:ext cx="675548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Cosa è una Stringa in C?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650915" y="1552813"/>
            <a:ext cx="7241381" cy="4702373"/>
          </a:xfrm>
          <a:prstGeom prst="roundRect">
            <a:avLst>
              <a:gd name="adj" fmla="val 194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849273" y="1751171"/>
            <a:ext cx="357342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Definizione fondamentale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849273" y="2259687"/>
            <a:ext cx="6844665" cy="1285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C, una </a:t>
            </a:r>
            <a:r>
              <a:rPr lang="en-US" sz="155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stringa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è semplicemente un </a:t>
            </a:r>
            <a:r>
              <a:rPr lang="en-US" sz="155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array di char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terminato dal carattere speciale </a:t>
            </a: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(null terminator). Non esiste un tipo nativo </a:t>
            </a: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come in altri linguaggi: tutto si costruisce su array e puntatori.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49273" y="3723680"/>
            <a:ext cx="6844665" cy="960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terminatore </a:t>
            </a: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ha valore ASCII 0 e segnala la fine logica della stringa. Senza di esso, le funzioni di libreria non sapranno dove fermarsi.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41149" y="1751171"/>
            <a:ext cx="4117062" cy="317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Schema visivo: </a:t>
            </a:r>
            <a:r>
              <a:rPr lang="en-US" sz="19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s[] = "Ciao"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241149" y="2292191"/>
            <a:ext cx="5602962" cy="1157049"/>
          </a:xfrm>
          <a:prstGeom prst="roundRect">
            <a:avLst>
              <a:gd name="adj" fmla="val 79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8248769" y="2299811"/>
            <a:ext cx="5587722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447603" y="2426494"/>
            <a:ext cx="78676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Indice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638705" y="2426494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518696" y="2426494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1398687" y="2426494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278678" y="2426494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3158668" y="2426494"/>
            <a:ext cx="47946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248769" y="2870716"/>
            <a:ext cx="5587722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8447603" y="2997398"/>
            <a:ext cx="78676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Valore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9638705" y="2997398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'C'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0518696" y="2997398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'i'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1398687" y="2997398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'a'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2278678" y="2997398"/>
            <a:ext cx="47565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'o'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158668" y="2997398"/>
            <a:ext cx="47946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'\0'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241149" y="3672483"/>
            <a:ext cx="5602962" cy="65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⚠️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r>
              <a:rPr lang="en-US" sz="15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Lunghezza logica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4 caratteri (quelli visibili)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Dimensione array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5 celle (include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241149" y="4553664"/>
            <a:ext cx="5602962" cy="1478280"/>
          </a:xfrm>
          <a:prstGeom prst="roundRect">
            <a:avLst>
              <a:gd name="adj" fmla="val 619"/>
            </a:avLst>
          </a:prstGeom>
          <a:solidFill>
            <a:srgbClr val="C9E9C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507" y="4864179"/>
            <a:ext cx="248007" cy="19835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885873" y="4801553"/>
            <a:ext cx="475988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Ricorda: devi sempre riservare </a:t>
            </a:r>
            <a:r>
              <a:rPr lang="en-US" sz="155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 byte in più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per il terminatore quando dichiari un array di stringhe.</a:t>
            </a:r>
            <a:endParaRPr lang="en-US" sz="15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6329363" y="7800856"/>
            <a:ext cx="197167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4272974" y="7800856"/>
            <a:ext cx="23836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21995"/>
            <a:ext cx="7483316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Dichiarazione e Inizializzazione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535787"/>
            <a:ext cx="13042821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Esistono quattro modi principali per dichiarare e inizializzare una stringa in C. Ognuno ha caratteristiche e casi d'uso specifici.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3790" y="1946672"/>
            <a:ext cx="6449735" cy="2459117"/>
          </a:xfrm>
          <a:prstGeom prst="roundRect">
            <a:avLst>
              <a:gd name="adj" fmla="val 372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816650" y="1969532"/>
            <a:ext cx="6404015" cy="506016"/>
          </a:xfrm>
          <a:prstGeom prst="rect">
            <a:avLst/>
          </a:prstGeom>
          <a:solidFill>
            <a:srgbClr val="DBF0DD"/>
          </a:solidFill>
          <a:ln/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892153" y="2060615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85242" y="2618899"/>
            <a:ext cx="27920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Dimensione automatica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85242" y="3043595"/>
            <a:ext cx="6066830" cy="502563"/>
          </a:xfrm>
          <a:prstGeom prst="roundRect">
            <a:avLst>
              <a:gd name="adj" fmla="val 1819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976908" y="3043595"/>
            <a:ext cx="6083498" cy="502563"/>
          </a:xfrm>
          <a:prstGeom prst="roundRect">
            <a:avLst>
              <a:gd name="adj" fmla="val 5035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145500" y="3170039"/>
            <a:ext cx="5746313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s[] = "Ciao";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5242" y="3707368"/>
            <a:ext cx="6066830" cy="50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compilatore calcola automaticamente la dimensione (5 byte: 4 caratteri +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Metodo più semplice e sicuro.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86876" y="1946672"/>
            <a:ext cx="6449735" cy="2459117"/>
          </a:xfrm>
          <a:prstGeom prst="roundRect">
            <a:avLst>
              <a:gd name="adj" fmla="val 372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409736" y="1969532"/>
            <a:ext cx="6404015" cy="506016"/>
          </a:xfrm>
          <a:prstGeom prst="rect">
            <a:avLst/>
          </a:prstGeom>
          <a:solidFill>
            <a:srgbClr val="DBF0DD"/>
          </a:solidFill>
          <a:ln/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10485239" y="2060615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578328" y="2618899"/>
            <a:ext cx="2981087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Array sovradimensionato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7578328" y="3043595"/>
            <a:ext cx="6066830" cy="502563"/>
          </a:xfrm>
          <a:prstGeom prst="roundRect">
            <a:avLst>
              <a:gd name="adj" fmla="val 1819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7569994" y="3043595"/>
            <a:ext cx="6083498" cy="502563"/>
          </a:xfrm>
          <a:prstGeom prst="roundRect">
            <a:avLst>
              <a:gd name="adj" fmla="val 5035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738586" y="3170039"/>
            <a:ext cx="5746313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s[10] = "Ciao";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78328" y="3707368"/>
            <a:ext cx="6066830" cy="499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 riserva più spazio del necessario. Le celle da 5 a 9 rimangono disponibili per future modifiche o estensioni della stringa.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790" y="4549140"/>
            <a:ext cx="6449735" cy="2958465"/>
          </a:xfrm>
          <a:prstGeom prst="roundRect">
            <a:avLst>
              <a:gd name="adj" fmla="val 309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816650" y="4572000"/>
            <a:ext cx="6404015" cy="506016"/>
          </a:xfrm>
          <a:prstGeom prst="rect">
            <a:avLst/>
          </a:prstGeom>
          <a:solidFill>
            <a:srgbClr val="DBF0DD"/>
          </a:solidFill>
          <a:ln/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3892153" y="4663083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85242" y="5221367"/>
            <a:ext cx="2738557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Carattere per carattere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85242" y="5646063"/>
            <a:ext cx="6066830" cy="1001911"/>
          </a:xfrm>
          <a:prstGeom prst="roundRect">
            <a:avLst>
              <a:gd name="adj" fmla="val 913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976908" y="5646063"/>
            <a:ext cx="6083498" cy="1001911"/>
          </a:xfrm>
          <a:prstGeom prst="roundRect">
            <a:avLst>
              <a:gd name="adj" fmla="val 2526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145500" y="5772507"/>
            <a:ext cx="5746313" cy="749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s[0]='C'; s[1]='i';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s[2]='a'; s[3]='o';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s[4]='\0';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85242" y="6809184"/>
            <a:ext cx="6066830" cy="50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Assegnazione manuale cella per cella. </a:t>
            </a:r>
            <a:r>
              <a:rPr lang="en-US" sz="13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Fondamentale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non dimenticare mai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finale!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86876" y="4549140"/>
            <a:ext cx="6449735" cy="2958465"/>
          </a:xfrm>
          <a:prstGeom prst="roundRect">
            <a:avLst>
              <a:gd name="adj" fmla="val 309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7409736" y="4572000"/>
            <a:ext cx="6404015" cy="506016"/>
          </a:xfrm>
          <a:prstGeom prst="rect">
            <a:avLst/>
          </a:prstGeom>
          <a:solidFill>
            <a:srgbClr val="DBF0DD"/>
          </a:solidFill>
          <a:ln/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10485239" y="4663083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4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7578328" y="5221367"/>
            <a:ext cx="2167533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Solo dichiarazione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7578328" y="5646063"/>
            <a:ext cx="6066830" cy="1001911"/>
          </a:xfrm>
          <a:prstGeom prst="roundRect">
            <a:avLst>
              <a:gd name="adj" fmla="val 913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3" name="Shape 31"/>
          <p:cNvSpPr/>
          <p:nvPr/>
        </p:nvSpPr>
        <p:spPr>
          <a:xfrm>
            <a:off x="7569994" y="5646063"/>
            <a:ext cx="6083498" cy="1001911"/>
          </a:xfrm>
          <a:prstGeom prst="roundRect">
            <a:avLst>
              <a:gd name="adj" fmla="val 2526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7738586" y="5772507"/>
            <a:ext cx="5746313" cy="749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s[10];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poi riempimento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con ciclo o input */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578328" y="6809184"/>
            <a:ext cx="6066830" cy="499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 dichiara lo spazio e si riempie in seguito, ad esempio leggendo da input utente. Più flessibile, ma richiede attenzione.</a:t>
            </a:r>
            <a:endParaRPr lang="en-US" sz="130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6319718" y="7809190"/>
            <a:ext cx="1990725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14246423" y="7809190"/>
            <a:ext cx="264795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20341"/>
            <a:ext cx="4128254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Output di Stringhe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1570434"/>
            <a:ext cx="130428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stampare stringhe a schermo si usano tre funzioni principali, ciascuna con comportamento diverso. Scegliere quella giusta rende il codice più leggibile e corretto.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93790" y="2170509"/>
            <a:ext cx="13042821" cy="1600200"/>
          </a:xfrm>
          <a:prstGeom prst="roundRect">
            <a:avLst>
              <a:gd name="adj" fmla="val 57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801410" y="2178129"/>
            <a:ext cx="13027581" cy="39624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60358" y="2261949"/>
            <a:ext cx="254472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Funzione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830122" y="2261949"/>
            <a:ext cx="33226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Sintassi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7839" y="2261949"/>
            <a:ext cx="29317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Comportamento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34675" y="2261949"/>
            <a:ext cx="29356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1410" y="2574369"/>
            <a:ext cx="13027581" cy="39624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960358" y="2658189"/>
            <a:ext cx="254472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830122" y="2658189"/>
            <a:ext cx="33226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printf("%s", s);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77839" y="2658189"/>
            <a:ext cx="29317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Stampa la stringa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734675" y="2658189"/>
            <a:ext cx="29356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Nessun </a:t>
            </a: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\n</a:t>
            </a: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automatico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1410" y="2970609"/>
            <a:ext cx="13027581" cy="39624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960358" y="3054429"/>
            <a:ext cx="254472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830122" y="3054429"/>
            <a:ext cx="33226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puts(s);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77839" y="3054429"/>
            <a:ext cx="29317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Stampa la stringa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734675" y="3054429"/>
            <a:ext cx="29356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Aggiunge </a:t>
            </a: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\n</a:t>
            </a: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automatico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1410" y="3366849"/>
            <a:ext cx="13027581" cy="39624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960358" y="3450669"/>
            <a:ext cx="254472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putchar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830122" y="3450669"/>
            <a:ext cx="33226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putchar(s[i]);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77839" y="3450669"/>
            <a:ext cx="29317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Stampa un solo char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734675" y="3450669"/>
            <a:ext cx="29356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Utile nei cicli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3790" y="4056459"/>
            <a:ext cx="6327815" cy="3209925"/>
          </a:xfrm>
          <a:prstGeom prst="roundRect">
            <a:avLst>
              <a:gd name="adj" fmla="val 285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Shape 24"/>
          <p:cNvSpPr/>
          <p:nvPr/>
        </p:nvSpPr>
        <p:spPr>
          <a:xfrm>
            <a:off x="785932" y="4056459"/>
            <a:ext cx="6343531" cy="3209925"/>
          </a:xfrm>
          <a:prstGeom prst="roundRect">
            <a:avLst>
              <a:gd name="adj" fmla="val 742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944642" y="4175522"/>
            <a:ext cx="602611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printf */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s[] = "Ciao";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printf("Messaggio: %s\n", s);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puts */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puts(s); /* equivale a printf + \n */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putchar in ciclo */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0;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(s[i] != '\0') {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putchar(s[i]);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i++;</a:t>
            </a:r>
            <a:endParaRPr lang="en-US" sz="125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516416" y="4056459"/>
            <a:ext cx="6327815" cy="1274564"/>
          </a:xfrm>
          <a:prstGeom prst="roundRect">
            <a:avLst>
              <a:gd name="adj" fmla="val 717"/>
            </a:avLst>
          </a:prstGeom>
          <a:solidFill>
            <a:srgbClr val="C9E9C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126" y="4291132"/>
            <a:ext cx="198358" cy="15871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032194" y="4223028"/>
            <a:ext cx="56533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Quando usare cosa?</a:t>
            </a:r>
            <a:r>
              <a:rPr lang="en-US" sz="12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Usa </a:t>
            </a:r>
            <a:r>
              <a:rPr lang="en-US" sz="125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</a:t>
            </a:r>
            <a:r>
              <a:rPr lang="en-US" sz="12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quando devi formattare output complesso. Usa </a:t>
            </a:r>
            <a:r>
              <a:rPr lang="en-US" sz="125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puts</a:t>
            </a:r>
            <a:r>
              <a:rPr lang="en-US" sz="12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per stampe veloci di intere stringhe. Usa </a:t>
            </a:r>
            <a:r>
              <a:rPr lang="en-US" sz="125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putchar</a:t>
            </a:r>
            <a:r>
              <a:rPr lang="en-US" sz="12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quando elabori la stringa carattere per carattere.</a:t>
            </a:r>
            <a:endParaRPr lang="en-US" sz="1250" dirty="0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315789" y="7812048"/>
            <a:ext cx="199858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14235470" y="7812048"/>
            <a:ext cx="2757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5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20591"/>
            <a:ext cx="647307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Input di Stringhe: </a:t>
            </a:r>
            <a:r>
              <a:rPr lang="en-US" sz="390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03668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Come funziona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2545199"/>
            <a:ext cx="6279356" cy="960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scanf("%s", s)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legge caratteri fino al primo </a:t>
            </a:r>
            <a:r>
              <a:rPr lang="en-US" sz="15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spazio, tab o newline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Non legge frasi intere, ma è veloce per token singoli come codici o username.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93790" y="3728680"/>
            <a:ext cx="6279356" cy="1567815"/>
          </a:xfrm>
          <a:prstGeom prst="roundRect">
            <a:avLst>
              <a:gd name="adj" fmla="val 583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783908" y="3728680"/>
            <a:ext cx="6299121" cy="1567815"/>
          </a:xfrm>
          <a:prstGeom prst="roundRect">
            <a:avLst>
              <a:gd name="adj" fmla="val 1899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982266" y="3877508"/>
            <a:ext cx="5902404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codice[21];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printf("Inserisci codice: ");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scanf("%20s", codice);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printf("Codice: %s\n", codice);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93790" y="551973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Quando usarlo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93790" y="6028253"/>
            <a:ext cx="6279356" cy="109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Codici prodotto o seriali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Username e token senza spazi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Valori numerici in forma testuale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421999" y="1838325"/>
            <a:ext cx="6565106" cy="5470565"/>
          </a:xfrm>
          <a:prstGeom prst="roundRect">
            <a:avLst>
              <a:gd name="adj" fmla="val 167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7620357" y="2036683"/>
            <a:ext cx="3692485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⚠️</a:t>
            </a:r>
            <a:r>
              <a:rPr lang="en-US" sz="19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Rischio Buffer Overflow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620357" y="2560439"/>
            <a:ext cx="6168390" cy="642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Senza modificatore di larghezza, </a:t>
            </a: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scanf("%s", s)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può scrivere oltre i limiti dell'array se l'utente inserisce troppi caratteri.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620357" y="3426381"/>
            <a:ext cx="6168390" cy="2520434"/>
          </a:xfrm>
          <a:prstGeom prst="roundRect">
            <a:avLst>
              <a:gd name="adj" fmla="val 363"/>
            </a:avLst>
          </a:prstGeom>
          <a:solidFill>
            <a:srgbClr val="3FA9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7610475" y="3426381"/>
            <a:ext cx="6188154" cy="2520434"/>
          </a:xfrm>
          <a:prstGeom prst="roundRect">
            <a:avLst>
              <a:gd name="adj" fmla="val 1181"/>
            </a:avLst>
          </a:prstGeom>
          <a:solidFill>
            <a:srgbClr val="3FA9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7808833" y="3575209"/>
            <a:ext cx="5791438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SBAGLIATO - overflow possibile */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s[10];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scanf("%s", s);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CORRETTO - al massimo 9 char */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s[10];</a:t>
            </a:r>
            <a:endParaRPr lang="en-US" sz="155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scanf("%9s", s);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620357" y="6170057"/>
            <a:ext cx="6168390" cy="960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numero nel formato indica il </a:t>
            </a:r>
            <a:r>
              <a:rPr lang="en-US" sz="155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massimo di caratteri da leggere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(escluso </a:t>
            </a: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): usa sempre </a:t>
            </a:r>
            <a:r>
              <a:rPr lang="en-US" sz="1550" dirty="0">
                <a:solidFill>
                  <a:srgbClr val="000000"/>
                </a:solidFill>
                <a:highlight>
                  <a:srgbClr val="3FA948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N-1</a:t>
            </a:r>
            <a:r>
              <a:rPr lang="en-US" sz="15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rispetto alla dimensione dell'array.</a:t>
            </a:r>
            <a:endParaRPr lang="en-US" sz="155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329363" y="7800856"/>
            <a:ext cx="197167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4272974" y="7800856"/>
            <a:ext cx="238363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7830"/>
            <a:ext cx="6062543" cy="596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7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Input di Stringhe: </a:t>
            </a:r>
            <a:r>
              <a:rPr lang="en-US" sz="370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793790" y="1692712"/>
            <a:ext cx="13042821" cy="301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è la funzione più sicura per leggere stringhe da tastiera perché gestisce automaticamente il limite di lunghezza e supporta gli spazi.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793790" y="2375059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Sintassi e utilizzo</a:t>
            </a:r>
            <a:endParaRPr lang="en-US" sz="1850" dirty="0"/>
          </a:p>
        </p:txBody>
      </p:sp>
      <p:sp>
        <p:nvSpPr>
          <p:cNvPr id="5" name="Shape 3"/>
          <p:cNvSpPr/>
          <p:nvPr/>
        </p:nvSpPr>
        <p:spPr>
          <a:xfrm>
            <a:off x="793790" y="2871192"/>
            <a:ext cx="6021229" cy="1165265"/>
          </a:xfrm>
          <a:prstGeom prst="roundRect">
            <a:avLst>
              <a:gd name="adj" fmla="val 785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784384" y="2871192"/>
            <a:ext cx="6040041" cy="1165265"/>
          </a:xfrm>
          <a:prstGeom prst="roundRect">
            <a:avLst>
              <a:gd name="adj" fmla="val 2427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972860" y="3012519"/>
            <a:ext cx="5663089" cy="88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nome[50];</a:t>
            </a:r>
            <a:endParaRPr lang="en-US" sz="145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printf("Inserisci nome: ");</a:t>
            </a:r>
            <a:endParaRPr lang="en-US" sz="145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fgets(nome, 50, stdin);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3790" y="4237911"/>
            <a:ext cx="6021229" cy="603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fgets(s, dimensione, stdin)</a:t>
            </a: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legge </a:t>
            </a:r>
            <a:r>
              <a:rPr lang="en-US" sz="145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 massimo dimensione-1 caratteri</a:t>
            </a: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inclusi spazi, e termina con </a:t>
            </a: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93790" y="5020628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Quando usarlo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93790" y="5494377"/>
            <a:ext cx="6021229" cy="100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Nomi e cognomi con spazi</a:t>
            </a:r>
            <a:endParaRPr lang="en-US" sz="1450" dirty="0"/>
          </a:p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Indirizzi e testo libero</a:t>
            </a:r>
            <a:endParaRPr lang="en-US" sz="1450" dirty="0"/>
          </a:p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Qualsiasi input con spazi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282696" y="2375059"/>
            <a:ext cx="3224332" cy="309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⚠️</a:t>
            </a:r>
            <a:r>
              <a:rPr lang="en-US" sz="18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Problema: include </a:t>
            </a:r>
            <a:r>
              <a:rPr lang="en-US" sz="18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7282696" y="2864048"/>
            <a:ext cx="6561415" cy="59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4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include il carattere di fine riga nella stringa. Va rimosso manualmente con questo schema: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282696" y="3661529"/>
            <a:ext cx="6561415" cy="2047875"/>
          </a:xfrm>
          <a:prstGeom prst="roundRect">
            <a:avLst>
              <a:gd name="adj" fmla="val 447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7273290" y="3661529"/>
            <a:ext cx="6580227" cy="2047875"/>
          </a:xfrm>
          <a:prstGeom prst="roundRect">
            <a:avLst>
              <a:gd name="adj" fmla="val 1381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7461766" y="3802856"/>
            <a:ext cx="6203275" cy="176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0;</a:t>
            </a:r>
            <a:endParaRPr lang="en-US" sz="145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(s[i] != '\n' &amp;&amp;</a:t>
            </a:r>
            <a:endParaRPr lang="en-US" sz="145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s[i] != '\0') {</a:t>
            </a:r>
            <a:endParaRPr lang="en-US" sz="145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i++;</a:t>
            </a:r>
            <a:endParaRPr lang="en-US" sz="145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5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s[i] = '\0';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282696" y="5910858"/>
            <a:ext cx="6561415" cy="1379339"/>
          </a:xfrm>
          <a:prstGeom prst="roundRect">
            <a:avLst>
              <a:gd name="adj" fmla="val 663"/>
            </a:avLst>
          </a:prstGeom>
          <a:solidFill>
            <a:srgbClr val="C9E9C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1172" y="6202323"/>
            <a:ext cx="235625" cy="18847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895273" y="6136957"/>
            <a:ext cx="5760363" cy="89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ciclo avanza finché non trova </a:t>
            </a:r>
            <a:r>
              <a:rPr lang="en-US" sz="145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r>
              <a:rPr lang="en-US" sz="14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 </a:t>
            </a:r>
            <a:r>
              <a:rPr lang="en-US" sz="145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4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poi sovrascrive il carattere trovato con </a:t>
            </a:r>
            <a:r>
              <a:rPr lang="en-US" sz="145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4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troncando efficacemente la stringa.</a:t>
            </a:r>
            <a:endParaRPr lang="en-US" sz="14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326505" y="7803713"/>
            <a:ext cx="1977390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4265116" y="7803713"/>
            <a:ext cx="246221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0925" y="651510"/>
            <a:ext cx="5860256" cy="456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8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 del Buffer Residuo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730925" y="1323618"/>
            <a:ext cx="13168551" cy="203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Uno dei bug più frequenti nei programmi C: mischiare </a:t>
            </a: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r>
              <a:rPr lang="en-US" sz="11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 </a:t>
            </a: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1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senza svuotare il buffer di input causa comportamenti inattesi.</a:t>
            </a:r>
            <a:endParaRPr lang="en-US" sz="11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939" y="1647825"/>
            <a:ext cx="7218402" cy="31686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0509" y="3946253"/>
            <a:ext cx="1265289" cy="195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Problema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930509" y="4197399"/>
            <a:ext cx="1265289" cy="271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scanf lascia '\n' nel buffer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483052" y="3897588"/>
            <a:ext cx="1265289" cy="195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Soluzione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483052" y="4148734"/>
            <a:ext cx="1265289" cy="271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svuota con getchar() in loop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717209" y="1980101"/>
            <a:ext cx="1265290" cy="195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Effetto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717209" y="2231247"/>
            <a:ext cx="1265290" cy="27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fgets legge il '\n' e termina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0925" y="5045154"/>
            <a:ext cx="2027039" cy="243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❌</a:t>
            </a:r>
            <a:r>
              <a:rPr lang="en-US" sz="14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Codice con il bug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0925" y="5409843"/>
            <a:ext cx="6406039" cy="1234678"/>
          </a:xfrm>
          <a:prstGeom prst="roundRect">
            <a:avLst>
              <a:gd name="adj" fmla="val 741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0"/>
          <p:cNvSpPr/>
          <p:nvPr/>
        </p:nvSpPr>
        <p:spPr>
          <a:xfrm>
            <a:off x="723662" y="5409843"/>
            <a:ext cx="6420564" cy="1234678"/>
          </a:xfrm>
          <a:prstGeom prst="roundRect">
            <a:avLst>
              <a:gd name="adj" fmla="val 1776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869752" y="5519380"/>
            <a:ext cx="6128385" cy="101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eta;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nome[50];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&amp;eta);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fgets(nome, 50, stdin);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nome rimane vuoto! */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01057" y="5045154"/>
            <a:ext cx="3195518" cy="243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✅</a:t>
            </a:r>
            <a:r>
              <a:rPr lang="en-US" sz="14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Soluzione: svuotare il buffer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501057" y="5409843"/>
            <a:ext cx="6406039" cy="2047161"/>
          </a:xfrm>
          <a:prstGeom prst="roundRect">
            <a:avLst>
              <a:gd name="adj" fmla="val 447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Shape 14"/>
          <p:cNvSpPr/>
          <p:nvPr/>
        </p:nvSpPr>
        <p:spPr>
          <a:xfrm>
            <a:off x="7493794" y="5409843"/>
            <a:ext cx="6420564" cy="2047161"/>
          </a:xfrm>
          <a:prstGeom prst="roundRect">
            <a:avLst>
              <a:gd name="adj" fmla="val 1071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7639883" y="5519380"/>
            <a:ext cx="6128385" cy="1828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eta;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nome[50];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&amp;eta);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svuota buffer */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c;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((c = getchar()) != '\n'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&amp;&amp; c != EOF);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fgets(nome, 50, stdin);</a:t>
            </a:r>
            <a:endParaRPr lang="en-US" sz="11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ora funziona correttamente */</a:t>
            </a:r>
            <a:endParaRPr lang="en-US" sz="11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7" y="119063"/>
            <a:ext cx="525780" cy="34647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395561" y="7848362"/>
            <a:ext cx="1839278" cy="177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14267021" y="7848362"/>
            <a:ext cx="253841" cy="177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25366"/>
            <a:ext cx="8255675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5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Calcolo Manuale della Lunghezza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93790" y="1985367"/>
            <a:ext cx="3084671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Algoritmo con ciclo </a:t>
            </a:r>
            <a:r>
              <a:rPr lang="en-US" sz="17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2425065"/>
            <a:ext cx="6303526" cy="822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calcolare la lunghezza di una stringa, si scorre l'array fino a trovare il terminatore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L'indice raggiunto in quel momento coincide esattamente con il numero di caratteri validi.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3790" y="3427928"/>
            <a:ext cx="6303526" cy="1896666"/>
          </a:xfrm>
          <a:prstGeom prst="roundRect">
            <a:avLst>
              <a:gd name="adj" fmla="val 482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784860" y="3427928"/>
            <a:ext cx="6321385" cy="1896666"/>
          </a:xfrm>
          <a:prstGeom prst="roundRect">
            <a:avLst>
              <a:gd name="adj" fmla="val 1413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963454" y="3561874"/>
            <a:ext cx="5964198" cy="162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lung = 0;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(s[lung] != '\0') {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lung++;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lung ora contiene la lunghezza */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printf("Lunghezza: %d\n", lung);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3790" y="5505450"/>
            <a:ext cx="6303526" cy="989886"/>
          </a:xfrm>
          <a:prstGeom prst="roundRect">
            <a:avLst>
              <a:gd name="adj" fmla="val 924"/>
            </a:avLst>
          </a:prstGeom>
          <a:solidFill>
            <a:srgbClr val="C9E9C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383" y="5778103"/>
            <a:ext cx="223242" cy="1785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4219" y="5710833"/>
            <a:ext cx="5544503" cy="550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Intuizione chiave: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r>
              <a:rPr lang="en-US" sz="140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 trova sempre all'indice pari alla lunghezza. Per "Ciao" (4 char), il terminatore è all'indice 4.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540704" y="1985367"/>
            <a:ext cx="396763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Traccia dell'algoritmo su "Ciao"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7540704" y="2445187"/>
            <a:ext cx="6303526" cy="3171825"/>
          </a:xfrm>
          <a:prstGeom prst="roundRect">
            <a:avLst>
              <a:gd name="adj" fmla="val 28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0"/>
          <p:cNvSpPr/>
          <p:nvPr/>
        </p:nvSpPr>
        <p:spPr>
          <a:xfrm>
            <a:off x="7548324" y="2452807"/>
            <a:ext cx="6288286" cy="48720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7727275" y="2556867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Iterazione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303068" y="2556867"/>
            <a:ext cx="1207175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s[lung]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875050" y="2556867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Condizione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447032" y="2556867"/>
            <a:ext cx="1210985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lung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548324" y="2940010"/>
            <a:ext cx="6288286" cy="4795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6"/>
          <p:cNvSpPr/>
          <p:nvPr/>
        </p:nvSpPr>
        <p:spPr>
          <a:xfrm>
            <a:off x="7727275" y="3044071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303068" y="3044071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'C'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875050" y="3044071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≠ '\0' → vera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2447032" y="3044071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548324" y="3419594"/>
            <a:ext cx="6288286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1"/>
          <p:cNvSpPr/>
          <p:nvPr/>
        </p:nvSpPr>
        <p:spPr>
          <a:xfrm>
            <a:off x="7727275" y="3523655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303068" y="3523655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'i'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875050" y="3523655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≠ '\0' → vera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2447032" y="3523655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548324" y="3899178"/>
            <a:ext cx="6288286" cy="4795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6"/>
          <p:cNvSpPr/>
          <p:nvPr/>
        </p:nvSpPr>
        <p:spPr>
          <a:xfrm>
            <a:off x="7727275" y="4003238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303068" y="4003238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'a'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10875050" y="4003238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≠ '\0' → vera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447032" y="4003238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548324" y="4378762"/>
            <a:ext cx="6288286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4" name="Text 31"/>
          <p:cNvSpPr/>
          <p:nvPr/>
        </p:nvSpPr>
        <p:spPr>
          <a:xfrm>
            <a:off x="7727275" y="4482822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303068" y="4482822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'o'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0875050" y="4482822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≠ '\0' → vera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12447032" y="4482822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7548324" y="4858345"/>
            <a:ext cx="6288286" cy="751046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9" name="Text 36"/>
          <p:cNvSpPr/>
          <p:nvPr/>
        </p:nvSpPr>
        <p:spPr>
          <a:xfrm>
            <a:off x="7727275" y="4962406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9303068" y="4962406"/>
            <a:ext cx="120717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'\0'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10875050" y="4962406"/>
            <a:ext cx="120717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= '\0' → falsa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12447032" y="4962406"/>
            <a:ext cx="12109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✓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7540704" y="5797868"/>
            <a:ext cx="2666881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Anticipazione: </a:t>
            </a:r>
            <a:r>
              <a:rPr lang="en-US" sz="17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strlen()</a:t>
            </a:r>
            <a:endParaRPr lang="en-US" sz="1750" dirty="0"/>
          </a:p>
        </p:txBody>
      </p:sp>
      <p:sp>
        <p:nvSpPr>
          <p:cNvPr id="44" name="Text 41"/>
          <p:cNvSpPr/>
          <p:nvPr/>
        </p:nvSpPr>
        <p:spPr>
          <a:xfrm>
            <a:off x="7540704" y="6237565"/>
            <a:ext cx="6303526" cy="822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libreria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&lt;string.h&gt;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fornisce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strlen(s)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che esegue esattamente questo algoritmo. Nei corsi avanzati la userete spesso, ma capire il meccanismo interno è fondamentale.</a:t>
            </a:r>
            <a:endParaRPr lang="en-US" sz="14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6323290" y="7806452"/>
            <a:ext cx="1983581" cy="211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14256306" y="7806452"/>
            <a:ext cx="254913" cy="211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56523"/>
            <a:ext cx="7010995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Accesso e Modifica per Indice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641991"/>
            <a:ext cx="2193131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Operazioni di base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793790" y="2066687"/>
            <a:ext cx="5642848" cy="2749629"/>
          </a:xfrm>
          <a:prstGeom prst="roundRect">
            <a:avLst>
              <a:gd name="adj" fmla="val 333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85455" y="2066687"/>
            <a:ext cx="5659517" cy="2749629"/>
          </a:xfrm>
          <a:prstGeom prst="roundRect">
            <a:avLst>
              <a:gd name="adj" fmla="val 920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54048" y="2193131"/>
            <a:ext cx="5322332" cy="2496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s[] = "Ciao";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Lettura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c = s[0]; /* c = 'C'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Modifica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s[0] = 'X';    /* s = "Xiao"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Troncamento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s[2] = '\0';   /* s = "Xi" */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3790" y="4977527"/>
            <a:ext cx="4331970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Conversione maiuscole </a:t>
            </a:r>
            <a:r>
              <a:rPr lang="en-US" sz="16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↔</a:t>
            </a:r>
            <a:r>
              <a:rPr lang="en-US" sz="16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minuscole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93790" y="5399603"/>
            <a:ext cx="5642848" cy="499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Maiuscole e minuscole differiscono di esattamente </a:t>
            </a:r>
            <a:r>
              <a:rPr lang="en-US" sz="13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32 unità ASCII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3790" y="6060162"/>
            <a:ext cx="5642848" cy="1251585"/>
          </a:xfrm>
          <a:prstGeom prst="roundRect">
            <a:avLst>
              <a:gd name="adj" fmla="val 731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785455" y="6060162"/>
            <a:ext cx="5659517" cy="1251585"/>
          </a:xfrm>
          <a:prstGeom prst="roundRect">
            <a:avLst>
              <a:gd name="adj" fmla="val 2022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954048" y="6186607"/>
            <a:ext cx="5322332" cy="99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min → MIN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s[i] = s[i] - 32;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MIN → min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s[i] = s[i] + 32;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5738" y="1641991"/>
            <a:ext cx="3101102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Valori ASCII fondamentali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855738" y="2066687"/>
            <a:ext cx="6988373" cy="1762601"/>
          </a:xfrm>
          <a:prstGeom prst="roundRect">
            <a:avLst>
              <a:gd name="adj" fmla="val 51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6863358" y="2074307"/>
            <a:ext cx="6973133" cy="43684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7032069" y="2167890"/>
            <a:ext cx="2029778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Categoria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406652" y="2167890"/>
            <a:ext cx="195631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7773" y="2167890"/>
            <a:ext cx="196012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63358" y="2511147"/>
            <a:ext cx="6973133" cy="43684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7032069" y="2604730"/>
            <a:ext cx="2029778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Cifre (0–9)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406652" y="2604730"/>
            <a:ext cx="195631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48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7773" y="2604730"/>
            <a:ext cx="196012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63358" y="2947988"/>
            <a:ext cx="6973133" cy="43684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7032069" y="3041571"/>
            <a:ext cx="2029778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Maiuscole (A–Z)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406652" y="3041571"/>
            <a:ext cx="195631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7773" y="3041571"/>
            <a:ext cx="196012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863358" y="3384828"/>
            <a:ext cx="6973133" cy="43684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7032069" y="3478411"/>
            <a:ext cx="2029778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Minuscole (a–z)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406652" y="3478411"/>
            <a:ext cx="195631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7773" y="3478411"/>
            <a:ext cx="1960126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5738" y="3990499"/>
            <a:ext cx="6988373" cy="499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classificare un carattere si confronta il suo valore numerico con questi intervalli: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855738" y="4651058"/>
            <a:ext cx="6988373" cy="1251585"/>
          </a:xfrm>
          <a:prstGeom prst="roundRect">
            <a:avLst>
              <a:gd name="adj" fmla="val 731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2" name="Shape 30"/>
          <p:cNvSpPr/>
          <p:nvPr/>
        </p:nvSpPr>
        <p:spPr>
          <a:xfrm>
            <a:off x="6847403" y="4651058"/>
            <a:ext cx="7005042" cy="1251585"/>
          </a:xfrm>
          <a:prstGeom prst="roundRect">
            <a:avLst>
              <a:gd name="adj" fmla="val 2022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7015996" y="4777502"/>
            <a:ext cx="6667857" cy="99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if (s[i] &gt;= 65 &amp;&amp; s[i] &lt;= 90)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/* è una lettera maiuscola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if (s[i] &gt;= 48 &amp;&amp; s[i] &lt;= 57)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/* è una cifra */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855738" y="6063853"/>
            <a:ext cx="6988373" cy="905708"/>
          </a:xfrm>
          <a:prstGeom prst="roundRect">
            <a:avLst>
              <a:gd name="adj" fmla="val 1010"/>
            </a:avLst>
          </a:prstGeom>
          <a:solidFill>
            <a:srgbClr val="C9E9C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330" y="6309955"/>
            <a:ext cx="210860" cy="168593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403783" y="6249353"/>
            <a:ext cx="6271736" cy="50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alternativa si può usare </a:t>
            </a:r>
            <a:r>
              <a:rPr lang="en-US" sz="130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s[i] &gt;= 'A' &amp;&amp; s[i] &lt;= 'Z'</a:t>
            </a: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più leggibile e equivalente.</a:t>
            </a:r>
            <a:endParaRPr lang="en-US" sz="1300" dirty="0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6319718" y="7809190"/>
            <a:ext cx="1990725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14246423" y="7809190"/>
            <a:ext cx="264795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00232"/>
            <a:ext cx="7155775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Pattern di Scansione con </a:t>
            </a:r>
            <a:r>
              <a:rPr lang="en-US" sz="330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714024"/>
            <a:ext cx="13042821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Questo è il </a:t>
            </a:r>
            <a:r>
              <a:rPr lang="en-US" sz="13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pattern fondamentale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per qualsiasi elaborazione su stringhe in C. Bisogna saperlo scrivere a memoria e riconoscerlo immediatamente.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3790" y="2124908"/>
            <a:ext cx="13042821" cy="1501259"/>
          </a:xfrm>
          <a:prstGeom prst="roundRect">
            <a:avLst>
              <a:gd name="adj" fmla="val 609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85455" y="2124908"/>
            <a:ext cx="13059489" cy="1501259"/>
          </a:xfrm>
          <a:prstGeom prst="roundRect">
            <a:avLst>
              <a:gd name="adj" fmla="val 1686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54048" y="2251353"/>
            <a:ext cx="12722304" cy="124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0;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(s[i] != '\0') {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/* elabora s[i] */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i++;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3790" y="3787378"/>
            <a:ext cx="4251960" cy="3541990"/>
          </a:xfrm>
          <a:prstGeom prst="roundRect">
            <a:avLst>
              <a:gd name="adj" fmla="val 258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970002" y="3963591"/>
            <a:ext cx="2291715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🔢</a:t>
            </a: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Conteggio vocali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970002" y="4403527"/>
            <a:ext cx="3899535" cy="2499955"/>
          </a:xfrm>
          <a:prstGeom prst="roundRect">
            <a:avLst>
              <a:gd name="adj" fmla="val 366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961668" y="4403527"/>
            <a:ext cx="3916204" cy="2499955"/>
          </a:xfrm>
          <a:prstGeom prst="roundRect">
            <a:avLst>
              <a:gd name="adj" fmla="val 1012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130260" y="4529971"/>
            <a:ext cx="3579019" cy="2247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voc = 0;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0;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(s[i] != '\0') {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if (s[i]=='a'||s[i]=='e'||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s[i]=='i'||s[i]=='o'||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s[i]=='u')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voc++;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i++;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89101" y="3787378"/>
            <a:ext cx="4252079" cy="3541990"/>
          </a:xfrm>
          <a:prstGeom prst="roundRect">
            <a:avLst>
              <a:gd name="adj" fmla="val 258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5365313" y="3963591"/>
            <a:ext cx="2363867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🔍</a:t>
            </a: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Ricerca carattere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365313" y="4403527"/>
            <a:ext cx="3899654" cy="2749629"/>
          </a:xfrm>
          <a:prstGeom prst="roundRect">
            <a:avLst>
              <a:gd name="adj" fmla="val 333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5356979" y="4403527"/>
            <a:ext cx="3916323" cy="2749629"/>
          </a:xfrm>
          <a:prstGeom prst="roundRect">
            <a:avLst>
              <a:gd name="adj" fmla="val 920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525572" y="4529971"/>
            <a:ext cx="3579138" cy="2496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cerca = 'z';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trovato = 0;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0;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(s[i] != '\0') {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if (s[i] == cerca) {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trovato = 1;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break;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i++;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584531" y="3787378"/>
            <a:ext cx="4252079" cy="3541990"/>
          </a:xfrm>
          <a:prstGeom prst="roundRect">
            <a:avLst>
              <a:gd name="adj" fmla="val 258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9760744" y="3963591"/>
            <a:ext cx="210871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🔄</a:t>
            </a: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Sostituzione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760744" y="4403527"/>
            <a:ext cx="3899654" cy="2250281"/>
          </a:xfrm>
          <a:prstGeom prst="roundRect">
            <a:avLst>
              <a:gd name="adj" fmla="val 406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9752409" y="4403527"/>
            <a:ext cx="3916323" cy="2250281"/>
          </a:xfrm>
          <a:prstGeom prst="roundRect">
            <a:avLst>
              <a:gd name="adj" fmla="val 1125"/>
            </a:avLst>
          </a:prstGeom>
          <a:solidFill>
            <a:srgbClr val="F2EDE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9921002" y="4529971"/>
            <a:ext cx="3579138" cy="199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0;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(s[i] != '\0') {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if (s[i] == 'a')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s[i] = 'A';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i++;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/* sostituisce tutte le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'a' con 'A' */</a:t>
            </a:r>
            <a:endParaRPr lang="en-US" sz="13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319718" y="7809190"/>
            <a:ext cx="1990725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4158198" y="7809190"/>
            <a:ext cx="353020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99198"/>
            <a:ext cx="5728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 (1/2)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216110"/>
            <a:ext cx="1928693" cy="373142"/>
          </a:xfrm>
          <a:prstGeom prst="roundRect">
            <a:avLst>
              <a:gd name="adj" fmla="val 2451"/>
            </a:avLst>
          </a:prstGeom>
          <a:solidFill>
            <a:srgbClr val="DBF0D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912852" y="2275642"/>
            <a:ext cx="1690568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APPLICAZIONI REALI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3790" y="2812494"/>
            <a:ext cx="6422231" cy="1854756"/>
          </a:xfrm>
          <a:prstGeom prst="roundRect">
            <a:avLst>
              <a:gd name="adj" fmla="val 5916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770930" y="2812494"/>
            <a:ext cx="91440" cy="185475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083588" y="3033713"/>
            <a:ext cx="4408527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📋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Registro Presenze Scolastico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83588" y="3478173"/>
            <a:ext cx="5911215" cy="967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Lettura del nome studente con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verifica che il campo non sia vuoto (solo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), rimozione del terminatore di riga e stampa del log formattato con ora e nome.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14379" y="2812494"/>
            <a:ext cx="6422231" cy="1854756"/>
          </a:xfrm>
          <a:prstGeom prst="roundRect">
            <a:avLst>
              <a:gd name="adj" fmla="val 5916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7391519" y="2812494"/>
            <a:ext cx="91440" cy="185475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7704177" y="3033713"/>
            <a:ext cx="3013591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📱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Messaggistica SMS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704177" y="3478173"/>
            <a:ext cx="5911215" cy="967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Limite di 160 caratteri: conteggio manuale con ciclo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senza ricorrere a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strlen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visualizzazione barra di utilizzo percentuale e avviso se il messaggio supera il limite.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93790" y="4865608"/>
            <a:ext cx="6422231" cy="2164675"/>
          </a:xfrm>
          <a:prstGeom prst="roundRect">
            <a:avLst>
              <a:gd name="adj" fmla="val 5069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770930" y="4865608"/>
            <a:ext cx="91440" cy="2164675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083588" y="5086826"/>
            <a:ext cx="5215295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📦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Inserimento Prodotto a Magazzino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83588" y="5531287"/>
            <a:ext cx="5911215" cy="967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Combinazione di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per il codice prodotto (nessuno spazio) e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per la descrizione (testo libero). Validazione che i campi obbligatori non siano vuoti prima di salvare.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414379" y="4865608"/>
            <a:ext cx="6422231" cy="2164675"/>
          </a:xfrm>
          <a:prstGeom prst="roundRect">
            <a:avLst>
              <a:gd name="adj" fmla="val 5069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7391519" y="4865608"/>
            <a:ext cx="91440" cy="2164675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7704177" y="5086826"/>
            <a:ext cx="2480905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🖥️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Log di Sistema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7704177" y="5531287"/>
            <a:ext cx="5911215" cy="1277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Composizione di una riga di log con campi misti: timestamp numerico, livello di severità (stringa breve) e messaggio descrittivo. Uso combinato di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con più specificatori di formato.</a:t>
            </a:r>
            <a:endParaRPr lang="en-US" sz="155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329363" y="7800856"/>
            <a:ext cx="197167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14184749" y="7800856"/>
            <a:ext cx="326588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44843"/>
            <a:ext cx="5728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 (2/2)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1661755"/>
            <a:ext cx="6422231" cy="1839516"/>
          </a:xfrm>
          <a:prstGeom prst="roundRect">
            <a:avLst>
              <a:gd name="adj" fmla="val 5965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770930" y="1661755"/>
            <a:ext cx="91440" cy="183951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1083588" y="1882973"/>
            <a:ext cx="2857024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🔢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Conta Occorrenze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83588" y="2327434"/>
            <a:ext cx="59112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Ricerca di una lettera in un testo con spazi, con distinzione tra maiuscole e minuscole. Utilizza il pattern base di scansione con contatore.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1661755"/>
            <a:ext cx="6422231" cy="1839516"/>
          </a:xfrm>
          <a:prstGeom prst="roundRect">
            <a:avLst>
              <a:gd name="adj" fmla="val 5965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7391519" y="1661755"/>
            <a:ext cx="91440" cy="183951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7704177" y="1882973"/>
            <a:ext cx="3172539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🗣️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Distribuzione Vocali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704177" y="2327434"/>
            <a:ext cx="59112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Analisi fonetica: conta ogni vocale separatamente e mostra una barra grafica proporzionale per ciascuna, utile per statistiche linguistiche.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93790" y="3699629"/>
            <a:ext cx="6422231" cy="1839516"/>
          </a:xfrm>
          <a:prstGeom prst="roundRect">
            <a:avLst>
              <a:gd name="adj" fmla="val 5965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770930" y="3699629"/>
            <a:ext cx="91440" cy="183951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1083588" y="3920847"/>
            <a:ext cx="3438049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🔐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Validazione Password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3588" y="4365308"/>
            <a:ext cx="59112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 5 requisiti di sicurezza con flag booleani: lunghezza minima, cifra presente, maiuscola, minuscola, carattere speciale.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414379" y="3699629"/>
            <a:ext cx="6422231" cy="1839516"/>
          </a:xfrm>
          <a:prstGeom prst="roundRect">
            <a:avLst>
              <a:gd name="adj" fmla="val 5965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7391519" y="3699629"/>
            <a:ext cx="91440" cy="183951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704177" y="3920847"/>
            <a:ext cx="2480905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📊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Analisi Testo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704177" y="4365308"/>
            <a:ext cx="59112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Conteggio parole con variabile di stato (dentro/fuori parola), più statistiche complete: caratteri totali, spazi, cifre, lettere.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93790" y="5737503"/>
            <a:ext cx="6422231" cy="1847136"/>
          </a:xfrm>
          <a:prstGeom prst="roundRect">
            <a:avLst>
              <a:gd name="adj" fmla="val 5940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770930" y="5737503"/>
            <a:ext cx="91440" cy="184713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1083588" y="5958721"/>
            <a:ext cx="2480905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🏦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Verifica IBAN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83588" y="6403181"/>
            <a:ext cx="59112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Controllo formale per posizione: primi 2 char lettere (paese), poi 2 cifre di controllo, poi caratteri alfanumerici. Verifica strutturale senza algoritmo checksum.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414379" y="5737503"/>
            <a:ext cx="6422231" cy="1847136"/>
          </a:xfrm>
          <a:prstGeom prst="roundRect">
            <a:avLst>
              <a:gd name="adj" fmla="val 5940"/>
            </a:avLst>
          </a:prstGeom>
          <a:solidFill>
            <a:srgbClr val="FFFAFA"/>
          </a:solidFill>
          <a:ln w="22860">
            <a:solidFill>
              <a:srgbClr val="C1D6C3"/>
            </a:solidFill>
            <a:prstDash val="solid"/>
          </a:ln>
          <a:effectLst>
            <a:outerShdw dist="1778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7391519" y="5737503"/>
            <a:ext cx="91440" cy="1847136"/>
          </a:xfrm>
          <a:prstGeom prst="roundRect">
            <a:avLst>
              <a:gd name="adj" fmla="val 10000"/>
            </a:avLst>
          </a:prstGeom>
          <a:solidFill>
            <a:srgbClr val="4CB65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7704177" y="5958721"/>
            <a:ext cx="2480905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🚫</a:t>
            </a: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Censura Testo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7704177" y="6403181"/>
            <a:ext cx="5911215" cy="960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Sostituzione di una parola vietata con asterischi </a:t>
            </a:r>
            <a:r>
              <a:rPr lang="en-US" sz="155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5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direttamente nell'array (modifica in-place), scorrendo carattere per carattere con confronto sequenziale.</a:t>
            </a:r>
            <a:endParaRPr lang="en-US" sz="155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29363" y="7800856"/>
            <a:ext cx="1971675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14184749" y="7800856"/>
            <a:ext cx="326588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81301"/>
            <a:ext cx="5813703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Errori Comuni da Evitare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695093"/>
            <a:ext cx="13042821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Questi sono i cinque errori più frequenti tra chi inizia a programmare stringhe in C. Riconoscerli e saperli correggere è fondamentale.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3790" y="2105978"/>
            <a:ext cx="379571" cy="379571"/>
          </a:xfrm>
          <a:prstGeom prst="roundRect">
            <a:avLst>
              <a:gd name="adj" fmla="val 2409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857071" y="2137648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16712" y="2163961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Dimenticare </a:t>
            </a:r>
            <a:r>
              <a:rPr lang="en-US" sz="16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16712" y="2513409"/>
            <a:ext cx="12519898" cy="514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❌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s[4] = "Ciao";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array troppo piccolo, overflow garantito.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✅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char s[5] = "Ciao";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spazio per il terminatore.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3790" y="3314700"/>
            <a:ext cx="379571" cy="379571"/>
          </a:xfrm>
          <a:prstGeom prst="roundRect">
            <a:avLst>
              <a:gd name="adj" fmla="val 2409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857071" y="3346371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16712" y="3372683"/>
            <a:ext cx="3571994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senza limite di larghezza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16712" y="3722132"/>
            <a:ext cx="12519898" cy="514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❌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scanf("%s", s);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nessun controllo sulla lunghezza input.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✅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scanf("%9s", s);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per un array da 10 elementi.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3790" y="4523423"/>
            <a:ext cx="379571" cy="379571"/>
          </a:xfrm>
          <a:prstGeom prst="roundRect">
            <a:avLst>
              <a:gd name="adj" fmla="val 2409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857071" y="4555093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16712" y="4581406"/>
            <a:ext cx="4682609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dopo </a:t>
            </a:r>
            <a:r>
              <a:rPr lang="en-US" sz="16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senza svuotare il buffer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16712" y="4930854"/>
            <a:ext cx="12519898" cy="25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❌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Chiamare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subito dopo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senza ciclo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getchar()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Il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residuo viene letto immediatamente da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3790" y="5474851"/>
            <a:ext cx="379571" cy="379571"/>
          </a:xfrm>
          <a:prstGeom prst="roundRect">
            <a:avLst>
              <a:gd name="adj" fmla="val 2409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857071" y="5506522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16712" y="5532834"/>
            <a:ext cx="3421023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Non rimuovere </a:t>
            </a:r>
            <a:r>
              <a:rPr lang="en-US" sz="16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 dopo </a:t>
            </a:r>
            <a:r>
              <a:rPr lang="en-US" sz="16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16712" y="5882283"/>
            <a:ext cx="12519898" cy="25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❌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Usare la stringa letta con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senza rimuovere il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finale, causando errori di confronto e stampa.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790" y="6426279"/>
            <a:ext cx="379571" cy="379571"/>
          </a:xfrm>
          <a:prstGeom prst="roundRect">
            <a:avLst>
              <a:gd name="adj" fmla="val 2409"/>
            </a:avLst>
          </a:prstGeom>
          <a:solidFill>
            <a:srgbClr val="DBF0DD"/>
          </a:solidFill>
          <a:ln w="7620">
            <a:solidFill>
              <a:srgbClr val="C1D6C3"/>
            </a:solidFill>
            <a:prstDash val="solid"/>
          </a:ln>
          <a:effectLst>
            <a:outerShdw dist="15240" dir="2700000" algn="bl" rotWithShape="0">
              <a:srgbClr val="C1D6C3">
                <a:alpha val="10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857071" y="6457950"/>
            <a:ext cx="253008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9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316712" y="6484263"/>
            <a:ext cx="3278743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Confrontare stringhe con </a:t>
            </a:r>
            <a:r>
              <a:rPr lang="en-US" sz="1650" b="1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16712" y="6833711"/>
            <a:ext cx="12519898" cy="514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❌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if (s == "Ciao")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confronta indirizzi di memoria, non contenuti.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✅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Confronta carattere per carattere con un ciclo, oppure usa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strcmp()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da </a:t>
            </a:r>
            <a:r>
              <a:rPr lang="en-US" sz="13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&lt;string.h&gt;</a:t>
            </a:r>
            <a:r>
              <a:rPr lang="en-US" sz="13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319718" y="7809190"/>
            <a:ext cx="1990725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4158198" y="7809190"/>
            <a:ext cx="353020" cy="205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07018"/>
            <a:ext cx="6645831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5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Riepilogo: Le Stringhe in C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93790" y="1786652"/>
            <a:ext cx="13042821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Ecco una mappa completa di tutti gli strumenti visti. Tienila come riferimento rapido durante i tuoi esercizi di programmazione.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93790" y="2238970"/>
            <a:ext cx="13042821" cy="3905250"/>
          </a:xfrm>
          <a:prstGeom prst="roundRect">
            <a:avLst>
              <a:gd name="adj" fmla="val 234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801410" y="2246590"/>
            <a:ext cx="13027581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80242" y="2350651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Operazione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50005" y="2350651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Strumento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58232" y="2350651"/>
            <a:ext cx="589216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 importanti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1410" y="2726174"/>
            <a:ext cx="13027581" cy="48720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80242" y="2830235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Output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50005" y="2830235"/>
            <a:ext cx="3543419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printf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puts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putchar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58232" y="2830235"/>
            <a:ext cx="5892165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puts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aggiunge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automatico;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putchar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per un singolo carattere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1410" y="3213378"/>
            <a:ext cx="13027581" cy="48720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980242" y="3317438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Input senza spazi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50005" y="3317438"/>
            <a:ext cx="3543419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scanf("%Ns", s)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58232" y="3317438"/>
            <a:ext cx="589216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 = limite caratteri (usa sempre il modificatore di larghezza!)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1410" y="3700582"/>
            <a:ext cx="13027581" cy="48720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980242" y="3804642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Input con spazi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50005" y="3804642"/>
            <a:ext cx="3543419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fgets(s, N, stdin)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58232" y="3804642"/>
            <a:ext cx="5892165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Rimuovere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'\n'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con ciclo; svuotare buffer se preceduto da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scanf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1410" y="4187785"/>
            <a:ext cx="13027581" cy="48720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980242" y="4291846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Lunghezza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50005" y="4291846"/>
            <a:ext cx="3543419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Ciclo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fino a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58232" y="4291846"/>
            <a:ext cx="5892165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Oppure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strlen()</a:t>
            </a: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da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&lt;string.h&gt;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1410" y="4674989"/>
            <a:ext cx="13027581" cy="48720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980242" y="4779050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Accesso carattere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50005" y="4779050"/>
            <a:ext cx="3543419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 = s[i]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58232" y="4779050"/>
            <a:ext cx="589216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Lettura e scrittura tramite indice intero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1410" y="5162193"/>
            <a:ext cx="13027581" cy="48720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980242" y="5266253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Modifica carattere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850005" y="5266253"/>
            <a:ext cx="3543419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s[i] = c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58232" y="5266253"/>
            <a:ext cx="5892165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Troncamento con </a:t>
            </a: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s[i] = '\0'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01410" y="5649397"/>
            <a:ext cx="13027581" cy="48720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980242" y="5753457"/>
            <a:ext cx="2504956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Scansione completa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850005" y="5753457"/>
            <a:ext cx="3543419" cy="279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(s[i] != '\0')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758232" y="5753457"/>
            <a:ext cx="589216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Pattern universale per elaborazione testuale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93790" y="6325076"/>
            <a:ext cx="13042821" cy="997506"/>
          </a:xfrm>
          <a:prstGeom prst="roundRect">
            <a:avLst>
              <a:gd name="adj" fmla="val 917"/>
            </a:avLst>
          </a:prstGeom>
          <a:solidFill>
            <a:srgbClr val="C9E9C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383" y="6597729"/>
            <a:ext cx="223242" cy="17859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374219" y="6530459"/>
            <a:ext cx="12283797" cy="558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Prossimi passi: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Una volta padroneggiati questi fondamentali, esplora la libreria </a:t>
            </a:r>
            <a:r>
              <a:rPr lang="en-US" sz="140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&lt;string.h&gt;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con funzioni come </a:t>
            </a:r>
            <a:r>
              <a:rPr lang="en-US" sz="140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strlen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r>
              <a:rPr lang="en-US" sz="140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strcpy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r>
              <a:rPr lang="en-US" sz="140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strcat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r>
              <a:rPr lang="en-US" sz="1400" dirty="0">
                <a:solidFill>
                  <a:srgbClr val="000000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strcmp</a:t>
            </a: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per operazioni più avanzate sulle stringhe.</a:t>
            </a:r>
            <a:endParaRPr lang="en-US" sz="1400" dirty="0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3" y="129421"/>
            <a:ext cx="571024" cy="37623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6323290" y="7806452"/>
            <a:ext cx="1983581" cy="211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 - Le Stringhe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14168080" y="7806452"/>
            <a:ext cx="343138" cy="211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2485</Words>
  <Application>Microsoft Macintosh PowerPoint</Application>
  <PresentationFormat>Personalizzato</PresentationFormat>
  <Paragraphs>366</Paragraphs>
  <Slides>14</Slides>
  <Notes>14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19" baseType="lpstr">
      <vt:lpstr>Arial</vt:lpstr>
      <vt:lpstr>Consolas</vt:lpstr>
      <vt:lpstr>Verdana</vt:lpstr>
      <vt:lpstr>Verdana Bold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Alberto Testa</cp:lastModifiedBy>
  <cp:revision>2</cp:revision>
  <dcterms:created xsi:type="dcterms:W3CDTF">2026-03-04T11:44:18Z</dcterms:created>
  <dcterms:modified xsi:type="dcterms:W3CDTF">2026-03-22T06:30:14Z</dcterms:modified>
</cp:coreProperties>
</file>