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5.png"/><Relationship Id="rId8" Type="http://schemas.openxmlformats.org/officeDocument/2006/relationships/image" Target="../media/image-3-6.sv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5.png"/><Relationship Id="rId8" Type="http://schemas.openxmlformats.org/officeDocument/2006/relationships/image" Target="../media/image-11-6.sv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9.png"/><Relationship Id="rId12" Type="http://schemas.openxmlformats.org/officeDocument/2006/relationships/image" Target="../media/image-12-10.svg"/><Relationship Id="rId13" Type="http://schemas.openxmlformats.org/officeDocument/2006/relationships/image" Target="../media/image-1-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5667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 Stringhe in C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788741"/>
            <a:ext cx="6296860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Dichiarazione, input/output, lunghezza e accesso ai caratteri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Alberto Testa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690045"/>
            <a:ext cx="1845423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3742952"/>
            <a:ext cx="225657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PROGRAMMAZIONE IN C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313535"/>
            <a:ext cx="936602" cy="33446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216" y="6523930"/>
            <a:ext cx="2287332" cy="138906"/>
          </a:xfrm>
          <a:prstGeom prst="rect">
            <a:avLst/>
          </a:prstGeom>
          <a:noFill/>
          <a:ln/>
        </p:spPr>
        <p:txBody>
          <a:bodyPr wrap="none" lIns="79884" tIns="0" rIns="45152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712377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Cosa è una Stringa in C?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294011"/>
            <a:ext cx="6034333" cy="3860800"/>
          </a:xfrm>
          <a:prstGeom prst="roundRect">
            <a:avLst>
              <a:gd name="adj" fmla="val 197"/>
            </a:avLst>
          </a:prstGeom>
          <a:solidFill>
            <a:srgbClr val="4CB655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477252"/>
            <a:ext cx="5703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Definizione fondamentale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1883073"/>
            <a:ext cx="5703745" cy="2020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C, una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stringa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è semplicemente un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char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terminato dal carattere speciale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(null terminator). Non esiste un tipo nativo 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in altri linguaggi: tutto si costruisce su array e puntatori.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terminatore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ha valore ASCII 0 e segnala la fine logica della stringa. Senza di esso, le funzioni di libreria non sapranno dove fermarsi.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67452" y="1477252"/>
            <a:ext cx="466901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Schema visivo: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"Ciao"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67452" y="1910159"/>
          <a:ext cx="4669018" cy="914400"/>
        </p:xfrm>
        <a:graphic>
          <a:graphicData uri="http://schemas.openxmlformats.org/drawingml/2006/table">
            <a:tbl>
              <a:tblPr/>
              <a:tblGrid>
                <a:gridCol w="992168"/>
                <a:gridCol w="735370"/>
                <a:gridCol w="735370"/>
                <a:gridCol w="735370"/>
                <a:gridCol w="735370"/>
                <a:gridCol w="735370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Indice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'C'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'i'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'a'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'o'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'\0'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67452" y="3060919"/>
            <a:ext cx="4669018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Lunghezza logica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4 caratteri (quelli visibili)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Dimensione array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5 celle (include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67452" y="3794720"/>
            <a:ext cx="4669018" cy="1174055"/>
          </a:xfrm>
          <a:prstGeom prst="roundRect">
            <a:avLst>
              <a:gd name="adj" fmla="val 649"/>
            </a:avLst>
          </a:prstGeom>
          <a:solidFill>
            <a:srgbClr val="DBF0D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2747" y="4053483"/>
            <a:ext cx="206667" cy="1652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4709" y="3985340"/>
            <a:ext cx="39664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Ricorda: devi sempre riservare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 byte in più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il terminatore quando dichiari un array di stringhe.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816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Dichiarazione e Inizializzazione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96343"/>
            <a:ext cx="11478330" cy="203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Esistono quattro modi principali per dichiarare e inizializzare una stringa in C. Ognuno ha caratteristiche e casi d'uso specifici.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26679"/>
            <a:ext cx="5389404" cy="21014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5860" y="1620341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8832" y="2076648"/>
            <a:ext cx="506171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Dimensione automatica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18832" y="2422922"/>
            <a:ext cx="5061716" cy="498078"/>
          </a:xfrm>
          <a:prstGeom prst="roundRect">
            <a:avLst>
              <a:gd name="adj" fmla="val 1530"/>
            </a:avLst>
          </a:prstGeom>
          <a:solidFill>
            <a:srgbClr val="F2EDED"/>
          </a:solidFill>
          <a:ln/>
        </p:spPr>
      </p:sp>
      <p:sp>
        <p:nvSpPr>
          <p:cNvPr id="8" name="Text 5"/>
          <p:cNvSpPr/>
          <p:nvPr/>
        </p:nvSpPr>
        <p:spPr>
          <a:xfrm>
            <a:off x="984821" y="2561233"/>
            <a:ext cx="47297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"Ciao";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8832" y="3051175"/>
            <a:ext cx="506171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compilatore calcola automaticamente la dimensione (5 byte: 4 caratteri + 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Metodo più semplice e sicuro.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3691" y="1526679"/>
            <a:ext cx="5389503" cy="21014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38175" y="1620341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1048" y="2076648"/>
            <a:ext cx="506181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sovradimensionato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11048" y="2422922"/>
            <a:ext cx="5061816" cy="498078"/>
          </a:xfrm>
          <a:prstGeom prst="roundRect">
            <a:avLst>
              <a:gd name="adj" fmla="val 1530"/>
            </a:avLst>
          </a:prstGeom>
          <a:solidFill>
            <a:srgbClr val="F2EDED"/>
          </a:solidFill>
          <a:ln/>
        </p:spPr>
      </p:sp>
      <p:sp>
        <p:nvSpPr>
          <p:cNvPr id="14" name="Text 10"/>
          <p:cNvSpPr/>
          <p:nvPr/>
        </p:nvSpPr>
        <p:spPr>
          <a:xfrm>
            <a:off x="6477036" y="2561233"/>
            <a:ext cx="47298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s[10] = "Ciao";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311048" y="3051175"/>
            <a:ext cx="506181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riserva più spazio del necessario. Le celle da 5 a 9 rimangono disponibili per future modifiche o estensioni della stringa.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30923"/>
            <a:ext cx="5389404" cy="25443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45860" y="3824585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8832" y="4280892"/>
            <a:ext cx="506171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Carattere per carattere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8832" y="4627166"/>
            <a:ext cx="5061716" cy="940991"/>
          </a:xfrm>
          <a:prstGeom prst="roundRect">
            <a:avLst>
              <a:gd name="adj" fmla="val 810"/>
            </a:avLst>
          </a:prstGeom>
          <a:solidFill>
            <a:srgbClr val="F2EDED"/>
          </a:solidFill>
          <a:ln/>
        </p:spPr>
      </p:sp>
      <p:sp>
        <p:nvSpPr>
          <p:cNvPr id="20" name="Text 15"/>
          <p:cNvSpPr/>
          <p:nvPr/>
        </p:nvSpPr>
        <p:spPr>
          <a:xfrm>
            <a:off x="984821" y="4765477"/>
            <a:ext cx="4729739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s[0]='C'; s[1]='i';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s[2]='a'; s[3]='o';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s[4]='\0';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18832" y="5698331"/>
            <a:ext cx="506171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Assegnazione manuale cella per cella.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Fondamentale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non dimenticare mai 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finale!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691" y="3730923"/>
            <a:ext cx="5389503" cy="25443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38175" y="3824585"/>
            <a:ext cx="207560" cy="2594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11048" y="4280892"/>
            <a:ext cx="5061816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Solo dichiarazione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311048" y="4627166"/>
            <a:ext cx="5061816" cy="940991"/>
          </a:xfrm>
          <a:prstGeom prst="roundRect">
            <a:avLst>
              <a:gd name="adj" fmla="val 810"/>
            </a:avLst>
          </a:prstGeom>
          <a:solidFill>
            <a:srgbClr val="F2EDED"/>
          </a:solidFill>
          <a:ln/>
        </p:spPr>
      </p:sp>
      <p:sp>
        <p:nvSpPr>
          <p:cNvPr id="26" name="Text 20"/>
          <p:cNvSpPr/>
          <p:nvPr/>
        </p:nvSpPr>
        <p:spPr>
          <a:xfrm>
            <a:off x="6477036" y="4765477"/>
            <a:ext cx="4729838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s[10];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poi riempimento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 ciclo o input */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311048" y="5698331"/>
            <a:ext cx="5061816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dichiara lo spazio e si riempie in seguito, ad esempio leggendo da input utente. Più flessibile, ma richiede attenzione.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651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Output di Stringhe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48724"/>
            <a:ext cx="11478330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stampare stringhe a schermo si usano tre funzioni principali, ciascuna con comportamento diverso. Scegliere quella giusta rende il codice più leggibile e corretto.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42938"/>
          <a:ext cx="10868745" cy="914400"/>
        </p:xfrm>
        <a:graphic>
          <a:graphicData uri="http://schemas.openxmlformats.org/drawingml/2006/table">
            <a:tbl>
              <a:tblPr/>
              <a:tblGrid>
                <a:gridCol w="2391072"/>
                <a:gridCol w="3043300"/>
                <a:gridCol w="2717186"/>
                <a:gridCol w="2717186"/>
              </a:tblGrid>
              <a:tr h="3219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Sintassi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Comportamento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Nota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283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printf("%s", s);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Stampa la stringa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Nessun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\n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automatico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283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puts(s);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Stampa la stringa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Aggiunge 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\n</a:t>
                      </a:r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automatico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283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putchar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putchar(s[i]);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Stampa un solo char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Utile nei cicli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0245" marR="130245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2993330"/>
            <a:ext cx="5275527" cy="2969022"/>
          </a:xfrm>
          <a:prstGeom prst="roundRect">
            <a:avLst>
              <a:gd name="adj" fmla="val 257"/>
            </a:avLst>
          </a:prstGeom>
          <a:solidFill>
            <a:srgbClr val="F2EDED"/>
          </a:solidFill>
          <a:ln/>
        </p:spPr>
      </p:sp>
      <p:sp>
        <p:nvSpPr>
          <p:cNvPr id="6" name="Text 3"/>
          <p:cNvSpPr/>
          <p:nvPr/>
        </p:nvSpPr>
        <p:spPr>
          <a:xfrm>
            <a:off x="817740" y="3123505"/>
            <a:ext cx="4962996" cy="2708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printf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"Ciao";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printf("Messaggio: %s\n", s);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puts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puts(s); /* equivale a printf + \n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putchar in ciclo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'\0') {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putchar(s[i]);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1043" y="2993330"/>
            <a:ext cx="5275527" cy="1007269"/>
          </a:xfrm>
          <a:prstGeom prst="roundRect">
            <a:avLst>
              <a:gd name="adj" fmla="val 756"/>
            </a:avLst>
          </a:prstGeom>
          <a:solidFill>
            <a:srgbClr val="DBF0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1214" y="3160514"/>
            <a:ext cx="162715" cy="130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84101" y="3125559"/>
            <a:ext cx="4722297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Quando usare cosa?</a:t>
            </a:r>
            <a:endParaRPr lang="en-US" sz="10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 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quando devi formattare output complesso. Usa 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puts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stampe veloci di intere stringhe. Usa 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putchar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quando elabori la stringa carattere per carattere.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Input di Stringhe: </a:t>
            </a:r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772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Come funziona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83590"/>
            <a:ext cx="523266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scanf("%s", s)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 caratteri fino al primo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spazio, tab o newline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Non legge frasi intere, ma è veloce per token singoli come codici o username.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69307"/>
            <a:ext cx="5232666" cy="1389063"/>
          </a:xfrm>
          <a:prstGeom prst="roundRect">
            <a:avLst>
              <a:gd name="adj" fmla="val 549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034605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codice[21];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printf("Inserisci codice: ");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scanf("%20s", codice);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printf("Codice: %s\n", codice);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46234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Quando usarlo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4868168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Codici prodotto o seriali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Username e token senza spazi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Valori numerici in forma testuale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1294011"/>
            <a:ext cx="5470785" cy="4641354"/>
          </a:xfrm>
          <a:prstGeom prst="roundRect">
            <a:avLst>
              <a:gd name="adj" fmla="val 164"/>
            </a:avLst>
          </a:prstGeom>
          <a:solidFill>
            <a:srgbClr val="4CB655"/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1477252"/>
            <a:ext cx="5140196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Rischio Buffer Overflow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1896290"/>
            <a:ext cx="51401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Senza modificatore di larghezza,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scanf("%s", s)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può scrivere oltre i limiti dell'array se l'utente inserisce troppi caratteri.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0139" y="2617391"/>
            <a:ext cx="5140196" cy="2182912"/>
          </a:xfrm>
          <a:prstGeom prst="roundRect">
            <a:avLst>
              <a:gd name="adj" fmla="val 349"/>
            </a:avLst>
          </a:prstGeom>
          <a:solidFill>
            <a:srgbClr val="3FA948"/>
          </a:solidFill>
          <a:ln/>
        </p:spPr>
      </p:sp>
      <p:sp>
        <p:nvSpPr>
          <p:cNvPr id="13" name="Text 11"/>
          <p:cNvSpPr/>
          <p:nvPr/>
        </p:nvSpPr>
        <p:spPr>
          <a:xfrm>
            <a:off x="6548571" y="2782689"/>
            <a:ext cx="474333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SBAGLIATO - overflow possibile */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s[10];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scanf("%s", s);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CORRETTO - al massimo 9 char */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s[10];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scanf("%9s", s);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0139" y="4986854"/>
            <a:ext cx="5140196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numero nel formato indica il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massimo di caratteri da leggere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(escluso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): usa sempre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3FA94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N-1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rispetto alla dimensione dell'array.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Input di Stringhe: </a:t>
            </a:r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7188"/>
            <a:ext cx="1147833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è la funzione più sicura per leggere stringhe da tastiera perché gestisce automaticamente il limite di lunghezza e supporta gli spazi.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911588"/>
            <a:ext cx="501756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Sintassi e utilizzo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1475" y="2307034"/>
            <a:ext cx="5017565" cy="1068388"/>
          </a:xfrm>
          <a:prstGeom prst="roundRect">
            <a:avLst>
              <a:gd name="adj" fmla="val 713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849986" y="2464098"/>
            <a:ext cx="464054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nome[50];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printf("Inserisci nome: ");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fgets(nome, 50, stdin);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545521"/>
            <a:ext cx="501756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fgets(s, dimensione, stdin)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al massimo dimensione-1 caratteri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inclusi spazi, e termina con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4213562"/>
            <a:ext cx="501756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Quando usarlo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4590355"/>
            <a:ext cx="5017565" cy="83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Nomi e cognomi con spazi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Indirizzi e testo libero</a:t>
            </a:r>
            <a:endParaRPr lang="en-US" sz="1200" dirty="0"/>
          </a:p>
          <a:p>
            <a:pPr algn="l" marL="243840" indent="-24384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Qualsiasi input con spazi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68761" y="1911588"/>
            <a:ext cx="5467709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Problema: include 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68761" y="2303302"/>
            <a:ext cx="5467709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include il carattere di fine riga nella stringa. Va rimosso manualmente con questo schema: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8761" y="2965648"/>
            <a:ext cx="5467709" cy="1822648"/>
          </a:xfrm>
          <a:prstGeom prst="roundRect">
            <a:avLst>
              <a:gd name="adj" fmla="val 418"/>
            </a:avLst>
          </a:prstGeom>
          <a:solidFill>
            <a:srgbClr val="F2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6257272" y="3122712"/>
            <a:ext cx="5090687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'\n' &amp;&amp;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s[i] != '\0') {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s[i] = '\0';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68761" y="4956175"/>
            <a:ext cx="5467709" cy="1095276"/>
          </a:xfrm>
          <a:prstGeom prst="roundRect">
            <a:avLst>
              <a:gd name="adj" fmla="val 696"/>
            </a:avLst>
          </a:prstGeom>
          <a:solidFill>
            <a:srgbClr val="DBF0DD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5821" y="5191224"/>
            <a:ext cx="196349" cy="15706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79229" y="5131930"/>
            <a:ext cx="4800182" cy="748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ciclo avanza finché non trova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poi sovrascrive il carattere trovato con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troncando efficacemente la stringa.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082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 del Buffer Residuo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58094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Uno dei bug più frequenti nei programmi C: mischiare 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senza svuotare il buffer di input causa comportamenti inattesi.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625" y="1301552"/>
            <a:ext cx="5716444" cy="25094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7341" y="3126308"/>
            <a:ext cx="1002045" cy="15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07341" y="3325208"/>
            <a:ext cx="1002045" cy="21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scanf lascia '\n' nel buffer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020774" y="3087767"/>
            <a:ext cx="1002045" cy="15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Soluzione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020774" y="3286667"/>
            <a:ext cx="1002045" cy="21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svuota con getchar() in loop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622316" y="1564704"/>
            <a:ext cx="1002045" cy="15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Effetto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22316" y="1763604"/>
            <a:ext cx="1002045" cy="21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fgets legge il '\n' e termina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1475" y="3994962"/>
            <a:ext cx="5293188" cy="193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Codice con il bug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4267696"/>
            <a:ext cx="5293188" cy="1157585"/>
          </a:xfrm>
          <a:prstGeom prst="roundRect">
            <a:avLst>
              <a:gd name="adj" fmla="val 658"/>
            </a:avLst>
          </a:prstGeom>
          <a:solidFill>
            <a:srgbClr val="F2EDED"/>
          </a:solidFill>
          <a:ln/>
        </p:spPr>
      </p:sp>
      <p:sp>
        <p:nvSpPr>
          <p:cNvPr id="13" name="Text 10"/>
          <p:cNvSpPr/>
          <p:nvPr/>
        </p:nvSpPr>
        <p:spPr>
          <a:xfrm>
            <a:off x="800378" y="4383385"/>
            <a:ext cx="5015382" cy="92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eta;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nome[50];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&amp;eta);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fgets(nome, 50, stdin);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nome rimane vuoto! */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43382" y="3994962"/>
            <a:ext cx="5293188" cy="193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Soluzione: svuotare il buffer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43382" y="4267696"/>
            <a:ext cx="5293188" cy="1898551"/>
          </a:xfrm>
          <a:prstGeom prst="roundRect">
            <a:avLst>
              <a:gd name="adj" fmla="val 401"/>
            </a:avLst>
          </a:prstGeom>
          <a:solidFill>
            <a:srgbClr val="F2EDED"/>
          </a:solidFill>
          <a:ln/>
        </p:spPr>
      </p:sp>
      <p:sp>
        <p:nvSpPr>
          <p:cNvPr id="16" name="Text 13"/>
          <p:cNvSpPr/>
          <p:nvPr/>
        </p:nvSpPr>
        <p:spPr>
          <a:xfrm>
            <a:off x="6382285" y="4383385"/>
            <a:ext cx="5015382" cy="1667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eta;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nome[50];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&amp;eta);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svuota buffer */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((c = getchar()) != '\n'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c != EOF);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fgets(nome, 50, stdin);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ora funziona correttamente */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16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Calcolo Manuale della Lunghezza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44112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Algoritmo con ciclo 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699408"/>
            <a:ext cx="5252807" cy="6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calcolare la lunghezza di una stringa, si scorre l'array fino a trovare il terminatore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L'indice raggiunto in quel momento coincide esattamente con il numero di caratteri validi.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2531368"/>
            <a:ext cx="5252807" cy="1726406"/>
          </a:xfrm>
          <a:prstGeom prst="roundRect">
            <a:avLst>
              <a:gd name="adj" fmla="val 441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840064" y="2680196"/>
            <a:ext cx="4895628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lung = 0;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(s[lung] != '\0') {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lung++;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lung ora contiene la lunghezza */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printf("Lunghezza: %d\n", lung);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4408488"/>
            <a:ext cx="5252807" cy="774303"/>
          </a:xfrm>
          <a:prstGeom prst="roundRect">
            <a:avLst>
              <a:gd name="adj" fmla="val 984"/>
            </a:avLst>
          </a:prstGeom>
          <a:solidFill>
            <a:srgbClr val="DBF0D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99" y="4620816"/>
            <a:ext cx="186031" cy="1488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5154" y="4570005"/>
            <a:ext cx="4620303" cy="45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Intuizione chiave: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trova sempre all'indice pari alla lunghezza. Per "Ciao" (4 char), il terminatore è all'indice 4.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83763" y="1344112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Traccia dell'algoritmo su "Ciao"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3763" y="1712416"/>
          <a:ext cx="5252807" cy="914400"/>
        </p:xfrm>
        <a:graphic>
          <a:graphicData uri="http://schemas.openxmlformats.org/drawingml/2006/table">
            <a:tbl>
              <a:tblPr/>
              <a:tblGrid>
                <a:gridCol w="1313202"/>
                <a:gridCol w="1313202"/>
                <a:gridCol w="1313202"/>
                <a:gridCol w="1313202"/>
              </a:tblGrid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Iterazione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s[lung]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lung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'C'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≠ '\0' → vera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'i'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≠ '\0' → vera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'a'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≠ '\0' → vera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'o'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≠ '\0' → vera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6258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'\0'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= '\0' → falsa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 ✓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283763" y="4521195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Anticipazione: 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strlen()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283763" y="4876492"/>
            <a:ext cx="5252807" cy="685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libreria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&lt;string.h&gt;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fornisce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strlen(s)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che esegue esattamente questo algoritmo. Nei corsi avanzati la userete spesso, ma capire il meccanismo interno è fondamentale.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03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Accesso e Modifica per Indice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22184"/>
            <a:ext cx="47134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Operazioni di 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532930"/>
            <a:ext cx="4713467" cy="2381845"/>
          </a:xfrm>
          <a:prstGeom prst="roundRect">
            <a:avLst>
              <a:gd name="adj" fmla="val 320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665188"/>
            <a:ext cx="4395975" cy="211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s[] = "Ciao";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Lettura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 = s[0]; /* c = 'C'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Modifica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= 'X';    /* s = "Xiao"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Troncamento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s[2] = '\0';   /* s = "Xi" */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4048827"/>
            <a:ext cx="471346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Conversione maiuscole 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↔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minuscole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358968"/>
            <a:ext cx="53230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Maiuscole e minuscole differiscono di esattamente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32 unità ASCII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1475" y="4662190"/>
            <a:ext cx="4713467" cy="1111448"/>
          </a:xfrm>
          <a:prstGeom prst="roundRect">
            <a:avLst>
              <a:gd name="adj" fmla="val 686"/>
            </a:avLst>
          </a:prstGeom>
          <a:solidFill>
            <a:srgbClr val="F2EDED"/>
          </a:solidFill>
          <a:ln/>
        </p:spPr>
      </p:sp>
      <p:sp>
        <p:nvSpPr>
          <p:cNvPr id="9" name="Text 7"/>
          <p:cNvSpPr/>
          <p:nvPr/>
        </p:nvSpPr>
        <p:spPr>
          <a:xfrm>
            <a:off x="820221" y="4794448"/>
            <a:ext cx="4395975" cy="84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min → MAI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s[i] = s[i] - 32;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MAI → min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s[i] = s[i] + 32;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03943" y="1222184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Valori ASCII fondamentali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03943" y="1532930"/>
          <a:ext cx="5832528" cy="914400"/>
        </p:xfrm>
        <a:graphic>
          <a:graphicData uri="http://schemas.openxmlformats.org/drawingml/2006/table">
            <a:tbl>
              <a:tblPr/>
              <a:tblGrid>
                <a:gridCol w="1983022"/>
                <a:gridCol w="1924753"/>
                <a:gridCol w="1924753"/>
              </a:tblGrid>
              <a:tr h="330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Categoria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0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Cifre (0–9)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48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57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0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Maiuscole (A–Z)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65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90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0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Minuscole (a–z)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97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122</a:t>
                      </a:r>
                      <a:endParaRPr lang="en-US" sz="10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703943" y="2991833"/>
            <a:ext cx="64421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classificare un carattere si confronta il suo valore numerico con questi intervalli: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03943" y="3295055"/>
            <a:ext cx="5832528" cy="1111448"/>
          </a:xfrm>
          <a:prstGeom prst="roundRect">
            <a:avLst>
              <a:gd name="adj" fmla="val 686"/>
            </a:avLst>
          </a:prstGeom>
          <a:solidFill>
            <a:srgbClr val="F2EDED"/>
          </a:solidFill>
          <a:ln/>
        </p:spPr>
      </p:sp>
      <p:sp>
        <p:nvSpPr>
          <p:cNvPr id="14" name="Text 11"/>
          <p:cNvSpPr/>
          <p:nvPr/>
        </p:nvSpPr>
        <p:spPr>
          <a:xfrm>
            <a:off x="5862689" y="3427313"/>
            <a:ext cx="5515035" cy="84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(s[i] &gt;= 65 &amp;&amp; s[i] &lt;= 90)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è una lettera maiuscola */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(s[i] &gt;= 48 &amp;&amp; s[i] &lt;= 57)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è una cifra */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03943" y="4525566"/>
            <a:ext cx="5832528" cy="447080"/>
          </a:xfrm>
          <a:prstGeom prst="roundRect">
            <a:avLst>
              <a:gd name="adj" fmla="val 1704"/>
            </a:avLst>
          </a:prstGeom>
          <a:solidFill>
            <a:srgbClr val="DBF0DD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199" y="4694634"/>
            <a:ext cx="165294" cy="13225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133748" y="4660197"/>
            <a:ext cx="588005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alternativa si può usare 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s[i] &gt;= 'A' &amp;&amp; s[i] &lt;= 'Z'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più leggibile e equivalente.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84263" y="6523930"/>
            <a:ext cx="808216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10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Pattern di Scansione con </a:t>
            </a:r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09351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Questo è il </a:t>
            </a:r>
            <a:pPr algn="l" indent="0" marL="0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pattern fondamentale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qualsiasi elaborazione su stringhe in C. Bisogna saperlo scrivere a memoria e riconoscerlo immediatamente.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49797"/>
            <a:ext cx="10868745" cy="1405632"/>
          </a:xfrm>
          <a:prstGeom prst="roundRect">
            <a:avLst>
              <a:gd name="adj" fmla="val 54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30143" y="1691206"/>
            <a:ext cx="10531410" cy="1124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'\0')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elabora s[i] */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i++;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1475" y="3089771"/>
            <a:ext cx="3543211" cy="3190577"/>
          </a:xfrm>
          <a:prstGeom prst="roundRect">
            <a:avLst>
              <a:gd name="adj" fmla="val 23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8315" y="3236615"/>
            <a:ext cx="3249531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🔢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Conteggio vocali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8315" y="3603228"/>
            <a:ext cx="3249531" cy="2305348"/>
          </a:xfrm>
          <a:prstGeom prst="roundRect">
            <a:avLst>
              <a:gd name="adj" fmla="val 331"/>
            </a:avLst>
          </a:prstGeom>
          <a:solidFill>
            <a:srgbClr val="F2EDED"/>
          </a:solidFill>
          <a:ln/>
        </p:spPr>
      </p:sp>
      <p:sp>
        <p:nvSpPr>
          <p:cNvPr id="9" name="Text 7"/>
          <p:cNvSpPr/>
          <p:nvPr/>
        </p:nvSpPr>
        <p:spPr>
          <a:xfrm>
            <a:off x="976983" y="3743722"/>
            <a:ext cx="2912196" cy="202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voc = 0;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'\0')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(s[i]=='a'||s[i]=='e'||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s[i]=='i'||s[i]=='o'||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s[i]=='u')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voc++;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i++;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4143" y="3089771"/>
            <a:ext cx="3543311" cy="3190577"/>
          </a:xfrm>
          <a:prstGeom prst="roundRect">
            <a:avLst>
              <a:gd name="adj" fmla="val 23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70983" y="3236615"/>
            <a:ext cx="3249630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Ricerca carattere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70983" y="3603228"/>
            <a:ext cx="3249630" cy="2530277"/>
          </a:xfrm>
          <a:prstGeom prst="roundRect">
            <a:avLst>
              <a:gd name="adj" fmla="val 301"/>
            </a:avLst>
          </a:prstGeom>
          <a:solidFill>
            <a:srgbClr val="F2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4639650" y="3743722"/>
            <a:ext cx="2912295" cy="2249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cerca = 'z';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trovato = 0;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'\0')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(s[i] == cerca)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trovato = 1;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i++;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86910" y="3089771"/>
            <a:ext cx="3543311" cy="3190577"/>
          </a:xfrm>
          <a:prstGeom prst="roundRect">
            <a:avLst>
              <a:gd name="adj" fmla="val 23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3750" y="3236615"/>
            <a:ext cx="3249630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Sostituzione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3750" y="3603228"/>
            <a:ext cx="3249630" cy="2080419"/>
          </a:xfrm>
          <a:prstGeom prst="roundRect">
            <a:avLst>
              <a:gd name="adj" fmla="val 366"/>
            </a:avLst>
          </a:prstGeom>
          <a:solidFill>
            <a:srgbClr val="F2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417" y="3743722"/>
            <a:ext cx="2912295" cy="1799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0;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(s[i] != '\0') {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(s[i] == 'a')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s[i] = 'A';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i++;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sostituisce tutte le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'a' con 'A' */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10744" y="6523930"/>
            <a:ext cx="881735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 (1/2)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76660"/>
            <a:ext cx="1607204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4" name="Text 2"/>
          <p:cNvSpPr/>
          <p:nvPr/>
        </p:nvSpPr>
        <p:spPr>
          <a:xfrm>
            <a:off x="760691" y="1429567"/>
            <a:ext cx="201835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APPLICAZIONI REALI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814116"/>
            <a:ext cx="5367231" cy="15611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1998464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Registro Presenze Scolastico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2368848"/>
            <a:ext cx="4906840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Lettura del nome studente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verifica che il campo non sia vuoto (solo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), rimozione del terminatore di riga e stampa del log formattato con ora e nome.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814116"/>
            <a:ext cx="5367231" cy="15611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9037" y="1998464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Messaggistica SMS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39037" y="2368848"/>
            <a:ext cx="4906840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Limite di 160 caratteri: conteggio manuale con ciclo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senza ricorrere 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visualizzazione barra di utilizzo percentuale e avviso se il messaggio supera il limite.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25044"/>
            <a:ext cx="5367231" cy="1819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709392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Inserimento Prodotto a Magazzino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079776"/>
            <a:ext cx="4906840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Combinazione di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il codice prodotto (nessuno spazio)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la descrizione (testo libero). Validazione che i campi obbligatori non siano vuoti prima di salvare.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3525044"/>
            <a:ext cx="5367231" cy="1819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9037" y="3709392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Log di Sistema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439037" y="4079776"/>
            <a:ext cx="4906840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Composizione di una riga di log con campi misti: timestamp numerico, livello di severità (stringa breve) e messaggio descrittivo. Uso combinato di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più specificatori di formato.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10744" y="6523930"/>
            <a:ext cx="881735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 (2/2)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76660"/>
            <a:ext cx="5367231" cy="1548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561009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🔢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Conta Occorrenze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1931392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di una lettera in un testo con spazi, con distinzione tra maiuscole e minuscole. Utilizza il pattern base di scansione con contatore.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376660"/>
            <a:ext cx="5367231" cy="15484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9037" y="1561009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🗣️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Distribuzione Vocali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39037" y="1931392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Analisi fonetica: conta ogni vocale separatamente e mostra una barra grafica proporzionale per ciascuna, utile per statistiche linguistiche.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74888"/>
            <a:ext cx="5367231" cy="15484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2017" y="3259237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Validazione Password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22017" y="3629620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Verifica 5 requisiti di sicurezza con flag booleani: lunghezza minima, cifra presente, maiuscola, minuscola, carattere speciale.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3074888"/>
            <a:ext cx="5367231" cy="15484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39037" y="3259237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Analisi Testo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439037" y="3629620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Conteggio parole con variabile di stato (dentro/fuori parola), più statistiche complete: caratteri totali, spazi, cifre, lettere.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773116"/>
            <a:ext cx="5367231" cy="15547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2017" y="4957465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🏦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Verifica IBAN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922017" y="5327848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Controllo formale per posizione: primi 2 char lettere (paese), poi 2 cifre di controllo, poi caratteri alfanumerici. Verifica strutturale senza algoritmo checksum.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78495" y="4773116"/>
            <a:ext cx="5367231" cy="15547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39037" y="4957465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🚫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Censura Testo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439037" y="5327848"/>
            <a:ext cx="4906840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Sostituzione di una parola vietata con asterischi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direttamente nell'array (modifica in-place), scorrendo carattere per carattere con confronto sequenziale.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11210744" y="6523930"/>
            <a:ext cx="881735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10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09351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 sono i cinque errori più frequenti tra chi inizia a programmare stringhe in C. Riconoscerli e saperli correggere è fondamentale.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49797"/>
            <a:ext cx="316301" cy="316309"/>
          </a:xfrm>
          <a:prstGeom prst="roundRect">
            <a:avLst>
              <a:gd name="adj" fmla="val 240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4208" y="1576189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97233" y="1598116"/>
            <a:ext cx="1043298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Dimenticare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97233" y="1889323"/>
            <a:ext cx="10432987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s[4] = "Ciao";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array troppo piccolo, overflow garantito.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 s[5] = "Ciao";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spazio per il terminatore.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557066"/>
            <a:ext cx="316301" cy="316309"/>
          </a:xfrm>
          <a:prstGeom prst="roundRect">
            <a:avLst>
              <a:gd name="adj" fmla="val 240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4208" y="2583458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97233" y="2605385"/>
            <a:ext cx="1043298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senza limite di larghezza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97233" y="2896592"/>
            <a:ext cx="10432987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scanf("%s", s);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nessun controllo sulla lunghezza input.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scanf("%9s", s);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per un array da 10 elementi.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564334"/>
            <a:ext cx="316301" cy="316309"/>
          </a:xfrm>
          <a:prstGeom prst="roundRect">
            <a:avLst>
              <a:gd name="adj" fmla="val 240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4208" y="3590727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97233" y="3612654"/>
            <a:ext cx="1043298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dopo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senza svuotare il buffer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7233" y="3903861"/>
            <a:ext cx="1043298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Chiamare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subito dopo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senza ciclo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getchar()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Il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residuo viene letto immediatamente da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357191"/>
            <a:ext cx="316301" cy="316309"/>
          </a:xfrm>
          <a:prstGeom prst="roundRect">
            <a:avLst>
              <a:gd name="adj" fmla="val 240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4208" y="4383584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97233" y="4405511"/>
            <a:ext cx="1043298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Non rimuovere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dopo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33" y="4696718"/>
            <a:ext cx="1043298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Usare la stringa letta con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senza rimuovere il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'\n'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finale, causando errori di confronto e stampa.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150048"/>
            <a:ext cx="316301" cy="316309"/>
          </a:xfrm>
          <a:prstGeom prst="roundRect">
            <a:avLst>
              <a:gd name="adj" fmla="val 240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1778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4208" y="517644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7233" y="5198368"/>
            <a:ext cx="1043298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Confrontare stringhe con </a:t>
            </a:r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97233" y="5489575"/>
            <a:ext cx="10432987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(s == "Ciao")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confronta indirizzi di memoria, non contenuti.</a:t>
            </a:r>
            <a:endParaRPr lang="en-US" sz="11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 carattere per carattere con un ciclo, oppure usa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strcmp()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da 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&lt;string.h&gt;</a:t>
            </a:r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10744" y="6523930"/>
            <a:ext cx="881735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16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Riepilogo: Le Stringhe in C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66021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Ecco una mappa completa di tutti gli strumenti visti. Tienila come riferimento rapido durante i tuoi esercizi di programmazione.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39193"/>
          <a:ext cx="10868745" cy="914400"/>
        </p:xfrm>
        <a:graphic>
          <a:graphicData uri="http://schemas.openxmlformats.org/drawingml/2006/table">
            <a:tbl>
              <a:tblPr/>
              <a:tblGrid>
                <a:gridCol w="2391072"/>
                <a:gridCol w="3260644"/>
                <a:gridCol w="5217030"/>
              </a:tblGrid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Strumento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 importanti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Output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puts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putchar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puts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aggiunge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'\n'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automatico;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putchar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per un singolo carattere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Input senza spazi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scanf("%Ns", 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= limite caratteri (usa sempre il modificatore di larghezza!)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Input con spazi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fgets(s, N, stdin)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Rimuovere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'\n'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con ciclo; svuotare buffer se preceduto da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scanf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Lunghezza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Ciclo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fino a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'\0'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Oppure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strlen()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da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&lt;string.h&gt;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Accesso carattere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 = s[i]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Lettura e scrittura tramite indice intero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 carattere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s[i] = 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Troncamento con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s[i] = '\0'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Scansione completa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while (s[i] != '\0')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Pattern universale per elaborazione testuale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044281"/>
            <a:ext cx="10868745" cy="794048"/>
          </a:xfrm>
          <a:prstGeom prst="roundRect">
            <a:avLst>
              <a:gd name="adj" fmla="val 960"/>
            </a:avLst>
          </a:prstGeom>
          <a:solidFill>
            <a:srgbClr val="DBF0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99" y="5237559"/>
            <a:ext cx="186031" cy="148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5154" y="5219193"/>
            <a:ext cx="10236242" cy="465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Prossimi passi: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volta padroneggiati questi fondamentali, esplora la libreria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&lt;string.h&gt;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funzioni come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strlen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strcpy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strcat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strcmp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operazioni più avanzate sulle stringhe.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9544" y="6523930"/>
            <a:ext cx="2252606" cy="138906"/>
          </a:xfrm>
          <a:prstGeom prst="rect">
            <a:avLst/>
          </a:prstGeom>
          <a:noFill/>
          <a:ln/>
        </p:spPr>
        <p:txBody>
          <a:bodyPr wrap="none" lIns="45152" tIns="0" rIns="45152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 - Le Stringhe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10744" y="6523930"/>
            <a:ext cx="881735" cy="138906"/>
          </a:xfrm>
          <a:prstGeom prst="rect">
            <a:avLst/>
          </a:prstGeom>
          <a:noFill/>
          <a:ln/>
        </p:spPr>
        <p:txBody>
          <a:bodyPr wrap="none" lIns="45152" tIns="0" rIns="79884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2026-10-11T14:23:04Z</dcterms:created>
  <dcterms:modified xsi:type="dcterms:W3CDTF">2026-10-11T14:23:04Z</dcterms:modified>
</cp:coreProperties>
</file>