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embeddedFontLst>
    <p:embeddedFont>
      <p:font typeface="Verdana"/>
      <p:regular r:id="rId201314"/>
    </p:embeddedFont>
    <p:embeddedFont>
      <p:font typeface="Verdana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4632"/>
            <a:ext cx="6502237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Union in 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06390" y="1107103"/>
            <a:ext cx="690862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Union e memoria, union con etichetta, union in pratica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6390" y="1635720"/>
            <a:ext cx="6502237" cy="473373"/>
          </a:xfrm>
          <a:prstGeom prst="roundRect">
            <a:avLst>
              <a:gd name="adj" fmla="val 12877"/>
            </a:avLst>
          </a:prstGeom>
          <a:solidFill>
            <a:srgbClr val="1B4D24"/>
          </a:solidFill>
          <a:ln/>
        </p:spPr>
      </p:sp>
      <p:sp>
        <p:nvSpPr>
          <p:cNvPr id="5" name="Shape 3"/>
          <p:cNvSpPr/>
          <p:nvPr/>
        </p:nvSpPr>
        <p:spPr>
          <a:xfrm>
            <a:off x="584185" y="1737320"/>
            <a:ext cx="1310250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690843" y="1794411"/>
            <a:ext cx="170652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83333" y="1737320"/>
            <a:ext cx="1801371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2089991" y="1794411"/>
            <a:ext cx="219764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STRUTTURE E UNIONI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73602" y="1737320"/>
            <a:ext cx="701558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3980259" y="1794411"/>
            <a:ext cx="1097828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UNION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304800"/>
            <a:ext cx="4470288" cy="624840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Campi che Condividono la Memoria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1385769"/>
            <a:ext cx="690862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union si dichiara come una struct, ma i suoi campi cominciano tutti allo stesso indirizzo e si sovrappongono. La dimensione è quella del campo più grande, non la somma dei campi.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323108"/>
            <a:ext cx="6908627" cy="2631281"/>
          </a:xfrm>
          <a:prstGeom prst="roundRect">
            <a:avLst>
              <a:gd name="adj" fmla="val 43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501225"/>
            <a:ext cx="6481997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union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intero;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reale;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testo[8];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Valore;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sizeof(TreValori)   /* struct con gli stessi campi: 24 byte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sizeof(Valore)      /* union: 8 byte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5154414"/>
            <a:ext cx="6908627" cy="645120"/>
          </a:xfrm>
          <a:custGeom>
            <a:avLst/>
            <a:gdLst/>
            <a:ahLst/>
            <a:cxnLst/>
            <a:rect l="l" t="t" r="r" b="b"/>
            <a:pathLst>
              <a:path w="6908627" h="64512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5154414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5289669"/>
            <a:ext cx="650223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&amp;v.intero, &amp;v.reale e &amp;v.testo sono lo stesso indirizzo: in ogni momento la union contiene un solo valore.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937173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 Campo alla Volta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2062361"/>
          </a:xfrm>
          <a:prstGeom prst="roundRect">
            <a:avLst>
              <a:gd name="adj" fmla="val 554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v.intero = 65;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v.reale = 3.5;          /* sovrascrive i byte di intero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printf("%d", v.intero); /* 0: byte del double letti come int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strcpy(v.testo, "ciao");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printf("%g", v.reale);  /* 3.50000083: valore senza senso */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929580"/>
          <a:ext cx="5168076" cy="914400"/>
        </p:xfrm>
        <a:graphic>
          <a:graphicData uri="http://schemas.openxmlformats.org/drawingml/2006/table">
            <a:tbl>
              <a:tblPr/>
              <a:tblGrid>
                <a:gridCol w="2583989"/>
                <a:gridCol w="2584088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struct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union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campi uno dopo l'altro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campi sugli stessi byte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sizeof = somma dei campi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sizeof = campo più grande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tutti i valori insieme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 valore alla volta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17229" y="2913559"/>
            <a:ext cx="5168076" cy="840680"/>
          </a:xfrm>
          <a:custGeom>
            <a:avLst/>
            <a:gdLst/>
            <a:ahLst/>
            <a:cxnLst/>
            <a:rect l="l" t="t" r="r" b="b"/>
            <a:pathLst>
              <a:path w="5168076" h="84068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789881"/>
                </a:lnTo>
                <a:arcTo hR="50800" wR="50799" stAng="0" swAng="5400000"/>
                <a:lnTo>
                  <a:pt x="0" y="84068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4"/>
          <p:cNvSpPr/>
          <p:nvPr/>
        </p:nvSpPr>
        <p:spPr>
          <a:xfrm>
            <a:off x="6617229" y="2913559"/>
            <a:ext cx="50799" cy="84068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5"/>
          <p:cNvSpPr/>
          <p:nvPr/>
        </p:nvSpPr>
        <p:spPr>
          <a:xfrm>
            <a:off x="6845823" y="3048814"/>
            <a:ext cx="4761686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Leggere un campo diverso da quello scritto per ultimo compila, ma reinterpreta i byte presenti: il risultato non ha legame con il valore scritto.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Vedere i Byte di un Numero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 una union lo stesso valore si guarda in due modi: come numero e come sequenza di byte. I tipi di &lt;stdint.h&gt; hanno una dimensione fissa.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6908627" cy="3200202"/>
          </a:xfrm>
          <a:prstGeom prst="roundRect">
            <a:avLst>
              <a:gd name="adj" fmla="val 35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6481997" cy="284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&lt;stdint.h&gt;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union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uint32_t valore;      /* esattamente 32 bit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byte[4];      /* esattamente 8 bit ciascuno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Parola;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Parola p;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p.valore = 0x0A0B0C0D;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p.byte[0]                 /* 0x0D su una macchina little-endian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5027513"/>
            <a:ext cx="6908627" cy="645120"/>
          </a:xfrm>
          <a:custGeom>
            <a:avLst/>
            <a:gdLst/>
            <a:ahLst/>
            <a:cxnLst/>
            <a:rect l="l" t="t" r="r" b="b"/>
            <a:pathLst>
              <a:path w="6908627" h="64512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5027513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5162768"/>
            <a:ext cx="650223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Little-endian (PC, Mac con Apple Silicon) mette per primo il byte meno significativo; big-endian, l'ordine dei protocolli di rete, il più significativo.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774553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Com'è Fatto un float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float occupa 32 bit: segno, esponente e mantissa (IEEE 754). Con una union si leggono i bit come intero senza segno e si separano con spostamenti e maschere.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876127"/>
            <a:ext cx="6908627" cy="2631281"/>
          </a:xfrm>
          <a:prstGeom prst="roundRect">
            <a:avLst>
              <a:gd name="adj" fmla="val 43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054245"/>
            <a:ext cx="6481997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union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reale;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uint32_t bit;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Float;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segno     = f.bit &gt;&gt; 31;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esponente = (f.bit &gt;&gt; 23) &amp; 0xFF;     /* meno 127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mantissa  = f.bit &amp; 0x7FFFFF;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707434"/>
            <a:ext cx="6908627" cy="645120"/>
          </a:xfrm>
          <a:custGeom>
            <a:avLst/>
            <a:gdLst/>
            <a:ahLst/>
            <a:cxnLst/>
            <a:rect l="l" t="t" r="r" b="b"/>
            <a:pathLst>
              <a:path w="6908627" h="64512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4707434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4842689"/>
            <a:ext cx="650223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 stesso schema decodifica indirizzi IP, colori RGBA e pacchetti di dati: un array di byte e i campi che quei byte rappresentano.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1820664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Risparmiare Memoria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2915741"/>
          </a:xfrm>
          <a:prstGeom prst="roundRect">
            <a:avLst>
              <a:gd name="adj" fmla="val 392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codice[8];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TipoArticolo tipo;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union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Componente componente;   /* 16 byte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Strumento strumento;     /* 32 byte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Manuale manuale;         /* 28 byte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dati;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ArticoloCompatto;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38788"/>
            <a:ext cx="516807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articolo dell'inventario è un componente oppure uno strumento oppure un manuale: le tre alternative si escludono e possono condividere la memoria.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1780877"/>
          <a:ext cx="5168076" cy="914400"/>
        </p:xfrm>
        <a:graphic>
          <a:graphicData uri="http://schemas.openxmlformats.org/drawingml/2006/table">
            <a:tbl>
              <a:tblPr/>
              <a:tblGrid>
                <a:gridCol w="2377222"/>
                <a:gridCol w="1240303"/>
                <a:gridCol w="1550552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Soluzione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sizeof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500 articoli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struct con tutti i campi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96 byte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48000 byte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struct con union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48 byte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24000 byte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17229" y="3118743"/>
            <a:ext cx="5168076" cy="645120"/>
          </a:xfrm>
          <a:custGeom>
            <a:avLst/>
            <a:gdLst/>
            <a:ahLst/>
            <a:cxnLst/>
            <a:rect l="l" t="t" r="r" b="b"/>
            <a:pathLst>
              <a:path w="5168076" h="64512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8" name="Shape 5"/>
          <p:cNvSpPr/>
          <p:nvPr/>
        </p:nvSpPr>
        <p:spPr>
          <a:xfrm>
            <a:off x="6617229" y="3118743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9" name="Text 6"/>
          <p:cNvSpPr/>
          <p:nvPr/>
        </p:nvSpPr>
        <p:spPr>
          <a:xfrm>
            <a:off x="6845823" y="3253998"/>
            <a:ext cx="476168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campo tipo dice quale alternativa è valida: è la union con etichetta.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Union con Etichetta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union da sola non ricorda quale campo è stato scritto. Si mette in una struct accanto a un campo enum, l'etichetta, che lo dice.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6908627" cy="4053582"/>
          </a:xfrm>
          <a:prstGeom prst="roundRect">
            <a:avLst>
              <a:gd name="adj" fmla="val 28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6481997" cy="3697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enum { INTERO, REALE, TESTO } TipoDato;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TipoDato tipo;          /* l'etichetta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union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intero;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reale;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char testo[16];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v;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Dato;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d.tipo = REALE;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d.v.reale = 21.5;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5880894"/>
            <a:ext cx="6908627" cy="645120"/>
          </a:xfrm>
          <a:custGeom>
            <a:avLst/>
            <a:gdLst/>
            <a:ahLst/>
            <a:cxnLst/>
            <a:rect l="l" t="t" r="r" b="b"/>
            <a:pathLst>
              <a:path w="6908627" h="64512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5880894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6016149"/>
            <a:ext cx="650223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 scrivono campo ed etichetta insieme; si legge un campo solo dopo aver controllato l'etichetta.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644676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Uno switch per Ogni Operazione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4338042"/>
          </a:xfrm>
          <a:prstGeom prst="roundRect">
            <a:avLst>
              <a:gd name="adj" fmla="val 26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3982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stampa(const Dato *d)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switch (d-&gt;tipo)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INTERO: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printf("%d", d-&gt;v.intero);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REALE: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printf("%g", d-&gt;v.reale);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TESTO: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printf("%s", d-&gt;v.testo);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29580"/>
            <a:ext cx="5168076" cy="1597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Ogni operazione ha la stessa forma: uno switch sull'etichetta, con un case per tipo, che usa solo il campo valido.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Due dati sono uguali se hanno la stessa etichetta e, per quel tipo, lo stesso valore: == per i numeri, strcmp per i testi.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7229" y="2679799"/>
            <a:ext cx="5168076" cy="840680"/>
          </a:xfrm>
          <a:custGeom>
            <a:avLst/>
            <a:gdLst/>
            <a:ahLst/>
            <a:cxnLst/>
            <a:rect l="l" t="t" r="r" b="b"/>
            <a:pathLst>
              <a:path w="5168076" h="84068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789881"/>
                </a:lnTo>
                <a:arcTo hR="50800" wR="50799" stAng="0" swAng="5400000"/>
                <a:lnTo>
                  <a:pt x="0" y="84068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6617229" y="2679799"/>
            <a:ext cx="50799" cy="84068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845823" y="2815054"/>
            <a:ext cx="4761686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Senza default il compilatore segnala i case mancanti. Confrontare i byte con memcmp non funziona: i byte non usati dal campo valido sono casuali.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Funzioni Costruttrici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2915741"/>
          </a:xfrm>
          <a:prstGeom prst="roundRect">
            <a:avLst>
              <a:gd name="adj" fmla="val 392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 crea_intero(int valore);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 crea_reale(double valore);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 crea_testo(const char *valore);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 scheda[] =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crea_intero(4),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crea_testo("solfato di rame"),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crea_reale(21.5)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38788"/>
            <a:ext cx="516807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Scrivere a mano etichetta e campo in due istruzioni è un invito all'errore. Una funzione per tipo restituisce un Dato già coerente.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1780877"/>
          <a:ext cx="5168076" cy="914400"/>
        </p:xfrm>
        <a:graphic>
          <a:graphicData uri="http://schemas.openxmlformats.org/drawingml/2006/table">
            <a:tbl>
              <a:tblPr/>
              <a:tblGrid>
                <a:gridCol w="2687372"/>
                <a:gridCol w="2480704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Campo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Dove va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comune a tutti i tipi (titolo, importo)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fuori dalla union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specifico di un tipo (raggio, cifre della carta)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dentro la union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17229" y="3616424"/>
            <a:ext cx="5168076" cy="645120"/>
          </a:xfrm>
          <a:custGeom>
            <a:avLst/>
            <a:gdLst/>
            <a:ahLst/>
            <a:cxnLst/>
            <a:rect l="l" t="t" r="r" b="b"/>
            <a:pathLst>
              <a:path w="5168076" h="64512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8" name="Shape 5"/>
          <p:cNvSpPr/>
          <p:nvPr/>
        </p:nvSpPr>
        <p:spPr>
          <a:xfrm>
            <a:off x="6617229" y="3616424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9" name="Text 6"/>
          <p:cNvSpPr/>
          <p:nvPr/>
        </p:nvSpPr>
        <p:spPr>
          <a:xfrm>
            <a:off x="6845823" y="3751679"/>
            <a:ext cx="476168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crea_testo copia al massimo 15 caratteri e chiude sempre la stringa: un testo troppo lungo non esce dal campo.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Union Anonima e Accesso Controllato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5191423"/>
          </a:xfrm>
          <a:prstGeom prst="roundRect">
            <a:avLst>
              <a:gd name="adj" fmla="val 22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4835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TipoDato tipo;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union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intero;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reale;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char testo[16];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                      /* senza nome (C11)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Dato;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 d = {.tipo = REALE, .reale = 9.81};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d.reale                     /* invece di d.v.reale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come_reale(const Dato *d, double *risultato);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(come_reale(&amp;d, &amp;x))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x è valido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29580"/>
            <a:ext cx="5168076" cy="1597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Dal C11 la union dentro una struct può non avere nome: i suoi campi si usano come campi della struct, ma condividono ancora la memoria.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funzione come come_reale controlla l'etichetta e restituisce un esito, con il valore in un parametro di uscita.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7229" y="2679799"/>
            <a:ext cx="5168076" cy="645120"/>
          </a:xfrm>
          <a:custGeom>
            <a:avLst/>
            <a:gdLst/>
            <a:ahLst/>
            <a:cxnLst/>
            <a:rect l="l" t="t" r="r" b="b"/>
            <a:pathLst>
              <a:path w="5168076" h="64512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6617229" y="2679799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845823" y="2815054"/>
            <a:ext cx="476168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 chiama come_reale non tocca mai la union e non può leggere il campo sbagliato.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Comuni da Evitare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929580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4" name="Text 2"/>
          <p:cNvSpPr/>
          <p:nvPr/>
        </p:nvSpPr>
        <p:spPr>
          <a:xfrm>
            <a:off x="584185" y="1072311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84185" y="147123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Leggere un campo della union diverso da quello scritto per ultimo.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72046" y="929580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6349841" y="1072311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49841" y="147123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Pensare che la union conservi tutti i campi insieme.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390" y="193794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0" name="Text 8"/>
          <p:cNvSpPr/>
          <p:nvPr/>
        </p:nvSpPr>
        <p:spPr>
          <a:xfrm>
            <a:off x="584185" y="208067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4185" y="247959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Dare per scontato l'ordine dei byte (little-endian o big-endian).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046" y="193794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3" name="Text 11"/>
          <p:cNvSpPr/>
          <p:nvPr/>
        </p:nvSpPr>
        <p:spPr>
          <a:xfrm>
            <a:off x="6349841" y="208067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49841" y="247959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Usare int e char al posto di uint32_t e uint8_t per vedere i byte.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6390" y="294630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6" name="Text 14"/>
          <p:cNvSpPr/>
          <p:nvPr/>
        </p:nvSpPr>
        <p:spPr>
          <a:xfrm>
            <a:off x="584185" y="308903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4185" y="348795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Scrivere il campo senza aggiornare l'etichetta.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046" y="294630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9" name="Text 17"/>
          <p:cNvSpPr/>
          <p:nvPr/>
        </p:nvSpPr>
        <p:spPr>
          <a:xfrm>
            <a:off x="6349841" y="308903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49841" y="348795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Leggere il campo senza controllare l'etichetta.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6390" y="395466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22" name="Text 20"/>
          <p:cNvSpPr/>
          <p:nvPr/>
        </p:nvSpPr>
        <p:spPr>
          <a:xfrm>
            <a:off x="584185" y="409739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84185" y="449631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Mettere default nello switch sull'etichetta e perdere l'avviso.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046" y="395466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25" name="Text 23"/>
          <p:cNvSpPr/>
          <p:nvPr/>
        </p:nvSpPr>
        <p:spPr>
          <a:xfrm>
            <a:off x="6349841" y="409739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49841" y="449631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Confrontare due union con memcmp invece che secondo il tipo.</a:t>
            </a:r>
            <a:endParaRPr lang="en-US" sz="11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Riepilogo Concetti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929580"/>
          <a:ext cx="11378916" cy="914400"/>
        </p:xfrm>
        <a:graphic>
          <a:graphicData uri="http://schemas.openxmlformats.org/drawingml/2006/table">
            <a:tbl>
              <a:tblPr/>
              <a:tblGrid>
                <a:gridCol w="2958431"/>
                <a:gridCol w="5006651"/>
                <a:gridCol w="3413833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Situazione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Tecnica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Alternative che si escludono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union { ... }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sizeof = campo più grande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 valore alla volta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leggere l'ultimo campo scritto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gli altri sono sovrascritti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Byte di un numero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union { uint32_t; uint8_t[4]; }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dipende dall'endianness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Dimensione fissa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uint8_t, uint32_t, int16_t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da &lt;stdint.h&gt;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Bit di un float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&gt;&gt; e maschere su uint32_t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segno, esponente, mantissa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Ricordare il campo valido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struct con etichetta enum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union con etichetta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Operazioni sul dato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switch sull'etichetta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niente default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Costruire un dato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Dato crea_reale(double)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etichetta sempre coerente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Accesso più corto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union anonima (C11)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d.reale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Lettura sicura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 come_reale(const Dato *, double *)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esito più parametro di uscita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Union e Memoria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sovrapposizione e byte.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010-campi-sovrapposti.c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tre campi in una struct e in una union.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sizeof e indirizzi dei campi.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020-un-campo-alla-volta.c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tre scritture successive nella stessa union.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dopo ognuna, solo un campo ha senso.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030-vedere-i-byte.c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139057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240657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 che tipo di macchina gira il programma?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318611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28771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uint32_t e uint8_t[4], little-endian.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Union e Memoria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Indirizzo IP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Numero e quattro byte: rete, broadcast e stessa rete.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Colore RGBA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Canali indicizzati da un enum: schiarire, scurire, grigio.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Anatomia di un float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Segno, esponente e mantissa di numeri letti da tastiera.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Pacchetto del sensore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Otto byte letti come campi, con il byte di controllo.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12181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262063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Risparmio di memoria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621504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Inventario: struct con tutti i campi contro struct con union.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Union con Etichetta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etichetta, switch e costruttrici.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010-etichetta-enum.c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139057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240657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valore intero, reale o di testo.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2990552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092152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Dato con etichetta, scritti insieme.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020-switch-sull-etichetta.c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376488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478088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risposte di due studenti a un questionario.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42354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52514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stampa e confronto con uno switch.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030-funzioni-costruttrici.c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scheda di un esperimento di chimica.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crea_intero, crea_reale, crea_testo.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Union con Etichetta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Figure geometriche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Cerchi, rettangoli e triangoli: area, perimetro e validità.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Celle del foglio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Foglio delle spese della gita con celle vuote, numeri e testi.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Pagamenti al bar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Contanti, carta o buono: ricevuta e totali per metodo.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Catalogo della biblioteca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Libri, DVD e riviste: campi comuni fuori dalla union.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12181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262063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Risultati delle misure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621504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misura riuscita, fuori scala o guasta.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Union in Pratica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union anonima, array e accesso.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899172"/>
          </a:xfrm>
          <a:prstGeom prst="roundRect">
            <a:avLst>
              <a:gd name="adj" fmla="val 394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010-union-anonima.c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139057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240657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stessa struct con union con nome e anonima.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318611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28771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d.reale invece di d.v.reale.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899172"/>
          </a:xfrm>
          <a:prstGeom prst="roundRect">
            <a:avLst>
              <a:gd name="adj" fmla="val 394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020-array-di-valori-misti.c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376488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478088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riga delle iscrizioni al torneo di scacchi.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423543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525143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conteggi per tipo, somma dei numeri, testi.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899172"/>
          </a:xfrm>
          <a:prstGeom prst="roundRect">
            <a:avLst>
              <a:gd name="adj" fmla="val 394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030-accesso-controllato.c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valori letti da un modulo.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come_intero e come_reale con esito.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Union in Pratica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Impostazioni del server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File chiave=valore convertito secondo il tipo di ogni chiave.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Comandi del robot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Analisi delle righe del programma ed esecuzione.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Token di un'espressione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Numeri e simboli, calcolo ricorsivo con precedenza.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Registro degli eventi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Porte, sensori e badge: filtro per tipo e anomalie.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12181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262063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Calcolatrice di unità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621504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enum di unità per ogni dimensione nella union.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2026-10-13T08:46:16Z</dcterms:created>
  <dcterms:modified xsi:type="dcterms:W3CDTF">2026-10-13T08:46:16Z</dcterms:modified>
</cp:coreProperties>
</file>