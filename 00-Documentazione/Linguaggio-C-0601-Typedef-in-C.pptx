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embeddedFontLst>
    <p:embeddedFont>
      <p:font typeface="Verdana"/>
      <p:regular r:id="rId201314"/>
    </p:embeddedFont>
    <p:embeddedFont>
      <p:font typeface="Verdana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0" y="1256771"/>
            <a:ext cx="12191695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44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Typedef in 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796113" y="2063770"/>
            <a:ext cx="659946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Dare un nome ai tipi: tipi base, array, puntatori a funzione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2541588"/>
            <a:ext cx="12191695" cy="473373"/>
          </a:xfrm>
          <a:prstGeom prst="roundRect">
            <a:avLst>
              <a:gd name="adj" fmla="val 19316"/>
            </a:avLst>
          </a:prstGeom>
          <a:solidFill>
            <a:srgbClr val="1B4D24"/>
          </a:solidFill>
          <a:ln/>
        </p:spPr>
      </p:sp>
      <p:sp>
        <p:nvSpPr>
          <p:cNvPr id="5" name="Shape 3"/>
          <p:cNvSpPr/>
          <p:nvPr/>
        </p:nvSpPr>
        <p:spPr>
          <a:xfrm>
            <a:off x="228594" y="2643187"/>
            <a:ext cx="1310250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335252" y="2700278"/>
            <a:ext cx="170652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27742" y="2643187"/>
            <a:ext cx="1801371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1734400" y="2700278"/>
            <a:ext cx="219764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STRUTTURE E UNIONI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18010" y="2643187"/>
            <a:ext cx="844827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3624668" y="2700278"/>
            <a:ext cx="1241096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TYPEDEF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0990" y="3218160"/>
            <a:ext cx="4289615" cy="2412901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Dare un Nome a un Tipo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1137891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typedef introduce un nuovo nome per un tipo che esiste già. Si scrive la dichiarazione di una variabile e si mette typedef davanti: il nome che sarebbe stato la variabile diventa il nome del tipo.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786037"/>
            <a:ext cx="5906146" cy="2062361"/>
          </a:xfrm>
          <a:prstGeom prst="roundRect">
            <a:avLst>
              <a:gd name="adj" fmla="val 554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964154"/>
            <a:ext cx="5479516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int Voto;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double Euro;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int Minuti;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Voto verifica = 7;           /* come int verifica = 7;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Euro pranzo = 4.80;          /* come double pranzo = 4.80; */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1586012"/>
          <a:ext cx="5168076" cy="914400"/>
        </p:xfrm>
        <a:graphic>
          <a:graphicData uri="http://schemas.openxmlformats.org/drawingml/2006/table">
            <a:tbl>
              <a:tblPr/>
              <a:tblGrid>
                <a:gridCol w="2583988"/>
                <a:gridCol w="2584088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Senza typedef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 typedef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double media(const double *v, int n);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Gradi media(const Gradi *v, int n);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dice come è fatto il dato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dice che cosa rappresenta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17229" y="3434259"/>
            <a:ext cx="5168076" cy="645120"/>
          </a:xfrm>
          <a:prstGeom prst="roundRect">
            <a:avLst>
              <a:gd name="adj" fmla="val 9449"/>
            </a:avLst>
          </a:prstGeom>
          <a:solidFill>
            <a:srgbClr val="DCEFDC"/>
          </a:solidFill>
          <a:ln/>
        </p:spPr>
      </p:sp>
      <p:sp>
        <p:nvSpPr>
          <p:cNvPr id="8" name="Text 5"/>
          <p:cNvSpPr/>
          <p:nvPr/>
        </p:nvSpPr>
        <p:spPr>
          <a:xfrm>
            <a:off x="6795025" y="3569514"/>
            <a:ext cx="481248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Nel corso i nomi dei tipi hanno l'iniziale maiuscola (Voto, Euro); le variabili restano in minuscolo (Voto voto;).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7111822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Un Nome Nuovo, Non un Tipo Nuovo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1385769"/>
            <a:ext cx="711182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Euro, Chilometri e double sono lo stesso tipo: il compilatore accetta di mescolarli senza errori né avvisi.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074267"/>
            <a:ext cx="7111822" cy="2346821"/>
          </a:xfrm>
          <a:prstGeom prst="roundRect">
            <a:avLst>
              <a:gd name="adj" fmla="val 487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252385"/>
            <a:ext cx="6685192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double Euro;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double Chilometri;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Euro costo_carburante(Chilometri distanza, KmPerLitro consumo, Euro prezzo);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costo_carburante(consumo, distanza, prezzo);   /* scambiati: nessun errore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Euro stranezza = distanza;                      /* accettato */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621113"/>
            <a:ext cx="7111822" cy="645120"/>
          </a:xfrm>
          <a:prstGeom prst="roundRect">
            <a:avLst>
              <a:gd name="adj" fmla="val 9449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584185" y="4756368"/>
            <a:ext cx="675623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tipo che il compilatore distingue davvero dagli altri si costruisce con struct: lì typedef servirà a dargli un nome comodo.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5784" y="304800"/>
            <a:ext cx="3149521" cy="624840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Cambiare il Tipo in un Solo Punto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29580"/>
            <a:ext cx="11378915" cy="656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la stazione meteo somma mille letture di pioggia e con float il totale si scosta dal valore esatto.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tutte le variabili, i parametri e i risultati usano il tipo Misura. Per passare a double basta cambiare una riga.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944787"/>
            <a:ext cx="5906146" cy="1493441"/>
          </a:xfrm>
          <a:prstGeom prst="roundRect">
            <a:avLst>
              <a:gd name="adj" fmla="val 765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122904"/>
            <a:ext cx="547951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float Misura;          /* -&gt; typedef double Misura;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Misura totale(const Misura *v, int n);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Misura massimo(const Misura *v, int n);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1744762"/>
          <a:ext cx="5168076" cy="914400"/>
        </p:xfrm>
        <a:graphic>
          <a:graphicData uri="http://schemas.openxmlformats.org/drawingml/2006/table">
            <a:tbl>
              <a:tblPr/>
              <a:tblGrid>
                <a:gridCol w="1550393"/>
                <a:gridCol w="1808792"/>
                <a:gridCol w="1808891"/>
              </a:tblGrid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typedef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Totale calcolato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Totale esatto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float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106.999054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107.000000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double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107.000000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107.000000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17229" y="3344168"/>
            <a:ext cx="5168076" cy="645120"/>
          </a:xfrm>
          <a:prstGeom prst="roundRect">
            <a:avLst>
              <a:gd name="adj" fmla="val 9449"/>
            </a:avLst>
          </a:prstGeom>
          <a:solidFill>
            <a:srgbClr val="DCEFDC"/>
          </a:solidFill>
          <a:ln/>
        </p:spPr>
      </p:sp>
      <p:sp>
        <p:nvSpPr>
          <p:cNvPr id="8" name="Text 5"/>
          <p:cNvSpPr/>
          <p:nvPr/>
        </p:nvSpPr>
        <p:spPr>
          <a:xfrm>
            <a:off x="6795025" y="3479423"/>
            <a:ext cx="481248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typedef non aggiorna i formati di scanf: un tipo float si legge con %f, un tipo double con %lf.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5923211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Tipi Array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592321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typedef può dare un nome a un array di dimensione fissa: la dimensione fa parte del tipo.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627287"/>
            <a:ext cx="5923211" cy="2346821"/>
          </a:xfrm>
          <a:prstGeom prst="roundRect">
            <a:avLst>
              <a:gd name="adj" fmla="val 487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805404"/>
            <a:ext cx="5496581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char Targa[8];         /* 7 caratteri + '\0'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int Settimana[7];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Targa auto_preside = "GA482KM";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Settimana ingressi = {84, 91, 88, 79, 73, 12, 0};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strcpy(auto_vicepreside, "FT109RS");   /* non con = */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174133"/>
            <a:ext cx="5923211" cy="645120"/>
          </a:xfrm>
          <a:prstGeom prst="roundRect">
            <a:avLst>
              <a:gd name="adj" fmla="val 9449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584185" y="4309388"/>
            <a:ext cx="556762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Valgono tutte le regole degli array: si copia con strcpy o con un ciclo e si confronta con strcmp, mai con = e ==.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7074" y="304800"/>
            <a:ext cx="4338231" cy="624840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Tipo Array come Parametro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1137891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nome rende leggibile il prototipo e scrive la dimensione in un solo punto, ma non cambia il passaggio degli array: alla funzione arriva l'indirizzo del primo elemento.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786037"/>
            <a:ext cx="6090787" cy="2631281"/>
          </a:xfrm>
          <a:prstGeom prst="roundRect">
            <a:avLst>
              <a:gd name="adj" fmla="val 434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964154"/>
            <a:ext cx="5664158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totale(const Settimana s);       /* equivale a const int *s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azzera_festivi(Settimana s);    /* modifica l'array del chiamante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azzera_festivi(Settimana s)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s[GIORNI - 1] = 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01870" y="1586012"/>
          <a:ext cx="4983435" cy="914400"/>
        </p:xfrm>
        <a:graphic>
          <a:graphicData uri="http://schemas.openxmlformats.org/drawingml/2006/table">
            <a:tbl>
              <a:tblPr/>
              <a:tblGrid>
                <a:gridCol w="2740889"/>
                <a:gridCol w="2242546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Dove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sizeof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nel main: Settimana ore_laboratorio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28 byte, tutto l'array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nella funzione: Settimana s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8 byte, un indirizzo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01870" y="3185418"/>
            <a:ext cx="4983435" cy="840680"/>
          </a:xfrm>
          <a:prstGeom prst="roundRect">
            <a:avLst>
              <a:gd name="adj" fmla="val 7251"/>
            </a:avLst>
          </a:prstGeom>
          <a:solidFill>
            <a:srgbClr val="DCEFDC"/>
          </a:solidFill>
          <a:ln/>
        </p:spPr>
      </p:sp>
      <p:sp>
        <p:nvSpPr>
          <p:cNvPr id="8" name="Text 5"/>
          <p:cNvSpPr/>
          <p:nvPr/>
        </p:nvSpPr>
        <p:spPr>
          <a:xfrm>
            <a:off x="6979666" y="3320673"/>
            <a:ext cx="4627844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sizeof su un parametro di tipo array fa scattare l'avviso -Wsizeof-array-argument: il numero di elementi si prende dalla costante usata nella typedef.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319382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Tipi Costruiti su Altri Tipi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31938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tipo definito con typedef può essere l'elemento di un altro array e quindi di una nuova typedef.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627287"/>
            <a:ext cx="6319382" cy="2915741"/>
          </a:xfrm>
          <a:prstGeom prst="roundRect">
            <a:avLst>
              <a:gd name="adj" fmla="val 392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805404"/>
            <a:ext cx="5892752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int Settimana[6];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Settimana Mese[4];        /* come int[4][6]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Mese presenze;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totale(presenze[2]);              /* una riga è una Settimana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char Targa[8];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Targa riservati[4];               /* come char[4][8]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char Griglia[3][3];       /* matrice con un nome */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743053"/>
            <a:ext cx="6319382" cy="645120"/>
          </a:xfrm>
          <a:prstGeom prst="roundRect">
            <a:avLst>
              <a:gd name="adj" fmla="val 9449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584185" y="4878308"/>
            <a:ext cx="596379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stesse funzioni scritte per Settimana servono per ogni riga del Mese e per l'array dei totali per giorno.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3244" y="304800"/>
            <a:ext cx="3942061" cy="624840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Un Nome per il Puntatore a Funzione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È il caso in cui typedef aiuta di più. La regola resta la stessa: la dichiarazione di una variabile con typedef davanti.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537196"/>
            <a:ext cx="5537061" cy="1777901"/>
          </a:xfrm>
          <a:prstGeom prst="roundRect">
            <a:avLst>
              <a:gd name="adj" fmla="val 643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715314"/>
            <a:ext cx="5110432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(*calcolo)(double, double);              /* variabile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double (*Operazione)(double, double);   /* tipo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Operazione calcolo = somma;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calcolo(1.20, 0.90);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8244" y="1337171"/>
            <a:ext cx="5537061" cy="645120"/>
          </a:xfrm>
          <a:prstGeom prst="roundRect">
            <a:avLst>
              <a:gd name="adj" fmla="val 9449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6426039" y="1472426"/>
            <a:ext cx="518147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Operazione significa "puntatore a una funzione che riceve due double e restituisce un double".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2287091"/>
          <a:ext cx="5537062" cy="914400"/>
        </p:xfrm>
        <a:graphic>
          <a:graphicData uri="http://schemas.openxmlformats.org/drawingml/2006/table">
            <a:tbl>
              <a:tblPr/>
              <a:tblGrid>
                <a:gridCol w="1292578"/>
                <a:gridCol w="2262359"/>
                <a:gridCol w="1982125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Uso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Senza typedef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 typedef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variabile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double (*op)(double, double);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Operazione op;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49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parametro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double applica(double (*op)(double, double), ...);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double applica(Operazione op, ...);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array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double (*tabella[4])(double, double);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Operazione tabella[4];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valore restituito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double (*scegli(char s))(double, double);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Operazione scegli(char s);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Una Funzione che Restituisce un'Operazione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6090787" cy="4053582"/>
          </a:xfrm>
          <a:prstGeom prst="roundRect">
            <a:avLst>
              <a:gd name="adj" fmla="val 282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664158" cy="3697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Operazione scegli(char simbolo)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Operazione scelta = NULL;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(simbolo == '+')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scelta = somma;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if (simbolo == '-')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scelta = differenza;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scelta;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 = scegli('%');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(op != NULL) { ... 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01870" y="929580"/>
            <a:ext cx="4983435" cy="1348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nella calcolatrice del capitolo 05 il prototipo di scegli_operazione nascondeva il nome della funzione dentro il tipo restituito.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 typedef il tipo restituito si legge per primo.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01870" y="2383334"/>
            <a:ext cx="4983435" cy="942280"/>
          </a:xfrm>
          <a:prstGeom prst="roundRect">
            <a:avLst>
              <a:gd name="adj" fmla="val 6469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7005065" y="2569389"/>
            <a:ext cx="4577045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Senza typedef lo stesso prototipo è double (*scegli_senza_typedef(char simbolo))(double, double): si legge dall'interno verso l'esterno.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5923211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Tabella di Funzioni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5923211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 un nome per il tipo, un array di funzioni si dichiara come un array di int. Il simbolo dell'operazione si cerca nella stringa simboli e la sua posizione è l'indice.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876127"/>
            <a:ext cx="5923211" cy="2346821"/>
          </a:xfrm>
          <a:prstGeom prst="roundRect">
            <a:avLst>
              <a:gd name="adj" fmla="val 487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054245"/>
            <a:ext cx="5496581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Operazione tabella[4] = {somma, differenza, prodotto, quoziente};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 simboli[] = "+-*/";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trovato = strchr(simboli, operatore);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(trovato != NULL)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risultato = tabella[trovato - simboli](a, b);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549973"/>
            <a:ext cx="5923211" cy="840680"/>
          </a:xfrm>
          <a:prstGeom prst="roundRect">
            <a:avLst>
              <a:gd name="adj" fmla="val 7251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584185" y="4685229"/>
            <a:ext cx="5567620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Due puntatori a funzione si confrontano con == e !=: una funzione può restituire la Tariffa più conveniente e il chiamante ne ritrova il nome nella tabella.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684" y="0"/>
            <a:ext cx="5151011" cy="685800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16673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Errori Comuni da Evitare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929580"/>
            <a:ext cx="5613260" cy="699095"/>
          </a:xfrm>
          <a:prstGeom prst="roundRect">
            <a:avLst>
              <a:gd name="adj" fmla="val 8720"/>
            </a:avLst>
          </a:prstGeom>
          <a:solidFill>
            <a:srgbClr val="DCEFDC"/>
          </a:solidFill>
          <a:ln/>
        </p:spPr>
      </p:sp>
      <p:sp>
        <p:nvSpPr>
          <p:cNvPr id="4" name="Text 2"/>
          <p:cNvSpPr/>
          <p:nvPr/>
        </p:nvSpPr>
        <p:spPr>
          <a:xfrm>
            <a:off x="558786" y="1031180"/>
            <a:ext cx="5308467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Invertire l'ordine: typedef Voto int; invece di typedef int Voto;.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172046" y="929580"/>
            <a:ext cx="5613260" cy="699095"/>
          </a:xfrm>
          <a:prstGeom prst="roundRect">
            <a:avLst>
              <a:gd name="adj" fmla="val 8720"/>
            </a:avLst>
          </a:prstGeom>
          <a:solidFill>
            <a:srgbClr val="DCEFDC"/>
          </a:solidFill>
          <a:ln/>
        </p:spPr>
      </p:sp>
      <p:sp>
        <p:nvSpPr>
          <p:cNvPr id="6" name="Text 4"/>
          <p:cNvSpPr/>
          <p:nvPr/>
        </p:nvSpPr>
        <p:spPr>
          <a:xfrm>
            <a:off x="6324442" y="1031180"/>
            <a:ext cx="5308467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Credere che il compilatore distingua Euro da Chilometri.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6390" y="1781076"/>
            <a:ext cx="5613260" cy="699095"/>
          </a:xfrm>
          <a:prstGeom prst="roundRect">
            <a:avLst>
              <a:gd name="adj" fmla="val 8720"/>
            </a:avLst>
          </a:prstGeom>
          <a:solidFill>
            <a:srgbClr val="DCEFDC"/>
          </a:solidFill>
          <a:ln/>
        </p:spPr>
      </p:sp>
      <p:sp>
        <p:nvSpPr>
          <p:cNvPr id="8" name="Text 6"/>
          <p:cNvSpPr/>
          <p:nvPr/>
        </p:nvSpPr>
        <p:spPr>
          <a:xfrm>
            <a:off x="558786" y="1882676"/>
            <a:ext cx="5308467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Leggere con %f un tipo definito come double (serve %lf).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046" y="1781076"/>
            <a:ext cx="5613260" cy="699095"/>
          </a:xfrm>
          <a:prstGeom prst="roundRect">
            <a:avLst>
              <a:gd name="adj" fmla="val 8720"/>
            </a:avLst>
          </a:prstGeom>
          <a:solidFill>
            <a:srgbClr val="DCEFDC"/>
          </a:solidFill>
          <a:ln/>
        </p:spPr>
      </p:sp>
      <p:sp>
        <p:nvSpPr>
          <p:cNvPr id="10" name="Text 8"/>
          <p:cNvSpPr/>
          <p:nvPr/>
        </p:nvSpPr>
        <p:spPr>
          <a:xfrm>
            <a:off x="6324442" y="1882676"/>
            <a:ext cx="5308467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4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Scrivere typedef char[8] Targa; invece di typedef char Targa[8];.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390" y="2632571"/>
            <a:ext cx="5613260" cy="699095"/>
          </a:xfrm>
          <a:prstGeom prst="roundRect">
            <a:avLst>
              <a:gd name="adj" fmla="val 8720"/>
            </a:avLst>
          </a:prstGeom>
          <a:solidFill>
            <a:srgbClr val="DCEFDC"/>
          </a:solidFill>
          <a:ln/>
        </p:spPr>
      </p:sp>
      <p:sp>
        <p:nvSpPr>
          <p:cNvPr id="12" name="Text 10"/>
          <p:cNvSpPr/>
          <p:nvPr/>
        </p:nvSpPr>
        <p:spPr>
          <a:xfrm>
            <a:off x="558786" y="2734171"/>
            <a:ext cx="5308467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5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Assegnare un tipo array con = invece di copiarlo con strcpy o con un ciclo.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632571"/>
            <a:ext cx="5613260" cy="699095"/>
          </a:xfrm>
          <a:prstGeom prst="roundRect">
            <a:avLst>
              <a:gd name="adj" fmla="val 8720"/>
            </a:avLst>
          </a:prstGeom>
          <a:solidFill>
            <a:srgbClr val="DCEFDC"/>
          </a:solidFill>
          <a:ln/>
        </p:spPr>
      </p:sp>
      <p:sp>
        <p:nvSpPr>
          <p:cNvPr id="14" name="Text 12"/>
          <p:cNvSpPr/>
          <p:nvPr/>
        </p:nvSpPr>
        <p:spPr>
          <a:xfrm>
            <a:off x="6324442" y="2734171"/>
            <a:ext cx="5308467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6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Usare sizeof su un parametro di tipo array per contare gli elementi.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6390" y="3484066"/>
            <a:ext cx="5613260" cy="894655"/>
          </a:xfrm>
          <a:prstGeom prst="roundRect">
            <a:avLst>
              <a:gd name="adj" fmla="val 6814"/>
            </a:avLst>
          </a:prstGeom>
          <a:solidFill>
            <a:srgbClr val="DCEFDC"/>
          </a:solidFill>
          <a:ln/>
        </p:spPr>
      </p:sp>
      <p:sp>
        <p:nvSpPr>
          <p:cNvPr id="16" name="Text 14"/>
          <p:cNvSpPr/>
          <p:nvPr/>
        </p:nvSpPr>
        <p:spPr>
          <a:xfrm>
            <a:off x="558786" y="3585666"/>
            <a:ext cx="5308467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7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Dimenticare le parentesi: typedef double *Operazione(double, double); non è un puntatore a funzione.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046" y="3484066"/>
            <a:ext cx="5613260" cy="894655"/>
          </a:xfrm>
          <a:prstGeom prst="roundRect">
            <a:avLst>
              <a:gd name="adj" fmla="val 6814"/>
            </a:avLst>
          </a:prstGeom>
          <a:solidFill>
            <a:srgbClr val="DCEFDC"/>
          </a:solidFill>
          <a:ln/>
        </p:spPr>
      </p:sp>
      <p:sp>
        <p:nvSpPr>
          <p:cNvPr id="18" name="Text 16"/>
          <p:cNvSpPr/>
          <p:nvPr/>
        </p:nvSpPr>
        <p:spPr>
          <a:xfrm>
            <a:off x="6324442" y="3585666"/>
            <a:ext cx="5308467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8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Chiamare un'Operazione restituita senza controllare che non sia NULL.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Riepilogo Concetti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929580"/>
          <a:ext cx="11378916" cy="914400"/>
        </p:xfrm>
        <a:graphic>
          <a:graphicData uri="http://schemas.openxmlformats.org/drawingml/2006/table">
            <a:tbl>
              <a:tblPr/>
              <a:tblGrid>
                <a:gridCol w="3186017"/>
                <a:gridCol w="4779125"/>
                <a:gridCol w="3413774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Tecnica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Nome per un tipo base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typedef int Voto;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stesso tipo, nome nuovo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Cambiare tipo ovunque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typedef float Misura; -&gt; double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controllare i formati di scanf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Limite di typedef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Euro = Chilometri accettato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il tipo nuovo arriva con struct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Tipo array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typedef char Targa[8];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sizeof(Targa) = 8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Tipo array come parametro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const Settimana s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arriva come const int *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Tipo su un altro tipo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typedef Settimana Mese[4];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una riga è una Settimana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Puntatore a funzione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typedef double (*Operazione)(double, double);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variabili, parametri, array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Funzione che restituisce funzioni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Operazione scegli(char s);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NULL se non trovata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Tabella di funzioni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Operazione tabella[4];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tabella[k](a, b)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Confronto tra funzioni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tariffe[t] == migliore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stessa funzione puntata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3055"/>
            <a:ext cx="11785305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06390" y="82479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Alias di Tipi Base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435973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typedef con i tipi base.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06390" y="1847601"/>
            <a:ext cx="358974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010-nome-a-un-tipo.c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06390" y="2198787"/>
            <a:ext cx="3589744" cy="699095"/>
          </a:xfrm>
          <a:prstGeom prst="roundRect">
            <a:avLst>
              <a:gd name="adj" fmla="val 8720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533387" y="2300387"/>
            <a:ext cx="3335750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voto, spesa e minuti di studio di una giornata.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390" y="2897882"/>
            <a:ext cx="3589744" cy="894655"/>
          </a:xfrm>
          <a:prstGeom prst="roundRect">
            <a:avLst>
              <a:gd name="adj" fmla="val 6814"/>
            </a:avLst>
          </a:prstGeom>
          <a:solidFill>
            <a:srgbClr val="DBF0DD"/>
          </a:solidFill>
          <a:ln/>
        </p:spPr>
      </p:sp>
      <p:sp>
        <p:nvSpPr>
          <p:cNvPr id="9" name="Text 7"/>
          <p:cNvSpPr/>
          <p:nvPr/>
        </p:nvSpPr>
        <p:spPr>
          <a:xfrm>
            <a:off x="533387" y="2999482"/>
            <a:ext cx="3335750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Voto, Euro, Minuti e sizeof uguale al tipo originale.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00926" y="1847601"/>
            <a:ext cx="3589744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020-cambiare-tipo-in-un-punto.c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00926" y="2436217"/>
            <a:ext cx="3589744" cy="699095"/>
          </a:xfrm>
          <a:prstGeom prst="roundRect">
            <a:avLst>
              <a:gd name="adj" fmla="val 8720"/>
            </a:avLst>
          </a:prstGeom>
          <a:solidFill>
            <a:srgbClr val="DCEFDC"/>
          </a:solidFill>
          <a:ln/>
        </p:spPr>
      </p:sp>
      <p:sp>
        <p:nvSpPr>
          <p:cNvPr id="12" name="Text 10"/>
          <p:cNvSpPr/>
          <p:nvPr/>
        </p:nvSpPr>
        <p:spPr>
          <a:xfrm>
            <a:off x="4427923" y="2537817"/>
            <a:ext cx="3335750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pioggia di mille letture della stazione meteo.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00926" y="3135313"/>
            <a:ext cx="3589744" cy="894655"/>
          </a:xfrm>
          <a:prstGeom prst="roundRect">
            <a:avLst>
              <a:gd name="adj" fmla="val 681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4427923" y="3236913"/>
            <a:ext cx="3335750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typedef float Misura portato a double con una riga.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95462" y="1847601"/>
            <a:ext cx="3589744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030-alias-non-tipo-nuovo.c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195462" y="2436217"/>
            <a:ext cx="3589744" cy="699095"/>
          </a:xfrm>
          <a:prstGeom prst="roundRect">
            <a:avLst>
              <a:gd name="adj" fmla="val 8720"/>
            </a:avLst>
          </a:prstGeom>
          <a:solidFill>
            <a:srgbClr val="DCEFDC"/>
          </a:solidFill>
          <a:ln/>
        </p:spPr>
      </p:sp>
      <p:sp>
        <p:nvSpPr>
          <p:cNvPr id="17" name="Text 15"/>
          <p:cNvSpPr/>
          <p:nvPr/>
        </p:nvSpPr>
        <p:spPr>
          <a:xfrm>
            <a:off x="8322459" y="2537817"/>
            <a:ext cx="3335750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costo del carburante per la gita di classe.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95462" y="3135313"/>
            <a:ext cx="3589744" cy="699095"/>
          </a:xfrm>
          <a:prstGeom prst="roundRect">
            <a:avLst>
              <a:gd name="adj" fmla="val 8720"/>
            </a:avLst>
          </a:prstGeom>
          <a:solidFill>
            <a:srgbClr val="DBF0DD"/>
          </a:solidFill>
          <a:ln/>
        </p:spPr>
      </p:sp>
      <p:sp>
        <p:nvSpPr>
          <p:cNvPr id="19" name="Text 17"/>
          <p:cNvSpPr/>
          <p:nvPr/>
        </p:nvSpPr>
        <p:spPr>
          <a:xfrm>
            <a:off x="8322459" y="3236913"/>
            <a:ext cx="3335750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argomenti scambiati che il compilatore accetta.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3055"/>
            <a:ext cx="11785305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06390" y="82479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con Alias di Tipi Base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426766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569497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Registro delle temperature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84185" y="19684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Minime e massime della serra in Gradi: escursione, medie, rischio gelo.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426766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569497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Scontrino della mensa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49841" y="19684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Prezzi in Euro e pezzi in Quantita, con lo sconto della tessera studenti.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435027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577757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Consumo d'acqua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84185" y="2976682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Letture del contatore in MetriCubi, consumi per persona in Litri.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435027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577757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Cronometro del nuoto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9841" y="2976682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Tempi in Decimi di secondo, vincitore e distacchi nel formato 1'05"3.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443288"/>
            <a:ext cx="11378915" cy="855960"/>
          </a:xfrm>
          <a:prstGeom prst="roundRect">
            <a:avLst>
              <a:gd name="adj" fmla="val 7122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586018"/>
            <a:ext cx="1102332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Media pesata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84185" y="3984943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Voti e pesi percentuali del registro di informatica.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3055"/>
            <a:ext cx="11785305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06390" y="82479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Typedef di Array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435973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sui tipi array.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06390" y="1847601"/>
            <a:ext cx="358974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010-tipo-array.c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06390" y="2198787"/>
            <a:ext cx="3589744" cy="699095"/>
          </a:xfrm>
          <a:prstGeom prst="roundRect">
            <a:avLst>
              <a:gd name="adj" fmla="val 8720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533387" y="2300387"/>
            <a:ext cx="3335750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targhe e ingressi del parcheggio della scuola.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390" y="2897882"/>
            <a:ext cx="3589744" cy="699095"/>
          </a:xfrm>
          <a:prstGeom prst="roundRect">
            <a:avLst>
              <a:gd name="adj" fmla="val 8720"/>
            </a:avLst>
          </a:prstGeom>
          <a:solidFill>
            <a:srgbClr val="DBF0DD"/>
          </a:solidFill>
          <a:ln/>
        </p:spPr>
      </p:sp>
      <p:sp>
        <p:nvSpPr>
          <p:cNvPr id="9" name="Text 7"/>
          <p:cNvSpPr/>
          <p:nvPr/>
        </p:nvSpPr>
        <p:spPr>
          <a:xfrm>
            <a:off x="533387" y="2999482"/>
            <a:ext cx="3335750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Targa e Settimana, sizeof e copia con strcpy.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00926" y="1847601"/>
            <a:ext cx="3589744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020-array-come-parametro.c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00926" y="2436217"/>
            <a:ext cx="3589744" cy="699095"/>
          </a:xfrm>
          <a:prstGeom prst="roundRect">
            <a:avLst>
              <a:gd name="adj" fmla="val 8720"/>
            </a:avLst>
          </a:prstGeom>
          <a:solidFill>
            <a:srgbClr val="DCEFDC"/>
          </a:solidFill>
          <a:ln/>
        </p:spPr>
      </p:sp>
      <p:sp>
        <p:nvSpPr>
          <p:cNvPr id="12" name="Text 10"/>
          <p:cNvSpPr/>
          <p:nvPr/>
        </p:nvSpPr>
        <p:spPr>
          <a:xfrm>
            <a:off x="4427923" y="2537817"/>
            <a:ext cx="3335750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ore di apertura del laboratorio di informatica.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00926" y="3135313"/>
            <a:ext cx="3589744" cy="699095"/>
          </a:xfrm>
          <a:prstGeom prst="roundRect">
            <a:avLst>
              <a:gd name="adj" fmla="val 8720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4427923" y="3236913"/>
            <a:ext cx="3335750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const Settimana e Settimana come parametri.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95462" y="1847601"/>
            <a:ext cx="358974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030-matrici-con-nome.c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195462" y="2198787"/>
            <a:ext cx="3589744" cy="699095"/>
          </a:xfrm>
          <a:prstGeom prst="roundRect">
            <a:avLst>
              <a:gd name="adj" fmla="val 8720"/>
            </a:avLst>
          </a:prstGeom>
          <a:solidFill>
            <a:srgbClr val="DCEFDC"/>
          </a:solidFill>
          <a:ln/>
        </p:spPr>
      </p:sp>
      <p:sp>
        <p:nvSpPr>
          <p:cNvPr id="17" name="Text 15"/>
          <p:cNvSpPr/>
          <p:nvPr/>
        </p:nvSpPr>
        <p:spPr>
          <a:xfrm>
            <a:off x="8322459" y="2300387"/>
            <a:ext cx="3335750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prestiti della biblioteca e posti riservati.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95462" y="2897882"/>
            <a:ext cx="3589744" cy="894655"/>
          </a:xfrm>
          <a:prstGeom prst="roundRect">
            <a:avLst>
              <a:gd name="adj" fmla="val 6814"/>
            </a:avLst>
          </a:prstGeom>
          <a:solidFill>
            <a:srgbClr val="DBF0DD"/>
          </a:solidFill>
          <a:ln/>
        </p:spPr>
      </p:sp>
      <p:sp>
        <p:nvSpPr>
          <p:cNvPr id="19" name="Text 17"/>
          <p:cNvSpPr/>
          <p:nvPr/>
        </p:nvSpPr>
        <p:spPr>
          <a:xfrm>
            <a:off x="8322459" y="2999482"/>
            <a:ext cx="3335750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typedef Settimana Prestiti[3] e un array di Targa.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3055"/>
            <a:ext cx="11785305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06390" y="82479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con Typedef di Array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426766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569497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Controllo accessi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84185" y="19684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Sbarra del parcheggio: formato AA000AA e targhe autorizzate.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426766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569497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Presenze in palestra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49841" y="19684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Mese di Settimana: totali per settimana e per giorno.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435027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577757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Tris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84185" y="2976682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Partita tra due studenti su una Griglia 3 × 3.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435027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577757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Codici delle aule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9841" y="2976682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Comporre e scomporre i Codice nel formato B2-07.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443288"/>
            <a:ext cx="11378915" cy="855960"/>
          </a:xfrm>
          <a:prstGeom prst="roundRect">
            <a:avLst>
              <a:gd name="adj" fmla="val 7122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586018"/>
            <a:ext cx="1102332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Pianta della sala d'esame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84185" y="3984943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Candidati a scacchiera in una Pianta dell'aula magna.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3055"/>
            <a:ext cx="11785305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06390" y="82479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Typedef di Puntatori a Funzione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435973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sul tipo Operazione.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06390" y="1847601"/>
            <a:ext cx="3589744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010-nome-a-un-puntatore-a-funzione.c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06390" y="2436217"/>
            <a:ext cx="3589744" cy="699095"/>
          </a:xfrm>
          <a:prstGeom prst="roundRect">
            <a:avLst>
              <a:gd name="adj" fmla="val 8720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533387" y="2537817"/>
            <a:ext cx="3335750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conti alla cassa del bar della scuola.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390" y="3135313"/>
            <a:ext cx="3589744" cy="894655"/>
          </a:xfrm>
          <a:prstGeom prst="roundRect">
            <a:avLst>
              <a:gd name="adj" fmla="val 6814"/>
            </a:avLst>
          </a:prstGeom>
          <a:solidFill>
            <a:srgbClr val="DBF0DD"/>
          </a:solidFill>
          <a:ln/>
        </p:spPr>
      </p:sp>
      <p:sp>
        <p:nvSpPr>
          <p:cNvPr id="9" name="Text 7"/>
          <p:cNvSpPr/>
          <p:nvPr/>
        </p:nvSpPr>
        <p:spPr>
          <a:xfrm>
            <a:off x="533387" y="3236913"/>
            <a:ext cx="3335750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stessa variabile con e senza typedef; Operazione come parametro.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00926" y="1847601"/>
            <a:ext cx="3589744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020-funzione-che-restituisce-un-operazione.c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00926" y="2436217"/>
            <a:ext cx="3589744" cy="699095"/>
          </a:xfrm>
          <a:prstGeom prst="roundRect">
            <a:avLst>
              <a:gd name="adj" fmla="val 8720"/>
            </a:avLst>
          </a:prstGeom>
          <a:solidFill>
            <a:srgbClr val="DCEFDC"/>
          </a:solidFill>
          <a:ln/>
        </p:spPr>
      </p:sp>
      <p:sp>
        <p:nvSpPr>
          <p:cNvPr id="12" name="Text 10"/>
          <p:cNvSpPr/>
          <p:nvPr/>
        </p:nvSpPr>
        <p:spPr>
          <a:xfrm>
            <a:off x="4427923" y="2537817"/>
            <a:ext cx="3335750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scegliere l'operazione dal simbolo.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00926" y="3135313"/>
            <a:ext cx="3589744" cy="894655"/>
          </a:xfrm>
          <a:prstGeom prst="roundRect">
            <a:avLst>
              <a:gd name="adj" fmla="val 681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4427923" y="3236913"/>
            <a:ext cx="3335750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Operazione scegli(char) a confronto con il prototipo senza typedef.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95462" y="1847601"/>
            <a:ext cx="3589744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030-tabella-di-operazioni.c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195462" y="2436217"/>
            <a:ext cx="3589744" cy="699095"/>
          </a:xfrm>
          <a:prstGeom prst="roundRect">
            <a:avLst>
              <a:gd name="adj" fmla="val 8720"/>
            </a:avLst>
          </a:prstGeom>
          <a:solidFill>
            <a:srgbClr val="DCEFDC"/>
          </a:solidFill>
          <a:ln/>
        </p:spPr>
      </p:sp>
      <p:sp>
        <p:nvSpPr>
          <p:cNvPr id="17" name="Text 15"/>
          <p:cNvSpPr/>
          <p:nvPr/>
        </p:nvSpPr>
        <p:spPr>
          <a:xfrm>
            <a:off x="8322459" y="2537817"/>
            <a:ext cx="3335750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quaderno dei conti del tesoriere di classe.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95462" y="3135313"/>
            <a:ext cx="3589744" cy="699095"/>
          </a:xfrm>
          <a:prstGeom prst="roundRect">
            <a:avLst>
              <a:gd name="adj" fmla="val 8720"/>
            </a:avLst>
          </a:prstGeom>
          <a:solidFill>
            <a:srgbClr val="DBF0DD"/>
          </a:solidFill>
          <a:ln/>
        </p:spPr>
      </p:sp>
      <p:sp>
        <p:nvSpPr>
          <p:cNvPr id="19" name="Text 17"/>
          <p:cNvSpPr/>
          <p:nvPr/>
        </p:nvSpPr>
        <p:spPr>
          <a:xfrm>
            <a:off x="8322459" y="3236913"/>
            <a:ext cx="3335750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Operazione tabella[4] e il simbolo come indice.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3055"/>
            <a:ext cx="11785305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06390" y="824797"/>
            <a:ext cx="11378915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con Typedef di Puntatori a Funzione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873746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2016477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Ricette americane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84185" y="241540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tabella di Conversione da cup, tbsp, oz, lb e °F al sistema metrico.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873746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2016477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Allarmi dei sensori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49841" y="241540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Regola di allarme diversa per ogni sensore del laboratorio.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882007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3024738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Menu a funzioni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84185" y="3423662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borsellino elettronico della mensa: ogni voce è un'Azione.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882007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3024738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Cifratura dei messaggi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9841" y="3423662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Cesare, ROT13 e Atbash come Trasforma, con il controllo della decifratura.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890268"/>
            <a:ext cx="11378915" cy="855960"/>
          </a:xfrm>
          <a:prstGeom prst="roundRect">
            <a:avLst>
              <a:gd name="adj" fmla="val 7122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4032999"/>
            <a:ext cx="1102332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Tariffe del parcheggio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84185" y="4431923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funzione che restituisce la Tariffa più conveniente.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2026-10-12T09:18:56Z</dcterms:created>
  <dcterms:modified xsi:type="dcterms:W3CDTF">2026-10-12T09:18:56Z</dcterms:modified>
</cp:coreProperties>
</file>