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embeddedFontLst>
    <p:embeddedFont>
      <p:font typeface="Verdana"/>
      <p:regular r:id="rId201314"/>
    </p:embeddedFont>
    <p:embeddedFont>
      <p:font typeface="Verdana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2089811"/>
            <a:ext cx="5912992" cy="1229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4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Puntatori e Funzioni in 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09585" y="3511471"/>
            <a:ext cx="5912992" cy="56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Parametri per riferimento, funzioni che restituiscono puntatori, puntatori a funzione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09585" y="4324548"/>
            <a:ext cx="5912992" cy="473373"/>
          </a:xfrm>
          <a:prstGeom prst="roundRect">
            <a:avLst>
              <a:gd name="adj" fmla="val 12877"/>
            </a:avLst>
          </a:prstGeom>
          <a:solidFill>
            <a:srgbClr val="1B4D24"/>
          </a:solidFill>
          <a:ln/>
        </p:spPr>
      </p:sp>
      <p:sp>
        <p:nvSpPr>
          <p:cNvPr id="5" name="Shape 3"/>
          <p:cNvSpPr/>
          <p:nvPr/>
        </p:nvSpPr>
        <p:spPr>
          <a:xfrm>
            <a:off x="787380" y="4426148"/>
            <a:ext cx="1310250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6" name="Text 4"/>
          <p:cNvSpPr/>
          <p:nvPr/>
        </p:nvSpPr>
        <p:spPr>
          <a:xfrm>
            <a:off x="894038" y="4483239"/>
            <a:ext cx="1706520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LINGUAGGIO 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86528" y="4426148"/>
            <a:ext cx="1031849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8" name="Text 6"/>
          <p:cNvSpPr/>
          <p:nvPr/>
        </p:nvSpPr>
        <p:spPr>
          <a:xfrm>
            <a:off x="2293186" y="4483239"/>
            <a:ext cx="1428119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07275" y="4426148"/>
            <a:ext cx="940372" cy="270173"/>
          </a:xfrm>
          <a:prstGeom prst="roundRect">
            <a:avLst>
              <a:gd name="adj" fmla="val 4231"/>
            </a:avLst>
          </a:prstGeom>
          <a:solidFill>
            <a:srgbClr val="DBF0DD"/>
          </a:solidFill>
          <a:ln/>
        </p:spPr>
      </p:sp>
      <p:sp>
        <p:nvSpPr>
          <p:cNvPr id="10" name="Text 8"/>
          <p:cNvSpPr/>
          <p:nvPr/>
        </p:nvSpPr>
        <p:spPr>
          <a:xfrm>
            <a:off x="3413933" y="4483239"/>
            <a:ext cx="1336642" cy="1636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FUNZIONI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6855" y="259060"/>
            <a:ext cx="4754840" cy="6339880"/>
          </a:xfrm>
          <a:prstGeom prst="rect">
            <a:avLst/>
          </a:prstGeom>
        </p:spPr>
      </p:pic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Copie e Indirizzi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158180"/>
            <a:ext cx="6275330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una funzione riceve copie dei suoi argomenti, quindi non può modificare le variabili del chiamante.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si passa l'indirizzo della variabile; nella funzione si scrive nella variabile puntata con *a.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458343"/>
            <a:ext cx="6275330" cy="2555081"/>
          </a:xfrm>
          <a:prstGeom prst="roundRect">
            <a:avLst>
              <a:gd name="adj" fmla="val 2386"/>
            </a:avLst>
          </a:prstGeom>
          <a:solidFill>
            <a:srgbClr val="FFFFFF"/>
          </a:solidFill>
          <a:ln w="12700">
            <a:solidFill>
              <a:srgbClr val="E0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6086" y="2598360"/>
            <a:ext cx="5995937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scambia(int *a, int *b)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temp = *a;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*a = *b;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*b = temp;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scambia(&amp;primo, &amp;secondo);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365849"/>
            <a:ext cx="6275330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5502057"/>
            <a:ext cx="5919739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funzione che ha già ricevuto un puntatore lo passa ad altre funzioni senza &amp;: dentro ordina_tre si scrive scambia(a, b), perché a e b sono già indirizzi.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413" y="929580"/>
            <a:ext cx="4798892" cy="5665391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Tre Usi di un Parametro Puntatore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5906146" cy="914400"/>
        </p:xfrm>
        <a:graphic>
          <a:graphicData uri="http://schemas.openxmlformats.org/drawingml/2006/table">
            <a:tbl>
              <a:tblPr/>
              <a:tblGrid>
                <a:gridCol w="1535598"/>
                <a:gridCol w="2244336"/>
                <a:gridCol w="2126213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Uso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Esempio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La 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uscita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scomponi(8130, &amp;h, &amp;m, &amp;s)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scrive un risultato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ingresso e uscita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preleva(&amp;saldo, 550)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legge il valore e lo aggiorna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8858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uscita facoltativa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calcola(..., &amp;totale, NULL, NULL)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scrive solo se il puntatore non è 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06390" y="3698180"/>
            <a:ext cx="5906146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5" name="Text 2"/>
          <p:cNvSpPr/>
          <p:nvPr/>
        </p:nvSpPr>
        <p:spPr>
          <a:xfrm>
            <a:off x="584185" y="3834388"/>
            <a:ext cx="5550555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return restituisce un solo valore: quando i risultati sono più di uno, escono dai parametri puntatore.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17229" y="1129605"/>
            <a:ext cx="5168076" cy="2321421"/>
          </a:xfrm>
          <a:prstGeom prst="roundRect">
            <a:avLst>
              <a:gd name="adj" fmla="val 2626"/>
            </a:avLst>
          </a:prstGeom>
          <a:solidFill>
            <a:srgbClr val="FFFFFF"/>
          </a:solidFill>
          <a:ln w="12700">
            <a:solidFill>
              <a:srgbClr val="E0DE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782325" y="1295023"/>
            <a:ext cx="4837884" cy="1991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scomponi(int totale, int *ore, int *minuti, int *secondi)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*ore = totale / 3600;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*minuti = totale % 3600 / 60;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*secondi = totale % 60;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return per l'Esito, Puntatori per i Risultati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5906146" cy="13489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il prelievo dalla tessera della mensa può non riuscire, e il chiamante deve saperlo.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la funzione restituisce 1 se l'operazione è riuscita, 0 altrimenti; la variabile del chiamante si modifica solo in caso di successo.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430959"/>
            <a:ext cx="5906146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567166"/>
            <a:ext cx="5550555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Esempi: resto del distributore (esito, monete usate, importo mancante), lettura di una data (1 valida, 0 non valida, -1 fine), volo del drone rifiutato sotto la riserva.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17229" y="1129605"/>
            <a:ext cx="5168076" cy="3743722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E0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82325" y="1295023"/>
            <a:ext cx="4837884" cy="3413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preleva(int *saldo, int importo)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riuscito = 0;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(*saldo &gt;= importo)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*saldo = *saldo - importo;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riuscito = 1;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riuscito;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(preleva(&amp;saldo, PASTO)) { ... }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Una Funzione che Restituisce un Puntatore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158180"/>
            <a:ext cx="6275330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trovare il frigorifero più caldo della mensa e abbassarne la temperatura.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la ricerca restituisce il puntatore all'elemento trovato; il chiamante lo legge e lo modifica direttamente.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458343"/>
            <a:ext cx="6275330" cy="1701701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0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6086" y="2598360"/>
            <a:ext cx="5995937" cy="14223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*massimo(int *v, int n);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*caldo = massimo(temperature, N);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*caldo = *caldo - 4;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posizione = caldo - temperature;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4487069"/>
            <a:ext cx="6275330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4623276"/>
            <a:ext cx="591973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Se il chiamante deve solo leggere, parametro e risultato sono const: const int *minimo(const int *v, int n).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413" y="929580"/>
            <a:ext cx="4798892" cy="453777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NULL per "Non Trovato"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553706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Una ricerca che restituisce un puntatore dice "non trovato" restituendo NULL. Il chiamante controlla sempre il risultato prima di usarlo.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1879302"/>
            <a:ext cx="5537061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015510"/>
            <a:ext cx="518147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Le versioni a mano di strstr (trova) e strrchr (ultimo) restituiscono un puntatore dentro la stringa ricevuta, oppure NULL.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1129605"/>
            <a:ext cx="5537061" cy="4312642"/>
          </a:xfrm>
          <a:prstGeom prst="roundRect">
            <a:avLst>
              <a:gd name="adj" fmla="val 1413"/>
            </a:avLst>
          </a:prstGeom>
          <a:solidFill>
            <a:srgbClr val="FFFFFF"/>
          </a:solidFill>
          <a:ln w="12700">
            <a:solidFill>
              <a:srgbClr val="E0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3340" y="1295023"/>
            <a:ext cx="5206870" cy="3982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*cerca(int *v, int n, int valore)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*p = v;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(p &lt; v + n &amp;&amp; *p != valore)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p++;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p &lt; v + n ? p : NULL;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*trovato = cerca(armadietti, N, matricola);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(trovato !=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*trovato = 0;       /* armadietto liberato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Quale Indirizzo si Può Restituire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6275330" cy="914400"/>
        </p:xfrm>
        <a:graphic>
          <a:graphicData uri="http://schemas.openxmlformats.org/drawingml/2006/table">
            <a:tbl>
              <a:tblPr/>
              <a:tblGrid>
                <a:gridCol w="3890703"/>
                <a:gridCol w="2384627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Indirizzo restituito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Valido dopo il return?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 elemento di un array del 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parte di una stringa ricevuta (testo + k)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sì, ma non si dereferenzia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una variabile locale o un parametro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no: la variabile non esiste più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06390" y="4070052"/>
            <a:ext cx="6275330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5" name="Text 2"/>
          <p:cNvSpPr/>
          <p:nvPr/>
        </p:nvSpPr>
        <p:spPr>
          <a:xfrm>
            <a:off x="584185" y="4206260"/>
            <a:ext cx="591973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Al posto dell'indirizzo di una variabile locale si restituisce il valore, oppure si scrive il risultato in un parametro di uscita.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986413" y="1129605"/>
            <a:ext cx="4798892" cy="2036961"/>
          </a:xfrm>
          <a:prstGeom prst="roundRect">
            <a:avLst>
              <a:gd name="adj" fmla="val 2993"/>
            </a:avLst>
          </a:prstGeom>
          <a:solidFill>
            <a:srgbClr val="FFFFFF"/>
          </a:solidFill>
          <a:ln w="12700">
            <a:solidFill>
              <a:srgbClr val="E0DED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51509" y="1295023"/>
            <a:ext cx="4468701" cy="170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*media_sbagliata(const int *voti, int n)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m;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&amp;m;        /* ERRORE */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Puntatore a Funzione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167388"/>
            <a:ext cx="627533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Anche il codice di una funzione ha un indirizzo. Un puntatore a funzione lo contiene e permette di chiamare la funzione scelta in quel momento.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2009477"/>
          <a:ext cx="6275330" cy="914400"/>
        </p:xfrm>
        <a:graphic>
          <a:graphicData uri="http://schemas.openxmlformats.org/drawingml/2006/table">
            <a:tbl>
              <a:tblPr/>
              <a:tblGrid>
                <a:gridCol w="2133598"/>
                <a:gridCol w="4141732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Scrittura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Significato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(*f)(int, int)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puntatore a una funzione (int, int) che restituisce int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*f(int, int)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 che restituisce int * (senza parentesi)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 = somma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 punta a somma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f(a, b)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chiamata tramite il puntatore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06390" y="4626868"/>
            <a:ext cx="6275330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6" name="Text 3"/>
          <p:cNvSpPr/>
          <p:nvPr/>
        </p:nvSpPr>
        <p:spPr>
          <a:xfrm>
            <a:off x="584185" y="4763076"/>
            <a:ext cx="591973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Il puntatore può ricevere solo funzioni con lo stesso prototipo, e si confronta con == (operazione == dividi, operazione == NULL).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413" y="929580"/>
            <a:ext cx="4798892" cy="4677569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Funzione come Parametro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1158180"/>
            <a:ext cx="6275330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applicare trasformazioni diverse ai punteggi di una gara senza riscrivere ogni volta il ciclo.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una funzione generale riceve, oltre ai dati, la funzione da applicare (callback).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458343"/>
            <a:ext cx="6275330" cy="2504281"/>
          </a:xfrm>
          <a:prstGeom prst="roundRect">
            <a:avLst>
              <a:gd name="adj" fmla="val 2434"/>
            </a:avLst>
          </a:prstGeom>
          <a:solidFill>
            <a:srgbClr val="FFFFFF"/>
          </a:solidFill>
          <a:ln w="12700">
            <a:solidFill>
              <a:srgbClr val="E0DE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0687" y="2572960"/>
            <a:ext cx="6046735" cy="227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applica(int *v, int n, int (*trasforma)(int))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*p;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(p = v; p &lt; v + n; p++)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*p = trasforma(*p);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applica(punti, N, raddoppia);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06390" y="5162649"/>
            <a:ext cx="6275330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7" name="Text 5"/>
          <p:cNvSpPr/>
          <p:nvPr/>
        </p:nvSpPr>
        <p:spPr>
          <a:xfrm>
            <a:off x="584185" y="5298857"/>
            <a:ext cx="591973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Si passa il nome della funzione, senza (): applica(punti, N, raddoppia), non raddoppia(3).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6413" y="929580"/>
            <a:ext cx="4798892" cy="521335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502936" y="6466086"/>
            <a:ext cx="68875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Criteri, Condizioni e Formule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38788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Lo stesso schema risolve molti problemi: il ciclo è scritto una volta, ciò che cambia arriva come funzione.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1337171"/>
          <a:ext cx="6644414" cy="914400"/>
        </p:xfrm>
        <a:graphic>
          <a:graphicData uri="http://schemas.openxmlformats.org/drawingml/2006/table">
            <a:tbl>
              <a:tblPr/>
              <a:tblGrid>
                <a:gridCol w="2259007"/>
                <a:gridCol w="1727482"/>
                <a:gridCol w="2657925"/>
              </a:tblGrid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 generale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 passata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Esempio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493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migliore(v, n, preferisci)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(int, int)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consegna più rapida, più lenta, più vicina ai 30 minuti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conta_se(v, n, condizione)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(int)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misure di rumore oltre 80 dB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converti(in, out, n, formula)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double (double)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Celsius in Fahrenheit e kelvin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trasforma(testo, regola)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char (char)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maiuscolo, Cesare, cifre oscurate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vincitore(punti, n, valuta)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(const int *)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triathlon: totale, prova migliore, prova peggiore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55497" y="1537196"/>
            <a:ext cx="4429709" cy="3977382"/>
          </a:xfrm>
          <a:prstGeom prst="roundRect">
            <a:avLst>
              <a:gd name="adj" fmla="val 1533"/>
            </a:avLst>
          </a:prstGeom>
          <a:solidFill>
            <a:srgbClr val="FFFFFF"/>
          </a:solidFill>
          <a:ln w="12700">
            <a:solidFill>
              <a:srgbClr val="E0DED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5194" y="1677214"/>
            <a:ext cx="4150316" cy="3697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int *migliore(const int *v, int n, int (*preferisci)(int, int))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int *p;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int *scelto = v;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(p = v + 1; p &lt; v + n; p++)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(preferisci(*p, *scelto))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scelto = p;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scelto;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Scegliere la Funzione a Tempo di Esecuzione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6390" y="929580"/>
            <a:ext cx="5537061" cy="11001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Il problema:</a:t>
            </a:r>
            <a:pPr algn="l" indent="0" marL="0">
              <a:lnSpc>
                <a:spcPct val="11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la calcolatrice legge l'operatore e deve eseguire l'operazione corrispondente.</a:t>
            </a:r>
            <a:endParaRPr lang="en-US" sz="140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La soluzione: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una funzione restituisce il puntatore alla funzione di calcolo, NULL se l'operatore non esiste.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06390" y="2207518"/>
            <a:ext cx="5537061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2343726"/>
            <a:ext cx="5181470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La dichiarazione si legge dall'interno: scegli_operazione è una funzione (char) che restituisce un puntatore a una funzione (double, double) che restituisce double.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8244" y="1129605"/>
            <a:ext cx="5537061" cy="3174802"/>
          </a:xfrm>
          <a:prstGeom prst="roundRect">
            <a:avLst>
              <a:gd name="adj" fmla="val 1920"/>
            </a:avLst>
          </a:prstGeom>
          <a:solidFill>
            <a:srgbClr val="FFFFFF"/>
          </a:solidFill>
          <a:ln w="12700">
            <a:solidFill>
              <a:srgbClr val="E0DE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13340" y="1295023"/>
            <a:ext cx="5206870" cy="28446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(*scegli_operazione(char simbolo))(double, double);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operazione = scegli_operazione(simbolo);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(operazione == NULL)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printf("operatore sconosciuto\n");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(operazione == dividi &amp;&amp; b == 0)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printf("divisione per zero\n");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printf("%g\n", operazione(a, b));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2429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Errori Comuni da Evitare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6390" y="929580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4" name="Shape 2"/>
          <p:cNvSpPr/>
          <p:nvPr/>
        </p:nvSpPr>
        <p:spPr>
          <a:xfrm>
            <a:off x="558786" y="1056580"/>
            <a:ext cx="311142" cy="311150"/>
          </a:xfrm>
          <a:prstGeom prst="roundRect">
            <a:avLst>
              <a:gd name="adj" fmla="val 17143"/>
            </a:avLst>
          </a:prstGeom>
          <a:solidFill>
            <a:srgbClr val="DCEFDC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60582" y="1136551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8786" y="1449963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Passare il valore invece dell'indirizzo: scambia(primo, secondo).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929580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8" name="Shape 6"/>
          <p:cNvSpPr/>
          <p:nvPr/>
        </p:nvSpPr>
        <p:spPr>
          <a:xfrm>
            <a:off x="6324442" y="1056580"/>
            <a:ext cx="311142" cy="311150"/>
          </a:xfrm>
          <a:prstGeom prst="roundRect">
            <a:avLst>
              <a:gd name="adj" fmla="val 17143"/>
            </a:avLst>
          </a:prstGeom>
          <a:solidFill>
            <a:srgbClr val="DCEFDC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26238" y="1136551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24442" y="1449963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Aggiungere &amp; a un puntatore già ricevuto: scambia(&amp;a, &amp;b) dentro ordina_tre.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06390" y="2217837"/>
            <a:ext cx="5613260" cy="887016"/>
          </a:xfrm>
          <a:prstGeom prst="roundRect">
            <a:avLst>
              <a:gd name="adj" fmla="val 6872"/>
            </a:avLst>
          </a:prstGeom>
          <a:solidFill>
            <a:srgbClr val="DCEFDC"/>
          </a:solidFill>
          <a:ln/>
        </p:spPr>
      </p:sp>
      <p:sp>
        <p:nvSpPr>
          <p:cNvPr id="12" name="Shape 10"/>
          <p:cNvSpPr/>
          <p:nvPr/>
        </p:nvSpPr>
        <p:spPr>
          <a:xfrm>
            <a:off x="558786" y="2344837"/>
            <a:ext cx="311142" cy="311150"/>
          </a:xfrm>
          <a:prstGeom prst="roundRect">
            <a:avLst>
              <a:gd name="adj" fmla="val 17143"/>
            </a:avLst>
          </a:prstGeom>
          <a:solidFill>
            <a:srgbClr val="DCEFDC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60582" y="2424807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8786" y="2738219"/>
            <a:ext cx="54608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Scrivere x = 0 invece di *x = 0 nella funzione.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72046" y="2217837"/>
            <a:ext cx="5613260" cy="887016"/>
          </a:xfrm>
          <a:prstGeom prst="roundRect">
            <a:avLst>
              <a:gd name="adj" fmla="val 6872"/>
            </a:avLst>
          </a:prstGeom>
          <a:solidFill>
            <a:srgbClr val="DCEFDC"/>
          </a:solidFill>
          <a:ln/>
        </p:spPr>
      </p:sp>
      <p:sp>
        <p:nvSpPr>
          <p:cNvPr id="16" name="Shape 14"/>
          <p:cNvSpPr/>
          <p:nvPr/>
        </p:nvSpPr>
        <p:spPr>
          <a:xfrm>
            <a:off x="6324442" y="2344837"/>
            <a:ext cx="311142" cy="311150"/>
          </a:xfrm>
          <a:prstGeom prst="roundRect">
            <a:avLst>
              <a:gd name="adj" fmla="val 17143"/>
            </a:avLst>
          </a:prstGeom>
          <a:solidFill>
            <a:srgbClr val="DCEFDC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26238" y="2424807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24442" y="2738219"/>
            <a:ext cx="54608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Modificare le uscite anche quando l'operazione fallisce.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06390" y="3257252"/>
            <a:ext cx="5613260" cy="887016"/>
          </a:xfrm>
          <a:prstGeom prst="roundRect">
            <a:avLst>
              <a:gd name="adj" fmla="val 6872"/>
            </a:avLst>
          </a:prstGeom>
          <a:solidFill>
            <a:srgbClr val="DCEFDC"/>
          </a:solidFill>
          <a:ln/>
        </p:spPr>
      </p:sp>
      <p:sp>
        <p:nvSpPr>
          <p:cNvPr id="20" name="Shape 18"/>
          <p:cNvSpPr/>
          <p:nvPr/>
        </p:nvSpPr>
        <p:spPr>
          <a:xfrm>
            <a:off x="558786" y="3384252"/>
            <a:ext cx="311142" cy="311150"/>
          </a:xfrm>
          <a:prstGeom prst="roundRect">
            <a:avLst>
              <a:gd name="adj" fmla="val 17143"/>
            </a:avLst>
          </a:prstGeom>
          <a:solidFill>
            <a:srgbClr val="DCEFDC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60582" y="3464223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8786" y="3777635"/>
            <a:ext cx="54608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Restituire l'indirizzo di una variabile locale.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172046" y="3257252"/>
            <a:ext cx="5613260" cy="887016"/>
          </a:xfrm>
          <a:prstGeom prst="roundRect">
            <a:avLst>
              <a:gd name="adj" fmla="val 6872"/>
            </a:avLst>
          </a:prstGeom>
          <a:solidFill>
            <a:srgbClr val="DCEFDC"/>
          </a:solidFill>
          <a:ln/>
        </p:spPr>
      </p:sp>
      <p:sp>
        <p:nvSpPr>
          <p:cNvPr id="24" name="Shape 22"/>
          <p:cNvSpPr/>
          <p:nvPr/>
        </p:nvSpPr>
        <p:spPr>
          <a:xfrm>
            <a:off x="6324442" y="3384252"/>
            <a:ext cx="311142" cy="311150"/>
          </a:xfrm>
          <a:prstGeom prst="roundRect">
            <a:avLst>
              <a:gd name="adj" fmla="val 17143"/>
            </a:avLst>
          </a:prstGeom>
          <a:solidFill>
            <a:srgbClr val="DCEFDC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26238" y="3464223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4442" y="3777635"/>
            <a:ext cx="54608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Usare il puntatore restituito senza controllare NULL.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06390" y="4296668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28" name="Shape 26"/>
          <p:cNvSpPr/>
          <p:nvPr/>
        </p:nvSpPr>
        <p:spPr>
          <a:xfrm>
            <a:off x="558786" y="4423668"/>
            <a:ext cx="311142" cy="311150"/>
          </a:xfrm>
          <a:prstGeom prst="roundRect">
            <a:avLst>
              <a:gd name="adj" fmla="val 17143"/>
            </a:avLst>
          </a:prstGeom>
          <a:solidFill>
            <a:srgbClr val="DCEFDC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0582" y="4503638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8786" y="4817051"/>
            <a:ext cx="54608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Dichiarare int *f(int, int) invece di int (*f)(int, int).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172046" y="4296668"/>
            <a:ext cx="5613260" cy="1135856"/>
          </a:xfrm>
          <a:prstGeom prst="roundRect">
            <a:avLst>
              <a:gd name="adj" fmla="val 5367"/>
            </a:avLst>
          </a:prstGeom>
          <a:solidFill>
            <a:srgbClr val="DCEFDC"/>
          </a:solidFill>
          <a:ln/>
        </p:spPr>
      </p:sp>
      <p:sp>
        <p:nvSpPr>
          <p:cNvPr id="32" name="Shape 30"/>
          <p:cNvSpPr/>
          <p:nvPr/>
        </p:nvSpPr>
        <p:spPr>
          <a:xfrm>
            <a:off x="6324442" y="4423668"/>
            <a:ext cx="311142" cy="311150"/>
          </a:xfrm>
          <a:prstGeom prst="roundRect">
            <a:avLst>
              <a:gd name="adj" fmla="val 17143"/>
            </a:avLst>
          </a:prstGeom>
          <a:solidFill>
            <a:srgbClr val="DCEFDC"/>
          </a:solidFill>
          <a:ln w="6350">
            <a:solidFill>
              <a:srgbClr val="C1D6C3"/>
            </a:solidFill>
            <a:prstDash val="solid"/>
          </a:ln>
          <a:effectLst>
            <a:outerShdw sx="100000" sy="100000" kx="0" ky="0" algn="bl" rotWithShape="0" blurRad="127" dist="22860" dir="2700000">
              <a:srgbClr val="c1d6c3">
                <a:alpha val="10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26238" y="4503638"/>
            <a:ext cx="717036" cy="15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8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24442" y="4817051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Passare raddoppia(3) invece di raddoppia a una funzione che vuole una callback.</a:t>
            </a:r>
            <a:endParaRPr lang="en-US" sz="14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27611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Riepilogo Concetti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390" y="929580"/>
          <a:ext cx="11378916" cy="914400"/>
        </p:xfrm>
        <a:graphic>
          <a:graphicData uri="http://schemas.openxmlformats.org/drawingml/2006/table">
            <a:tbl>
              <a:tblPr/>
              <a:tblGrid>
                <a:gridCol w="3413675"/>
                <a:gridCol w="3982620"/>
                <a:gridCol w="3982620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Tecnica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1E1E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60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Modificare una variabile del 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void f(int *x), f(&amp;v)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nella funzione *x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Più risultati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parametri di uscita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return libero per l'esito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Esito dell'operazione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return 1 / 0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uscite scritte solo se riesce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Risultati facoltativi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parametro 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controllo prima di scrivere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Restituire un elemento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*f(int *v, int n)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 nell'array del 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Non trovato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return NULL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controllo del chiamante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Sola lettura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const int *f(const int *v, ...)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risultato const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Puntatore a 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int (*f)(int, int)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stesso prototipo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Callback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f(v, n, funzione)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nome senza ()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974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Scelta della 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funzione che restituisce un puntatore a funzione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B3535"/>
                          </a:solidFill>
                          <a:latin typeface="Verdana" pitchFamily="34" charset="0"/>
                          <a:ea typeface="Verdana" pitchFamily="34" charset="-122"/>
                          <a:cs typeface="Verdana" pitchFamily="34" charset="-120"/>
                        </a:rPr>
                        <a:t>NULL se non prevista</a:t>
                      </a:r>
                      <a:endParaRPr lang="en-US" sz="1400" dirty="0">
                        <a:latin typeface="Verdana" charset="0"/>
                        <a:ea typeface="Verdana" charset="0"/>
                        <a:cs typeface="Verdana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1D6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Parametri per Riferimento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scambio, ingresso e uscita, più risultati.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691341" cy="2276078"/>
          </a:xfrm>
          <a:prstGeom prst="roundRect">
            <a:avLst>
              <a:gd name="adj" fmla="val 502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36" y="1752084"/>
            <a:ext cx="35452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010-scambio-e-ordine.c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2436" y="2096492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730232" y="2232700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tempi dei primi tre di una corsa campestre.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2436" y="2975173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730232" y="3111381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copie e indirizzi, scambia, ordina_tre senza &amp;.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0127" y="1596827"/>
            <a:ext cx="3691341" cy="2276078"/>
          </a:xfrm>
          <a:prstGeom prst="roundRect">
            <a:avLst>
              <a:gd name="adj" fmla="val 502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6174" y="1752084"/>
            <a:ext cx="35452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020-parametri-in-out.c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96174" y="2096492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3969" y="2232700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tessera prepagata della mensa.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96174" y="2975173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3969" y="3111381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saldo in ingresso e uscita, return 1/0.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3865" y="1596827"/>
            <a:ext cx="3691341" cy="2276078"/>
          </a:xfrm>
          <a:prstGeom prst="roundRect">
            <a:avLst>
              <a:gd name="adj" fmla="val 502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9911" y="1752084"/>
            <a:ext cx="35452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030-piu-risultati.c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39911" y="2096492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7707" y="2232700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durata delle registrazioni di una videocamera.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39911" y="2975173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8417707" y="3111381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secondi in ore, minuti e secondi; giorni con return.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Parametri per Riferimento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636216"/>
            <a:ext cx="5613260" cy="1116112"/>
          </a:xfrm>
          <a:prstGeom prst="roundRect">
            <a:avLst>
              <a:gd name="adj" fmla="val 5462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84185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Resto in monete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84185" y="213685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Distributore con scorta limitata: esito, monete usate e importo mancante.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636216"/>
            <a:ext cx="5613260" cy="1116112"/>
          </a:xfrm>
          <a:prstGeom prst="roundRect">
            <a:avLst>
              <a:gd name="adj" fmla="val 5462"/>
            </a:avLst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6349841" y="1776461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Durata dell'allenamento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49841" y="2136854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Tempi dei giri sommati con il riporto, giro migliore in ingresso e uscita.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904629"/>
            <a:ext cx="5613260" cy="1116112"/>
          </a:xfrm>
          <a:prstGeom prst="roundRect">
            <a:avLst>
              <a:gd name="adj" fmla="val 5462"/>
            </a:avLst>
          </a:prstGeom>
          <a:solidFill>
            <a:srgbClr val="DCEFDC"/>
          </a:solidFill>
          <a:ln/>
        </p:spPr>
      </p:sp>
      <p:sp>
        <p:nvSpPr>
          <p:cNvPr id="11" name="Text 9"/>
          <p:cNvSpPr/>
          <p:nvPr/>
        </p:nvSpPr>
        <p:spPr>
          <a:xfrm>
            <a:off x="584185" y="304487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Lettura di una data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4185" y="3405267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Prenotazione della palestra: esito a tre valori e giorno successivo.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904629"/>
            <a:ext cx="5613260" cy="1116112"/>
          </a:xfrm>
          <a:prstGeom prst="roundRect">
            <a:avLst>
              <a:gd name="adj" fmla="val 5462"/>
            </a:avLst>
          </a:prstGeom>
          <a:solidFill>
            <a:srgbClr val="DC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6349841" y="3044873"/>
            <a:ext cx="5257668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Batteria del drone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9841" y="3405267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Carica e minuti di volo aggiornati solo se la manovra è possibile.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4173041"/>
            <a:ext cx="11378915" cy="867271"/>
          </a:xfrm>
          <a:prstGeom prst="roundRect">
            <a:avLst>
              <a:gd name="adj" fmla="val 7029"/>
            </a:avLst>
          </a:prstGeom>
          <a:solidFill>
            <a:srgbClr val="DCEFDC"/>
          </a:solidFill>
          <a:ln/>
        </p:spPr>
      </p:sp>
      <p:sp>
        <p:nvSpPr>
          <p:cNvPr id="17" name="Text 15"/>
          <p:cNvSpPr/>
          <p:nvPr/>
        </p:nvSpPr>
        <p:spPr>
          <a:xfrm>
            <a:off x="584185" y="4313286"/>
            <a:ext cx="11023324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Scontrino con sconto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84185" y="4673679"/>
            <a:ext cx="112011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Totale, sconto e punti fedeltà come uscite facoltative.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Funzioni che Restituiscono Puntatori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64542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sul puntatore come valore di ritorno.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2043807"/>
            <a:ext cx="3691341" cy="2524919"/>
          </a:xfrm>
          <a:prstGeom prst="roundRect">
            <a:avLst>
              <a:gd name="adj" fmla="val 453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36" y="2199065"/>
            <a:ext cx="35452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010-puntatore-al-massimo.c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2436" y="2543473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730232" y="2679680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frigoriferi della mensa troppo caldi.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2436" y="3422154"/>
            <a:ext cx="3399249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730232" y="3558361"/>
            <a:ext cx="304365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int *massimo per modificare, const int *minimo per leggere.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0127" y="2043807"/>
            <a:ext cx="3691341" cy="2524919"/>
          </a:xfrm>
          <a:prstGeom prst="roundRect">
            <a:avLst>
              <a:gd name="adj" fmla="val 453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6174" y="2199065"/>
            <a:ext cx="35452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020-ricerca-con-null.c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96174" y="2543473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3969" y="2679680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armadietti degli studenti.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96174" y="3422154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3969" y="3558361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ricerca che restituisce NULL se non trova.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3865" y="2043807"/>
            <a:ext cx="3691341" cy="2524919"/>
          </a:xfrm>
          <a:prstGeom prst="roundRect">
            <a:avLst>
              <a:gd name="adj" fmla="val 453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9911" y="2199065"/>
            <a:ext cx="35452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030-mai-indirizzi-locali.c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39911" y="2543473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7707" y="2679680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media dei voti di uno studente.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39911" y="3422154"/>
            <a:ext cx="3399249" cy="1000522"/>
          </a:xfrm>
          <a:prstGeom prst="roundRect">
            <a:avLst>
              <a:gd name="adj" fmla="val 6093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8417707" y="3558361"/>
            <a:ext cx="304365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perché non si restituisce &amp;locale, tre alternative corrette.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Puntatori Restituiti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189236"/>
            <a:ext cx="5613260" cy="1065312"/>
          </a:xfrm>
          <a:prstGeom prst="roundRect">
            <a:avLst>
              <a:gd name="adj" fmla="val 5722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1304080"/>
            <a:ext cx="53084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Scaffale del magazzino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8786" y="1664474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Puntatore alla quantità di un componente cercato per codice.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189236"/>
            <a:ext cx="5613260" cy="1065312"/>
          </a:xfrm>
          <a:prstGeom prst="roundRect">
            <a:avLst>
              <a:gd name="adj" fmla="val 5722"/>
            </a:avLst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6324442" y="1304080"/>
            <a:ext cx="53084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Prossimo treno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24442" y="1664474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Puntatore al prossimo orario e treni successivi p + 1, p + 2.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406848"/>
            <a:ext cx="5613260" cy="1065312"/>
          </a:xfrm>
          <a:prstGeom prst="roundRect">
            <a:avLst>
              <a:gd name="adj" fmla="val 5722"/>
            </a:avLst>
          </a:prstGeom>
          <a:solidFill>
            <a:srgbClr val="DCEFDC"/>
          </a:solidFill>
          <a:ln/>
        </p:spPr>
      </p:sp>
      <p:sp>
        <p:nvSpPr>
          <p:cNvPr id="11" name="Text 9"/>
          <p:cNvSpPr/>
          <p:nvPr/>
        </p:nvSpPr>
        <p:spPr>
          <a:xfrm>
            <a:off x="558786" y="2521693"/>
            <a:ext cx="53084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Cerca parola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8786" y="2882086"/>
            <a:ext cx="54608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Ricerca nel regolamento con una strstr scritta a mano.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406848"/>
            <a:ext cx="5613260" cy="1065312"/>
          </a:xfrm>
          <a:prstGeom prst="roundRect">
            <a:avLst>
              <a:gd name="adj" fmla="val 5722"/>
            </a:avLst>
          </a:prstGeom>
          <a:solidFill>
            <a:srgbClr val="DC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2521693"/>
            <a:ext cx="53084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Nome del file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24442" y="2882086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Cartella, nome ed estensione con una strrchr scritta a mano.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3624461"/>
            <a:ext cx="11378915" cy="816471"/>
          </a:xfrm>
          <a:prstGeom prst="roundRect">
            <a:avLst>
              <a:gd name="adj" fmla="val 7466"/>
            </a:avLst>
          </a:prstGeom>
          <a:solidFill>
            <a:srgbClr val="DCEFDC"/>
          </a:solidFill>
          <a:ln/>
        </p:spPr>
      </p:sp>
      <p:sp>
        <p:nvSpPr>
          <p:cNvPr id="17" name="Text 15"/>
          <p:cNvSpPr/>
          <p:nvPr/>
        </p:nvSpPr>
        <p:spPr>
          <a:xfrm>
            <a:off x="558786" y="3739305"/>
            <a:ext cx="1107412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Aula libera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8786" y="4099699"/>
            <a:ext cx="1122651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Puntatore all'aula libera più vicina a quella richiesta.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Puntatori a Funzione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06390" y="1198444"/>
            <a:ext cx="1178530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Concetti base — tre file su dichiarazione, callback e criteri.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06390" y="1596827"/>
            <a:ext cx="3691341" cy="2524919"/>
          </a:xfrm>
          <a:prstGeom prst="roundRect">
            <a:avLst>
              <a:gd name="adj" fmla="val 453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2436" y="1752084"/>
            <a:ext cx="339924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1 – 010-dichiarazione-e-chiamata.c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2436" y="2345333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730232" y="2481540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punteggio di una partita di basket.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2436" y="3224014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10" name="Text 8"/>
          <p:cNvSpPr/>
          <p:nvPr/>
        </p:nvSpPr>
        <p:spPr>
          <a:xfrm>
            <a:off x="730232" y="3360222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int (*operazione)(int, int), assegnazione e chiamata.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50127" y="1596827"/>
            <a:ext cx="3691341" cy="2524919"/>
          </a:xfrm>
          <a:prstGeom prst="roundRect">
            <a:avLst>
              <a:gd name="adj" fmla="val 453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96174" y="1752084"/>
            <a:ext cx="339924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2 – 020-funzione-come-parametro.c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96174" y="2345333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3969" y="2481540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punteggi di una gara di matematica.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396174" y="3224014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3969" y="3360222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applica(v, n, trasforma) con tre trasformazioni.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93865" y="1596827"/>
            <a:ext cx="3691341" cy="2524919"/>
          </a:xfrm>
          <a:prstGeom prst="roundRect">
            <a:avLst>
              <a:gd name="adj" fmla="val 453"/>
            </a:avLst>
          </a:prstGeom>
          <a:noFill/>
          <a:ln w="19050">
            <a:solidFill>
              <a:srgbClr val="C1D6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9911" y="1752084"/>
            <a:ext cx="3545295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3B3535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3 – 030-criterio-di-scelta.c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39911" y="2096492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20" name="Text 18"/>
          <p:cNvSpPr/>
          <p:nvPr/>
        </p:nvSpPr>
        <p:spPr>
          <a:xfrm>
            <a:off x="8417707" y="2232700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Problema: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tempi di consegna di una pizzeria.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39911" y="2975173"/>
            <a:ext cx="3399249" cy="751681"/>
          </a:xfrm>
          <a:prstGeom prst="roundRect">
            <a:avLst>
              <a:gd name="adj" fmla="val 8110"/>
            </a:avLst>
          </a:prstGeom>
          <a:solidFill>
            <a:srgbClr val="DCEFDC"/>
          </a:solidFill>
          <a:ln/>
        </p:spPr>
      </p:sp>
      <p:sp>
        <p:nvSpPr>
          <p:cNvPr id="22" name="Text 20"/>
          <p:cNvSpPr/>
          <p:nvPr/>
        </p:nvSpPr>
        <p:spPr>
          <a:xfrm>
            <a:off x="8417707" y="3111381"/>
            <a:ext cx="304365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Tecnica:</a:t>
            </a:r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migliore(v, n, preferisci) con tre criteri.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90" y="310515"/>
            <a:ext cx="11785305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b="1" spc="63" kern="100" dirty="0">
                <a:solidFill>
                  <a:srgbClr val="256B2B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SEZIONE 3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406390" y="587267"/>
            <a:ext cx="11378915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200" b="1" dirty="0">
                <a:solidFill>
                  <a:srgbClr val="1F1E1E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Esempi Pratici: Problemi con Puntatori a Funzione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06390" y="1636216"/>
            <a:ext cx="5613260" cy="1065312"/>
          </a:xfrm>
          <a:prstGeom prst="roundRect">
            <a:avLst>
              <a:gd name="adj" fmla="val 5722"/>
            </a:avLst>
          </a:prstGeom>
          <a:solidFill>
            <a:srgbClr val="DCEFDC"/>
          </a:solidFill>
          <a:ln/>
        </p:spPr>
      </p:sp>
      <p:sp>
        <p:nvSpPr>
          <p:cNvPr id="5" name="Text 3"/>
          <p:cNvSpPr/>
          <p:nvPr/>
        </p:nvSpPr>
        <p:spPr>
          <a:xfrm>
            <a:off x="558786" y="1751061"/>
            <a:ext cx="53084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040 – Calcolatrice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8786" y="2111454"/>
            <a:ext cx="54608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L'operatore letto sceglie la funzione di calcolo.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046" y="1636216"/>
            <a:ext cx="5613260" cy="1065312"/>
          </a:xfrm>
          <a:prstGeom prst="roundRect">
            <a:avLst>
              <a:gd name="adj" fmla="val 5722"/>
            </a:avLst>
          </a:prstGeom>
          <a:solidFill>
            <a:srgbClr val="DCEFDC"/>
          </a:solidFill>
          <a:ln/>
        </p:spPr>
      </p:sp>
      <p:sp>
        <p:nvSpPr>
          <p:cNvPr id="8" name="Text 6"/>
          <p:cNvSpPr/>
          <p:nvPr/>
        </p:nvSpPr>
        <p:spPr>
          <a:xfrm>
            <a:off x="6324442" y="1751061"/>
            <a:ext cx="53084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050 – Filtro delle misure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24442" y="2111454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Rumore in mensa: conta_se ed elenca_se con tre condizioni.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390" y="2853829"/>
            <a:ext cx="5613260" cy="1065312"/>
          </a:xfrm>
          <a:prstGeom prst="roundRect">
            <a:avLst>
              <a:gd name="adj" fmla="val 5722"/>
            </a:avLst>
          </a:prstGeom>
          <a:solidFill>
            <a:srgbClr val="DCEFDC"/>
          </a:solidFill>
          <a:ln/>
        </p:spPr>
      </p:sp>
      <p:sp>
        <p:nvSpPr>
          <p:cNvPr id="11" name="Text 9"/>
          <p:cNvSpPr/>
          <p:nvPr/>
        </p:nvSpPr>
        <p:spPr>
          <a:xfrm>
            <a:off x="558786" y="2968673"/>
            <a:ext cx="53084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060 – Conversioni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8786" y="3329067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Stazione meteo: Celsius in Fahrenheit e kelvin con una sola funzione.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046" y="2853829"/>
            <a:ext cx="5613260" cy="1065312"/>
          </a:xfrm>
          <a:prstGeom prst="roundRect">
            <a:avLst>
              <a:gd name="adj" fmla="val 5722"/>
            </a:avLst>
          </a:prstGeom>
          <a:solidFill>
            <a:srgbClr val="DCEFDC"/>
          </a:solidFill>
          <a:ln/>
        </p:spPr>
      </p:sp>
      <p:sp>
        <p:nvSpPr>
          <p:cNvPr id="14" name="Text 12"/>
          <p:cNvSpPr/>
          <p:nvPr/>
        </p:nvSpPr>
        <p:spPr>
          <a:xfrm>
            <a:off x="6324442" y="2968673"/>
            <a:ext cx="53084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070 – Trasforma testo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24442" y="3329067"/>
            <a:ext cx="53084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Maiuscolo, cifrario di Cesare e cifre oscurate, carattere per carattere.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6390" y="4071441"/>
            <a:ext cx="11378915" cy="816471"/>
          </a:xfrm>
          <a:prstGeom prst="roundRect">
            <a:avLst>
              <a:gd name="adj" fmla="val 7466"/>
            </a:avLst>
          </a:prstGeom>
          <a:solidFill>
            <a:srgbClr val="DCEFDC"/>
          </a:solidFill>
          <a:ln/>
        </p:spPr>
      </p:sp>
      <p:sp>
        <p:nvSpPr>
          <p:cNvPr id="17" name="Text 15"/>
          <p:cNvSpPr/>
          <p:nvPr/>
        </p:nvSpPr>
        <p:spPr>
          <a:xfrm>
            <a:off x="558786" y="4186286"/>
            <a:ext cx="11074123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Verdana Bold" pitchFamily="34" charset="0"/>
                <a:ea typeface="Verdana Bold" pitchFamily="34" charset="-122"/>
                <a:cs typeface="Verdana Bold" pitchFamily="34" charset="-120"/>
              </a:rPr>
              <a:t>080 – Classifica con criterio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58786" y="4546679"/>
            <a:ext cx="11226519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Triathlon scolastico: tre premi con tre criteri diversi.</a:t>
            </a:r>
            <a:endParaRPr lang="en-US" sz="14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6459835"/>
            <a:ext cx="271456" cy="1866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423860" y="6466086"/>
            <a:ext cx="7678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2026-10-11T20:30:38Z</dcterms:created>
  <dcterms:modified xsi:type="dcterms:W3CDTF">2026-10-11T20:30:38Z</dcterms:modified>
</cp:coreProperties>
</file>