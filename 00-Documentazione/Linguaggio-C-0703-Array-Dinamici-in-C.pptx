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embeddedFontLst>
    <p:embeddedFont>
      <p:font typeface="Verdana"/>
      <p:regular r:id="rId201314"/>
    </p:embeddedFont>
    <p:embeddedFont>
      <p:font typeface="Verdana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4632"/>
            <a:ext cx="6502237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Array Dinamici in 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06390" y="1141631"/>
            <a:ext cx="690862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vettore dinamico, operazioni sul vettore, vettori in pratica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6390" y="1721048"/>
            <a:ext cx="6502237" cy="625773"/>
          </a:xfrm>
          <a:prstGeom prst="roundRect">
            <a:avLst>
              <a:gd name="adj" fmla="val 9741"/>
            </a:avLst>
          </a:prstGeom>
          <a:solidFill>
            <a:srgbClr val="1B4D24"/>
          </a:solidFill>
          <a:ln/>
        </p:spPr>
      </p:sp>
      <p:sp>
        <p:nvSpPr>
          <p:cNvPr id="5" name="Shape 3"/>
          <p:cNvSpPr/>
          <p:nvPr/>
        </p:nvSpPr>
        <p:spPr>
          <a:xfrm>
            <a:off x="584185" y="1898848"/>
            <a:ext cx="1310250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690843" y="1955939"/>
            <a:ext cx="170652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83333" y="1898848"/>
            <a:ext cx="1708703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2089991" y="1955939"/>
            <a:ext cx="2104972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MEMORIA DINAMICA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80934" y="1898848"/>
            <a:ext cx="1448260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3887591" y="1955939"/>
            <a:ext cx="184453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ARRAY DINAMICI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304800"/>
            <a:ext cx="4267093" cy="624840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Lunghezza e Capacità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vettore dinamico tiene insieme tre informazioni: il blocco nell'heap, quanti elementi sono usati e quanti posti sono allocati.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6908627" cy="2631281"/>
          </a:xfrm>
          <a:prstGeom prst="roundRect">
            <a:avLst>
              <a:gd name="adj" fmla="val 43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805404"/>
            <a:ext cx="6481997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*dati;         /* blocco nell'heap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n;             /* elementi usati (lunghezza)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capacita;      /* posti allocati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Vettore;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v-&gt;dati[v-&gt;n] = valore;    /* se n &lt; capacita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v-&gt;n++;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458593"/>
            <a:ext cx="6908627" cy="645120"/>
          </a:xfrm>
          <a:custGeom>
            <a:avLst/>
            <a:gdLst/>
            <a:ahLst/>
            <a:cxnLst/>
            <a:rect l="l" t="t" r="r" b="b"/>
            <a:pathLst>
              <a:path w="6908627" h="64512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4458593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4593848"/>
            <a:ext cx="650223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Vale sempre 0 &lt;= n &lt;= capacita. Finché c'è posto, aggiungere costa una sola scrittura; i posti dopo n sono allocati ma non ancora usati.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052042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Crescita a Raddoppio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731501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Quando il vettore è pieno, aggiungi chiama realloc e raddoppia la capacità.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378446"/>
            <a:ext cx="6908627" cy="2915741"/>
          </a:xfrm>
          <a:prstGeom prst="roundRect">
            <a:avLst>
              <a:gd name="adj" fmla="val 39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556564"/>
            <a:ext cx="6481997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(v-&gt;n == v-&gt;capacita)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tmp = realloc(v-&gt;dati, 2 * v-&gt;capacita * sizeof *tmp);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(tmp == NULL)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ok = 0;                 /* il vettore resta com'era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v-&gt;dati = tmp;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v-&gt;capacita = 2 * v-&gt;capacita;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494212"/>
            <a:ext cx="6908627" cy="645120"/>
          </a:xfrm>
          <a:custGeom>
            <a:avLst/>
            <a:gdLst/>
            <a:ahLst/>
            <a:cxnLst/>
            <a:rect l="l" t="t" r="r" b="b"/>
            <a:pathLst>
              <a:path w="6908627" h="64512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4494212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4629468"/>
            <a:ext cx="650223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100000 aggiunte: 6249 realloc crescendo di 16 alla volta, 13 raddoppiando. Con il raddoppio gli elementi copiati sono meno di 2n.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607667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Le Funzioni del Tipo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3200202"/>
          </a:xfrm>
          <a:prstGeom prst="roundRect">
            <a:avLst>
              <a:gd name="adj" fmla="val 35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284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Vettore *crea_vettore(int capacita);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aggiungi(Vettore *v, int valore);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lunghezza(const Vettore *v);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capacita(const Vettore *v);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elemento(const Vettore *v, int i);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distruggi_vettore(Vettore *v);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0; i &lt; lunghezza(pagine); i++)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totale += elemento(pagine, i);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38788"/>
            <a:ext cx="5168076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main usa il vettore solo con le sue funzioni, mai con i campi: così n e capacita non possono diventare incoerenti, e cambiare la strategia di crescita tocca una sola funzione.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2029718"/>
          <a:ext cx="5168076" cy="914400"/>
        </p:xfrm>
        <a:graphic>
          <a:graphicData uri="http://schemas.openxmlformats.org/drawingml/2006/table">
            <a:tbl>
              <a:tblPr/>
              <a:tblGrid>
                <a:gridCol w="1963788"/>
                <a:gridCol w="3204289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Compito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crea_vettore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struct e blocco, NULL se manca memoria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aggiungi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 fondo, raddoppia se pieno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elemento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copia o puntatore all'elemento 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distruggi_vettore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libera il blocco, poi la struct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17229" y="4363343"/>
            <a:ext cx="5168076" cy="449560"/>
          </a:xfrm>
          <a:custGeom>
            <a:avLst/>
            <a:gdLst/>
            <a:ahLst/>
            <a:cxnLst/>
            <a:rect l="l" t="t" r="r" b="b"/>
            <a:pathLst>
              <a:path w="5168076" h="44956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398760"/>
                </a:lnTo>
                <a:arcTo hR="50800" wR="50799" stAng="0" swAng="5400000"/>
                <a:lnTo>
                  <a:pt x="0" y="44956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8" name="Shape 5"/>
          <p:cNvSpPr/>
          <p:nvPr/>
        </p:nvSpPr>
        <p:spPr>
          <a:xfrm>
            <a:off x="6617229" y="4363343"/>
            <a:ext cx="50799" cy="44956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9" name="Text 6"/>
          <p:cNvSpPr/>
          <p:nvPr/>
        </p:nvSpPr>
        <p:spPr>
          <a:xfrm>
            <a:off x="6845823" y="4498598"/>
            <a:ext cx="4939482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Mai capacità iniziale 0: 2 * 0 = 0 e il vettore non cresce.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Inserire in Mezzo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inserire in posizione p si fa spazio spostando a destra gli elementi da p in poi, partendo dall'ultimo.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6908627" cy="2631281"/>
          </a:xfrm>
          <a:prstGeom prst="roundRect">
            <a:avLst>
              <a:gd name="adj" fmla="val 43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805404"/>
            <a:ext cx="6481997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inserisci(Vettore *v, int posizione, int valore);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dopo l'eventuale raddoppio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v-&gt;n - 1; i &gt;= posizione; i--)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v-&gt;dati[i + 1] = v-&gt;dati[i];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v-&gt;dati[posizione] = valore;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v-&gt;n++;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458593"/>
            <a:ext cx="6908627" cy="645120"/>
          </a:xfrm>
          <a:custGeom>
            <a:avLst/>
            <a:gdLst/>
            <a:ahLst/>
            <a:cxnLst/>
            <a:rect l="l" t="t" r="r" b="b"/>
            <a:pathLst>
              <a:path w="6908627" h="64512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4458593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4593848"/>
            <a:ext cx="650223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posizione va da 0 (in testa) a n (in fondo). Partendo dal primo, ogni elemento sovrascriverebbe il successivo prima di spostarlo.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322074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Rimuovere e Ridurre la Capacità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4338042"/>
          </a:xfrm>
          <a:prstGeom prst="roundRect">
            <a:avLst>
              <a:gd name="adj" fmla="val 26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3982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rimuovi(Vettore *v, int posizione, int *valore)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ok = posizione &gt;= 0 &amp;&amp; posizione &lt; v-&gt;n;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(ok)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*valore = v-&gt;dati[posizione];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 = posizione; i &lt; v-&gt;n - 1; i++)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v-&gt;dati[i] = v-&gt;dati[i + 1];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v-&gt;n--;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ok;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38788"/>
            <a:ext cx="516807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togli_ultimo non sposta niente. Inserire o rimuovere in posizione p sposta n - p elementi.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1532037"/>
          <a:ext cx="5168076" cy="914400"/>
        </p:xfrm>
        <a:graphic>
          <a:graphicData uri="http://schemas.openxmlformats.org/drawingml/2006/table">
            <a:tbl>
              <a:tblPr/>
              <a:tblGrid>
                <a:gridCol w="2583989"/>
                <a:gridCol w="2584088"/>
              </a:tblGrid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Regola per dimezzare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realloc in 40 operazioni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 = capacita / 2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40 (altalena)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 = capacita / 4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17229" y="3071118"/>
            <a:ext cx="5168076" cy="645120"/>
          </a:xfrm>
          <a:custGeom>
            <a:avLst/>
            <a:gdLst/>
            <a:ahLst/>
            <a:cxnLst/>
            <a:rect l="l" t="t" r="r" b="b"/>
            <a:pathLst>
              <a:path w="5168076" h="64512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8" name="Shape 5"/>
          <p:cNvSpPr/>
          <p:nvPr/>
        </p:nvSpPr>
        <p:spPr>
          <a:xfrm>
            <a:off x="6617229" y="3071118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9" name="Text 6"/>
          <p:cNvSpPr/>
          <p:nvPr/>
        </p:nvSpPr>
        <p:spPr>
          <a:xfrm>
            <a:off x="6845823" y="3206373"/>
            <a:ext cx="476168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Dimezzando a metà il vettore resta pieno e la prossima aggiunta raddoppia di nuovo: si dimezza solo quando n scende a un quarto.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Puntatore a un Elemento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modificare una struct dentro il vettore, elemento restituisce un puntatore. Ma punta dentro il blocco dati: se aggiungi chiama realloc, il blocco può spostarsi.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876127"/>
            <a:ext cx="6908627" cy="2915741"/>
          </a:xfrm>
          <a:prstGeom prst="roundRect">
            <a:avLst>
              <a:gd name="adj" fmla="val 39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054245"/>
            <a:ext cx="6481997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Studente *elemento(Classe *c, int i)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&amp;c-&gt;dati[i];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Studente *s = elemento(classe, 0);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s-&gt;assenze++;                  /* corretto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aggiungi(classe, nuovo);       /* può spostare il blocco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s-&gt;assenze++;                  /* SBAGLIATO */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991894"/>
            <a:ext cx="6908627" cy="449560"/>
          </a:xfrm>
          <a:custGeom>
            <a:avLst/>
            <a:gdLst/>
            <a:ahLst/>
            <a:cxnLst/>
            <a:rect l="l" t="t" r="r" b="b"/>
            <a:pathLst>
              <a:path w="6908627" h="44956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398760"/>
                </a:lnTo>
                <a:arcTo hR="50800" wR="50799" stAng="0" swAng="5400000"/>
                <a:lnTo>
                  <a:pt x="0" y="44956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4991894"/>
            <a:ext cx="50799" cy="44956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5127149"/>
            <a:ext cx="6680033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puntatore restituito da elemento vale solo fino alla prossima aggiunta; dopo si richiede.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203549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Vettore di Vettori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Quando le righe hanno lunghezze diverse, ogni riga contiene il puntatore a un proprio vettore dinamico, che cresce senza toccare gli altri.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6908627" cy="3200202"/>
          </a:xfrm>
          <a:prstGeom prst="roundRect">
            <a:avLst>
              <a:gd name="adj" fmla="val 35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805404"/>
            <a:ext cx="6481997" cy="284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classe[8];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Voti *voti;            /* vettore dinamico di int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Riga;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Riga *dati;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capacita;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Scuola;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5027513"/>
            <a:ext cx="6908627" cy="645120"/>
          </a:xfrm>
          <a:custGeom>
            <a:avLst/>
            <a:gdLst/>
            <a:ahLst/>
            <a:cxnLst/>
            <a:rect l="l" t="t" r="r" b="b"/>
            <a:pathLst>
              <a:path w="6908627" h="64512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5027513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5162768"/>
            <a:ext cx="650223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 distrugge dal basso: prima il vettore di voti di ogni riga, poi il blocco delle righe, poi la Scuola.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406452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Copiare e Confrontare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4622502"/>
          </a:xfrm>
          <a:prstGeom prst="roundRect">
            <a:avLst>
              <a:gd name="adj" fmla="val 24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4266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Vettore *alias = originale;      /* stesso vettore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Vettore *copia(const Vettore *v)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Vettore *c = crea_vettore(v-&gt;capacita);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 != NULL)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 = 0; i &lt; v-&gt;n; i++)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c-&gt;dati[i] = v-&gt;dati[i];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c-&gt;n = v-&gt;n;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929580"/>
          <a:ext cx="5168076" cy="914400"/>
        </p:xfrm>
        <a:graphic>
          <a:graphicData uri="http://schemas.openxmlformats.org/drawingml/2006/table">
            <a:tbl>
              <a:tblPr/>
              <a:tblGrid>
                <a:gridCol w="2480605"/>
                <a:gridCol w="2687471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Risultato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 = a (puntatori)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due nomi, un vettore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copia della struct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stesso blocco dati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copia(a)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struct e blocco nuovi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 == b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confronta gli indirizzi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prima_differenza(a, b)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-1 se il contenuto è uguale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17229" y="3411637"/>
            <a:ext cx="5168076" cy="645120"/>
          </a:xfrm>
          <a:custGeom>
            <a:avLst/>
            <a:gdLst/>
            <a:ahLst/>
            <a:cxnLst/>
            <a:rect l="l" t="t" r="r" b="b"/>
            <a:pathLst>
              <a:path w="5168076" h="64512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4"/>
          <p:cNvSpPr/>
          <p:nvPr/>
        </p:nvSpPr>
        <p:spPr>
          <a:xfrm>
            <a:off x="6617229" y="3411637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5"/>
          <p:cNvSpPr/>
          <p:nvPr/>
        </p:nvSpPr>
        <p:spPr>
          <a:xfrm>
            <a:off x="6845823" y="3546892"/>
            <a:ext cx="476168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alias si distrugge una volta sola; una copia profonda è indipendente e va distrutta anche lei.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Funzioni che Restituiscono un Vettore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5191423"/>
          </a:xfrm>
          <a:prstGeom prst="roundRect">
            <a:avLst>
              <a:gd name="adj" fmla="val 22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4835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Storico *aumenti(const Storico *s)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Storico *risultato = crea_storico(2);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ok = risultato != NULL;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 = 1; i &lt; lunghezza(s) &amp;&amp; ok; i++)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(elemento(s, i).prezzo &gt; elemento(s, i - 1).prezzo)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ok = aggiungi(risultato, elemento(s, i));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(!ok)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distruggi_storico(risultato);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risultato = NULL;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risultato;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29580"/>
            <a:ext cx="5168076" cy="1597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Quando un risultato ha una lunghezza non nota in anticipo (i mesi di aumento, gli articoli sotto scorta, l'unione di due elenchi) la funzione crea un vettore nuovo e lo restituisce.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manca memoria a metà, la funzione distrugge quello che ha costruito e restituisce NULL.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7229" y="2632174"/>
            <a:ext cx="5168076" cy="645120"/>
          </a:xfrm>
          <a:custGeom>
            <a:avLst/>
            <a:gdLst/>
            <a:ahLst/>
            <a:cxnLst/>
            <a:rect l="l" t="t" r="r" b="b"/>
            <a:pathLst>
              <a:path w="5168076" h="64512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6617229" y="2632174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845823" y="2767429"/>
            <a:ext cx="476168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 chiama deve distruggere il vettore restituito: stampa(sotto_scorta(m)) perde il vettore creato.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Errori Comuni da Evitare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929580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4" name="Text 2"/>
          <p:cNvSpPr/>
          <p:nvPr/>
        </p:nvSpPr>
        <p:spPr>
          <a:xfrm>
            <a:off x="584185" y="1072311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84185" y="147123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Scorrere fino a capacita invece che fino alla lunghezza.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72046" y="929580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6349841" y="1072311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49841" y="147123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Scrivere v-&gt;dati = realloc(v-&gt;dati, ...) e perdere il blocco.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6390" y="193794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0" name="Text 8"/>
          <p:cNvSpPr/>
          <p:nvPr/>
        </p:nvSpPr>
        <p:spPr>
          <a:xfrm>
            <a:off x="584185" y="208067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4185" y="247959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Aggiornare la capacità prima di sapere se realloc è riuscita.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046" y="193794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3" name="Text 11"/>
          <p:cNvSpPr/>
          <p:nvPr/>
        </p:nvSpPr>
        <p:spPr>
          <a:xfrm>
            <a:off x="6349841" y="208067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49841" y="247959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Spostare a destra partendo dal primo elemento.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6390" y="294630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6" name="Text 14"/>
          <p:cNvSpPr/>
          <p:nvPr/>
        </p:nvSpPr>
        <p:spPr>
          <a:xfrm>
            <a:off x="584185" y="308903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84185" y="348795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Dimenticare n++ o n-- dopo inserimento e rimozione.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046" y="294630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9" name="Text 17"/>
          <p:cNvSpPr/>
          <p:nvPr/>
        </p:nvSpPr>
        <p:spPr>
          <a:xfrm>
            <a:off x="6349841" y="308903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49841" y="348795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Tenere un puntatore a un elemento attraverso un'aggiunta.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6390" y="395466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22" name="Text 20"/>
          <p:cNvSpPr/>
          <p:nvPr/>
        </p:nvSpPr>
        <p:spPr>
          <a:xfrm>
            <a:off x="584185" y="409739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84185" y="449631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Liberare il blocco delle righe prima dei vettori di ogni riga.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046" y="395466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25" name="Text 23"/>
          <p:cNvSpPr/>
          <p:nvPr/>
        </p:nvSpPr>
        <p:spPr>
          <a:xfrm>
            <a:off x="6349841" y="409739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49841" y="449631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Credere che copiare la struct copi anche gli elementi.</a:t>
            </a:r>
            <a:endParaRPr lang="en-US" sz="11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Riepilogo Concetti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929580"/>
          <a:ext cx="11378916" cy="914400"/>
        </p:xfrm>
        <a:graphic>
          <a:graphicData uri="http://schemas.openxmlformats.org/drawingml/2006/table">
            <a:tbl>
              <a:tblPr/>
              <a:tblGrid>
                <a:gridCol w="2958431"/>
                <a:gridCol w="5006651"/>
                <a:gridCol w="3413833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Situazione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Tecnica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Array che cresce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struct {dati, n, capacita}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 &lt;= n &lt;= capacita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Vettore pieno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realloc a 2 * capacita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costo medio costante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Uso dal main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solo le funzioni del tipo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mai i campi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Inserire in posizione p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spostare a destra dall'ultimo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 - p spostamenti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Rimuovere in posizione p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spostare a sinistra dal primo dopo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 - p spostamenti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Togliere dal fondo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togli_ultimo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nessuno spostamento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Restituire memoria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dimezzare a capacita / 4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niente altalena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Modificare un elemento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puntatore da elemento()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fino alla prossima aggiunta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Righe di lunghezza diversa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vettore di vettori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distruzione dal basso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Copia indipendente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copia profonda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blocco nuovo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Risultato di lunghezza ignota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 che crea un vettore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lo distrugge chi chiama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il Vettore Dinamico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lunghezza, capacità e funzioni.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010-lunghezza-e-capacita.c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376488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478088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numeri di maglia della squadra di pallavolo.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342354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52514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lunghezza, capacità e posti liberi.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020-crescita-a-raddoppio.c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1000, 10000 e 100000 aggiunte.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+16 contro x2, realloc e copie.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030-funzioni-del-vettore.c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pagine lette ogni giorno.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vettore usato solo con le sue funzioni.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sul Vettore Dinamico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Registro dei ritardi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Gli ingressi in ritardo dell'anno, per mese e per studente.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Misure continue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rumore in mensa fino a STOP, con la media mobile.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Numeri del lotto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Archivio di estrazioni: frequenze e ritardi.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Scontrini del bar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vendite della giornata e il riepilogo per prodotto.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12181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262063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Vettore di parole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621504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glossario: ogni termine nel suo blocco.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Operazioni sul Vettore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inserire, rimuovere e ridurre.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010-inserire-in-mezzo.c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l'ordine delle interrogazioni.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inserisci con spostamento a destra.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020-rimuovere.c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139057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240657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libri in prestito alla classe.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2990552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092152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rimuovi e togli_ultimo.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030-ridurre-la-capacita.c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vettore che si svuota e si riempie.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capacita / 4 contro capacita / 2.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sulle Operazioni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Classifica in ordine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corsa campestre: ogni tempo nella sua posizione.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Coda della mensa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 entra in fondo, si esce dall'inizio: il costo degli spostamenti.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Annulla l'ultima operazione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correzioni di un voto annullate dall'ultima.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Elenco senza doppioni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volontari dell'open day: aggiungi se manca, rimuovi per valore.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12181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262063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Unione e intersezione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621504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Due laboratori: vettori ordinati in una sola passata.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Vettori in Pratica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struct, righe e copie.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010-vettore-di-struct.c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registro delle assenze.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3227983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329583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puntatore valido fino alla prossima aggiunta.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020-vettore-di-vettori.c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verifica comune a più classi.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vettore di voti per ogni classe.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030-copiare-e-confrontare.c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punteggi di un gioco.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alias, copia profonda e confronto.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sui Vettori in Pratica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Rubrica della classe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Aggiunta, ricerca, modifica e cancellazione dei contatti.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Orario dei docenti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vettore di ore per docente e le ore libere comuni.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Storico dei prezzi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prezzo del pasto in mensa e i mesi di aumento.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Magazzino del laboratorio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Carico, scarico e articoli sotto scorta.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12181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262063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Statistiche del torneo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621504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Squadre con il proprio vettore di risultati e classifica.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2026-10-16T06:45:12Z</dcterms:created>
  <dcterms:modified xsi:type="dcterms:W3CDTF">2026-10-16T06:45:12Z</dcterms:modified>
</cp:coreProperties>
</file>